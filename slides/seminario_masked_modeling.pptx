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Masked Modeling em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Frederico Maciel de Mello | Luan Pedro de Souza Silva</a:t>
            </a:r>
          </a:p>
          <a:p>
            <a:pPr>
              <a:defRPr sz="2200"/>
            </a:pPr>
            <a:r>
              <a:t>Seminário, 16/10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 que é Masked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Estratégia de aprendizado em que parte dos dados de entrada é propositalmente ocultada (mascarada)</a:t>
            </a:r>
          </a:p>
          <a:p>
            <a:pPr>
              <a:defRPr sz="1700"/>
            </a:pPr>
            <a:r>
              <a:t>O modelo é treinado para prever ou reconstruir a informação ausente</a:t>
            </a:r>
          </a:p>
          <a:p>
            <a:pPr>
              <a:defRPr sz="1700"/>
            </a:pPr>
            <a:r>
              <a:t>Ideia-chave (material do colega): o próprio dado fornece a supervisão</a:t>
            </a:r>
          </a:p>
          <a:p>
            <a:pPr>
              <a:defRPr sz="1700"/>
            </a:pPr>
            <a:r>
              <a:t>A parte original funciona como referência para verificar o que o modelo previu ou reconstruiu</a:t>
            </a:r>
          </a:p>
          <a:p>
            <a:pPr>
              <a:defRPr sz="1700"/>
            </a:pPr>
            <a:r>
              <a:t>Quatro etapas: ocultar uma parte da entrada, usar o visível como contexto,</a:t>
            </a:r>
          </a:p>
          <a:p>
            <a:pPr>
              <a:defRPr sz="1700"/>
            </a:pPr>
            <a:r>
              <a:t>prever ou reconstruir o conteúdo mascarado e aprender representações úteis dos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Por que usar: motivações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Treino de deep learning depende de grandes quantidades de dados rotulados, caros e demorados de obter</a:t>
            </a:r>
          </a:p>
          <a:p>
            <a:pPr>
              <a:defRPr sz="1700"/>
            </a:pPr>
            <a:r>
              <a:t>Masked modeling aproveita dados não rotulados: a tarefa de aprendizado nasce do próprio dado</a:t>
            </a:r>
          </a:p>
          <a:p>
            <a:pPr>
              <a:defRPr sz="1700"/>
            </a:pPr>
            <a:r>
              <a:t>Reduz a dependência de dados rotulados</a:t>
            </a:r>
          </a:p>
          <a:p>
            <a:pPr>
              <a:defRPr sz="1700"/>
            </a:pPr>
            <a:r>
              <a:t>Aprende representações relevantes dos dados</a:t>
            </a:r>
          </a:p>
          <a:p>
            <a:pPr>
              <a:defRPr sz="1700"/>
            </a:pPr>
            <a:r>
              <a:t>Explora o contexto e as relações entre as partes da entrada</a:t>
            </a:r>
          </a:p>
          <a:p>
            <a:pPr>
              <a:defRPr sz="1700"/>
            </a:pPr>
            <a:r>
              <a:t>Serve de pré-treinamento para modelos adaptados a outras tarefas depois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Panorama: BERT, MAE e SimMIM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716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169920"/>
                <a:gridCol w="3169920"/>
                <a:gridCol w="3169920"/>
              </a:tblGrid>
              <a:tr h="804672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Dimensão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SimMIM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Texto (tokens discretos)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Imagem (patches de pixels)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Imagem (patches de pixels)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Alvo previsto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Palavras (tokens) ocultas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Pixels brutos dos patches ocultos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Pixels brutos dos patches ocultos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Perda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Entropia cruzada sobre os tokens ocultos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MSE nos pixels normalizados, média por patch oculto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L1 (erro absoluto) nos pixels reconstruídos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Arquitetura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Encoder Transformer único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Assimétrica: encoder pesado e decoder leve separado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Encoder único com cabeça de predição linear leve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6235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latin typeface="Arial"/>
              </a:defRPr>
            </a:pPr>
            <a:r>
              <a:t>Contraste MSE x L1: o MSE do MAE opera em pixels normalizados com média por patch e pede decoder separado; a L1 do SimMIM faz regressão direta de pixels com cabeça linear leve sobre um encoder único, que admite proporções altas de máscara também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Fluxo do MAE: da imagem à perda nos ocultos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463040"/>
            <a:ext cx="2487168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4B6E"/>
                </a:solidFill>
              </a:defRPr>
            </a:pPr>
            <a:r>
              <a:t>Imagem sem rótulo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32x32x3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99816" y="1956816"/>
            <a:ext cx="329184" cy="384048"/>
          </a:xfrm>
          <a:prstGeom prst="rightArrow">
            <a:avLst/>
          </a:prstGeom>
          <a:solidFill>
            <a:srgbClr val="2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487168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4B6E"/>
                </a:solidFill>
              </a:defRPr>
            </a:pPr>
            <a:r>
              <a:t>Patches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16 de 8x8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(192 valores cada)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16168" y="1956816"/>
            <a:ext cx="329184" cy="384048"/>
          </a:xfrm>
          <a:prstGeom prst="rightArrow">
            <a:avLst/>
          </a:prstGeom>
          <a:solidFill>
            <a:srgbClr val="2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5352" y="1463040"/>
            <a:ext cx="2487168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4B6E"/>
                </a:solidFill>
              </a:defRPr>
            </a:pPr>
            <a:r>
              <a:t>Máscara aleatória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50% ou 75% dos patches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32520" y="1956816"/>
            <a:ext cx="329184" cy="384048"/>
          </a:xfrm>
          <a:prstGeom prst="rightArrow">
            <a:avLst/>
          </a:prstGeom>
          <a:solidFill>
            <a:srgbClr val="2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61704" y="1463040"/>
            <a:ext cx="2487168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4B6E"/>
                </a:solidFill>
              </a:defRPr>
            </a:pPr>
            <a:r>
              <a:t>Codificador (ViT)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processa apenas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os patches visíveis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140696" y="2944368"/>
            <a:ext cx="329184" cy="969264"/>
          </a:xfrm>
          <a:prstGeom prst="downArrow">
            <a:avLst/>
          </a:prstGeom>
          <a:solidFill>
            <a:srgbClr val="2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" y="4023360"/>
            <a:ext cx="2487168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4B6E"/>
                </a:solidFill>
              </a:defRPr>
            </a:pPr>
            <a:r>
              <a:t>Perda: MSE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somente nos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patches ocultos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3099816" y="4517136"/>
            <a:ext cx="329184" cy="384048"/>
          </a:xfrm>
          <a:prstGeom prst="leftArrow">
            <a:avLst/>
          </a:prstGeom>
          <a:solidFill>
            <a:srgbClr val="2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4023360"/>
            <a:ext cx="2487168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4B6E"/>
                </a:solidFill>
              </a:defRPr>
            </a:pPr>
            <a:r>
              <a:t>Reconstrução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dos pixels dos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patches ocultos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5916168" y="4517136"/>
            <a:ext cx="329184" cy="384048"/>
          </a:xfrm>
          <a:prstGeom prst="leftArrow">
            <a:avLst/>
          </a:prstGeom>
          <a:solidFill>
            <a:srgbClr val="2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5352" y="4023360"/>
            <a:ext cx="2487168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4B6E"/>
                </a:solidFill>
              </a:defRPr>
            </a:pPr>
            <a:r>
              <a:t>Decodificador leve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dim 64, 2 blocos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8732520" y="4517136"/>
            <a:ext cx="329184" cy="384048"/>
          </a:xfrm>
          <a:prstGeom prst="leftArrow">
            <a:avLst/>
          </a:prstGeom>
          <a:solidFill>
            <a:srgbClr val="2F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61704" y="4023360"/>
            <a:ext cx="2487168" cy="1371600"/>
          </a:xfrm>
          <a:prstGeom prst="roundRect">
            <a:avLst/>
          </a:prstGeom>
          <a:solidFill>
            <a:srgbClr val="EEF2F8"/>
          </a:solidFill>
          <a:ln>
            <a:solidFill>
              <a:srgbClr val="2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F4B6E"/>
                </a:solidFill>
              </a:defRPr>
            </a:pPr>
            <a:r>
              <a:t>Tokens de máscara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com embedding</a:t>
            </a:r>
          </a:p>
          <a:p>
            <a:pPr algn="ctr">
              <a:defRPr sz="1000" b="0">
                <a:solidFill>
                  <a:srgbClr val="2F4B6E"/>
                </a:solidFill>
              </a:defRPr>
            </a:pPr>
            <a:r>
              <a:t>das posições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715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latin typeface="Arial"/>
              </a:defRPr>
            </a:pPr>
            <a:r>
              <a:t>Arquitetura assimétrica: o codificador só vê os patches visíveis e o decoder leve, descartado nas tarefas posteriores de reconhecimento (He et al., 2022)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Equação da perda e pseudocódigo do 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Arial"/>
              </a:defRPr>
            </a:pPr>
            <a:r>
              <a:t>Equação da perda (erro quadrático médio nos ocultos)</a:t>
            </a:r>
          </a:p>
          <a:p>
            <a:pPr>
              <a:defRPr sz="1300" b="1">
                <a:latin typeface="Arial"/>
              </a:defRPr>
            </a:pPr>
            <a:r>
              <a:t>L_MAE = (1/|M|) · Σ i ∈ M (1/d) · ||x_i − x̂_i||²</a:t>
            </a:r>
          </a:p>
          <a:p>
            <a:pPr>
              <a:defRPr sz="1300" b="0">
                <a:latin typeface="Arial"/>
              </a:defRPr>
            </a:pPr>
            <a:r>
              <a:t>x_i: vetor de pixels do patch i (d valores)</a:t>
            </a:r>
          </a:p>
          <a:p>
            <a:pPr>
              <a:defRPr sz="1300" b="0">
                <a:latin typeface="Arial"/>
              </a:defRPr>
            </a:pPr>
            <a:r>
              <a:t>M: conjunto dos patches mascarados (ocultos)</a:t>
            </a:r>
          </a:p>
          <a:p>
            <a:pPr>
              <a:defRPr sz="1300" b="0">
                <a:latin typeface="Arial"/>
              </a:defRPr>
            </a:pPr>
            <a:r>
              <a:t>x̂_i: reconstrução do patch i produzida pelo modelo</a:t>
            </a:r>
          </a:p>
          <a:p>
            <a:pPr>
              <a:defRPr sz="1300" b="0">
                <a:latin typeface="Arial"/>
              </a:defRPr>
            </a:pPr>
            <a:r>
              <a:t>d: número de valores de pixel por patch (192);</a:t>
            </a:r>
          </a:p>
          <a:p>
            <a:pPr>
              <a:defRPr sz="1200" b="0">
                <a:latin typeface="Arial"/>
              </a:defRPr>
            </a:pPr>
            <a:r>
              <a:t>normaliza pela dimensão da reconstrução</a:t>
            </a:r>
          </a:p>
          <a:p>
            <a:pPr>
              <a:defRPr sz="1300" b="1">
                <a:latin typeface="Arial"/>
              </a:defRPr>
            </a:pPr>
            <a:r>
              <a:t>média sobre i ∈ M: a perda ignora os patches visíveis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175504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Consolas"/>
              </a:defRPr>
            </a:pPr>
            <a:r>
              <a:t>Pseudocódigo do laço de treinamento</a:t>
            </a:r>
          </a:p>
          <a:p>
            <a:pPr>
              <a:defRPr sz="1200" b="0">
                <a:latin typeface="Consolas"/>
              </a:defRPr>
            </a:pPr>
            <a:r>
              <a:t>1. dividir o lote em patches</a:t>
            </a:r>
          </a:p>
          <a:p>
            <a:pPr>
              <a:defRPr sz="1200" b="0">
                <a:latin typeface="Consolas"/>
              </a:defRPr>
            </a:pPr>
            <a:r>
              <a:t>2. amostrar a máscara na razão r</a:t>
            </a:r>
          </a:p>
          <a:p>
            <a:pPr>
              <a:defRPr sz="1200" b="0">
                <a:latin typeface="Consolas"/>
              </a:defRPr>
            </a:pPr>
            <a:r>
              <a:t>3. codificar somente os patches visíveis</a:t>
            </a:r>
          </a:p>
          <a:p>
            <a:pPr>
              <a:defRPr sz="1200" b="0">
                <a:latin typeface="Consolas"/>
              </a:defRPr>
            </a:pPr>
            <a:r>
              <a:t>4. decodificar com tokens de máscara e posições</a:t>
            </a:r>
          </a:p>
          <a:p>
            <a:pPr>
              <a:defRPr sz="1200" b="0">
                <a:latin typeface="Consolas"/>
              </a:defRPr>
            </a:pPr>
            <a:r>
              <a:t>5. calcular a perda somente nos patches ocultos, normalizada por d</a:t>
            </a:r>
          </a:p>
          <a:p>
            <a:pPr>
              <a:defRPr sz="1200" b="0">
                <a:latin typeface="Consolas"/>
              </a:defRPr>
            </a:pPr>
            <a:r>
              <a:t>6. atualizar os parâmetros por retropropagação</a:t>
            </a:r>
          </a:p>
          <a:p>
            <a:pPr>
              <a:defRPr sz="1200" b="0">
                <a:latin typeface="Consolas"/>
              </a:defRPr>
            </a:pPr>
            <a:r>
              <a:t>Repetir por época sobre o conjunto de treino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Experimento próprio no CIFAR-10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325880"/>
            <a:ext cx="6309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latin typeface="Arial"/>
              </a:defRPr>
            </a:pPr>
            <a:r>
              <a:t>MAE próprio, escrito do zero em PyTorch puro (sem código de terceiros)</a:t>
            </a:r>
          </a:p>
          <a:p>
            <a:pPr>
              <a:defRPr sz="1400" b="0">
                <a:latin typeface="Arial"/>
              </a:defRPr>
            </a:pPr>
            <a:r>
              <a:t>Mesmo protocolo nas duas condições: 200 épocas, batch 256, lr 3.0e-04 (AdamW)</a:t>
            </a:r>
          </a:p>
          <a:p>
            <a:pPr>
              <a:defRPr sz="1400" b="0">
                <a:latin typeface="Arial"/>
              </a:defRPr>
            </a:pPr>
            <a:r>
              <a:t>Semente única 42; subset balanceado verificado por md5; teste fixo de 1.000 imagens</a:t>
            </a:r>
          </a:p>
          <a:p>
            <a:pPr>
              <a:defRPr sz="1400" b="0">
                <a:latin typeface="Arial"/>
              </a:defRPr>
            </a:pPr>
            <a:r>
              <a:t>Máscara aninhada: os patches ocultos a 50% também estão a 75%, isolando o efeito da taxa</a:t>
            </a:r>
          </a:p>
          <a:p>
            <a:pPr>
              <a:defRPr sz="1400" b="0">
                <a:latin typeface="Arial"/>
              </a:defRPr>
            </a:pPr>
            <a:r>
              <a:t>50% oculta 8 dos 16 patches; 75% oculta 12 (custo por época diverge: 8 contra 4 tokens no encoder)</a:t>
            </a:r>
          </a:p>
          <a:p>
            <a:pPr>
              <a:defRPr sz="1400" b="0">
                <a:latin typeface="Arial"/>
              </a:defRPr>
            </a:pPr>
            <a:r>
              <a:t>MSE de 75% é +17.8% maior que o de 50%: nesta configuração, mascarar mais elevou o erro</a:t>
            </a:r>
          </a:p>
          <a:p>
            <a:pPr>
              <a:defRPr sz="1400" b="0">
                <a:latin typeface="Arial"/>
              </a:defRPr>
            </a:pPr>
            <a:r>
              <a:t>Delimitação: evidência desta configuração, semente única; repetir com mais sementes e avaliar downstream antes de generalizar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1463040"/>
          <a:ext cx="4114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Condição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MSE de teste (ocultos)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Máscara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0.0608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Máscara 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0.0717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3063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Arial"/>
              </a:defRPr>
            </a:pPr>
            <a:r>
              <a:t>Fonte: resultados/metricas.csv (semente 42)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224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latin typeface="Arial"/>
              </a:defRPr>
            </a:pPr>
            <a:r>
              <a:t>Reconstruções: 8 imagens fixas do teste (semente 42)</a:t>
            </a:r>
          </a:p>
        </p:txBody>
      </p:sp>
      <p:pic>
        <p:nvPicPr>
          <p:cNvPr id="7" name="Picture 6" descr="reconstru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4526280"/>
            <a:ext cx="9656063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Experimento complementar: ViT-MAE</a:t>
            </a:r>
          </a:p>
        </p:txBody>
      </p:sp>
      <p:pic>
        <p:nvPicPr>
          <p:cNvPr id="3" name="Picture 2" descr="vitmae-fluxo-exper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37" y="1143000"/>
            <a:ext cx="10601221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" y="32735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Mascarado e reconstruído em cada taxa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327355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Erro de reconstrução por taxa (colega)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36118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latin typeface="Arial"/>
              </a:defRPr>
            </a:pPr>
            <a:r>
              <a:t>Configuração do material do colega:</a:t>
            </a:r>
          </a:p>
          <a:p>
            <a:pPr>
              <a:defRPr sz="1200" b="0">
                <a:latin typeface="Arial"/>
              </a:defRPr>
            </a:pPr>
            <a:r>
              <a:t>MAE pré-treinado, arquitetura Vision Transformer (ViT)</a:t>
            </a:r>
          </a:p>
          <a:p>
            <a:pPr>
              <a:defRPr sz="1200" b="0">
                <a:latin typeface="Arial"/>
              </a:defRPr>
            </a:pPr>
            <a:r>
              <a:t>Entrada de 224x224 pixels, patches de 16x16</a:t>
            </a:r>
          </a:p>
          <a:p>
            <a:pPr>
              <a:defRPr sz="1200" b="0">
                <a:latin typeface="Arial"/>
              </a:defRPr>
            </a:pPr>
            <a:r>
              <a:t>Taxas avaliadas: 25%, 50%, 75% e 90%</a:t>
            </a:r>
          </a:p>
          <a:p>
            <a:pPr>
              <a:defRPr sz="1200" b="0">
                <a:latin typeface="Arial"/>
              </a:defRPr>
            </a:pPr>
            <a:r>
              <a:t>MSEs documentados pelo colega:</a:t>
            </a:r>
          </a:p>
          <a:p>
            <a:pPr>
              <a:defRPr sz="1200" b="0">
                <a:latin typeface="Arial"/>
              </a:defRPr>
            </a:pPr>
            <a:r>
              <a:t>25%: 0,0476 | 75%: 0,1403 | 90%: 0,3117</a:t>
            </a:r>
          </a:p>
          <a:p>
            <a:pPr>
              <a:defRPr sz="1200" b="0">
                <a:latin typeface="Arial"/>
              </a:defRPr>
            </a:pPr>
            <a:r>
              <a:t>Menos informação visível torna a reconstrução mais desafiadora</a:t>
            </a:r>
          </a:p>
        </p:txBody>
      </p:sp>
      <p:pic>
        <p:nvPicPr>
          <p:cNvPr id="7" name="Picture 6" descr="vitmae-grade-tax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35" y="3703320"/>
            <a:ext cx="1748488" cy="2103120"/>
          </a:xfrm>
          <a:prstGeom prst="rect">
            <a:avLst/>
          </a:prstGeom>
        </p:spPr>
      </p:pic>
      <p:pic>
        <p:nvPicPr>
          <p:cNvPr id="8" name="Picture 7" descr="vitmae-grafico-m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96" y="3703320"/>
            <a:ext cx="3561327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621792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Arial"/>
              </a:defRPr>
            </a:pPr>
            <a:r>
              <a:t>Imagem superior: fluxo do experimento com MAE pré-treinado. Fonte: apresentação do colega do grupo; implementação pública: Hugging Face Transformers, ViTMAE, modelo facebook/vit-mae-base (Meta AI).</a:t>
            </a:r>
          </a:p>
          <a:p>
            <a:pPr>
              <a:defRPr sz="1100" b="0">
                <a:latin typeface="Arial"/>
              </a:defRPr>
            </a:pPr>
            <a:r>
              <a:t>Código do experimento do colega: https://colab.research.google.com/drive/11BkUg8lzF079vWErYh5plimEVcF16gXN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Aplicações por domínio (colega)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Pré-treinar com grandes volumes de dados não rotulados e transferir as representações</a:t>
            </a:r>
          </a:p>
          <a:p>
            <a:pPr>
              <a:defRPr sz="1700"/>
            </a:pPr>
            <a:r>
              <a:t>Visão computacional: classificação, detecção de objetos, segmentação semântica, reconhecimento visual</a:t>
            </a:r>
          </a:p>
          <a:p>
            <a:pPr>
              <a:defRPr sz="1700"/>
            </a:pPr>
            <a:r>
              <a:t>Imagens médicas: radiografias, tomografias e ressonâncias; pré-treinamento sem anotação; extração de características para diagnóstico</a:t>
            </a:r>
          </a:p>
          <a:p>
            <a:pPr>
              <a:defRPr sz="1700"/>
            </a:pPr>
            <a:r>
              <a:t>Sensoriamento remoto: uso e cobertura do solo, detecção de mudanças, imagens de satélite, monitoramento ambiental e agrícola</a:t>
            </a:r>
          </a:p>
          <a:p>
            <a:pPr>
              <a:defRPr sz="1700"/>
            </a:pPr>
            <a:r>
              <a:t>Outras modalidades: linguagem natural, vídeos, áudio e aprendizado multimodal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Pós MAE e tarefas downstream (colega)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Pré-treinamento: o MAE usa grandes volumes de imagens não rotuladas; parte dos patches é mascarada e o modelo aprende a reconstruir</a:t>
            </a:r>
          </a:p>
          <a:p>
            <a:pPr>
              <a:defRPr sz="1700"/>
            </a:pPr>
            <a:r>
              <a:t>Nesse processo, o encoder ViT aprende representações visuais das imagens</a:t>
            </a:r>
          </a:p>
          <a:p>
            <a:pPr>
              <a:defRPr sz="1700"/>
            </a:pPr>
            <a:r>
              <a:t>Depois do pré-treinamento, o decoder pode ser descartado: sua função principal era auxiliar a reconstrução</a:t>
            </a:r>
          </a:p>
          <a:p>
            <a:pPr>
              <a:defRPr sz="1700"/>
            </a:pPr>
            <a:r>
              <a:t>O encoder pré-treinado é reutilizado em tarefas downstream: classificação de imagens, detecção de objetos e segmentação semântica</a:t>
            </a:r>
          </a:p>
          <a:p>
            <a:pPr>
              <a:defRPr sz="1700"/>
            </a:pPr>
            <a:r>
              <a:t>Uso do encoder: extrator de características ou pesos ajustados por fine-tuning para a nova tarefa</a:t>
            </a:r>
          </a:p>
          <a:p>
            <a:pPr>
              <a:defRPr sz="1700"/>
            </a:pPr>
            <a:r>
              <a:t>Eco do nosso diagrama: o decoder leve sai e o encoder pesado fica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Reconstruir o que foi escondido não é o objetivo final: é o mecanismo para o modelo aprender boas representações</a:t>
            </a:r>
          </a:p>
          <a:p>
            <a:pPr>
              <a:defRPr sz="1700"/>
            </a:pPr>
            <a:r>
              <a:t>O mascaramento aproveita dados não rotulados, em texto (BERT) e em imagens (MAE)</a:t>
            </a:r>
          </a:p>
          <a:p>
            <a:pPr>
              <a:defRPr sz="1700"/>
            </a:pPr>
            <a:r>
              <a:t>No experimento próprio, 75% mascarado errou mais que 50%: nesta configuração, mascarar mais elevou o erro (semente única 42)</a:t>
            </a:r>
          </a:p>
          <a:p>
            <a:pPr>
              <a:defRPr sz="1700"/>
            </a:pPr>
            <a:r>
              <a:t>No experimento do colega com MAE pré-treinado público, as taxas maiores de mascaramento elevaram o MSE registrado no material dele</a:t>
            </a:r>
          </a:p>
          <a:p>
            <a:pPr>
              <a:defRPr sz="1700"/>
            </a:pPr>
            <a:r>
              <a:t>Leitura delimitada: qualidade visual da reconstrução não é prova de representações melhores</a:t>
            </a:r>
          </a:p>
          <a:p>
            <a:pPr>
              <a:defRPr sz="1700"/>
            </a:pPr>
            <a:r>
              <a:t>Repetição com mais sementes e avaliação downstream continuam necessárias antes de generalizar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3716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latin typeface="Arial"/>
              </a:defRPr>
            </a:pPr>
            <a:r>
              <a:t>Devlin, J.; Chang, M.; Lee, K.; Toutanova, K. (2019). BERT: Pre-training of Deep Bidirectional Transformers for Language Understanding. NAACL-HLT.</a:t>
            </a:r>
          </a:p>
          <a:p>
            <a:pPr>
              <a:defRPr sz="1300" b="0">
                <a:latin typeface="Arial"/>
              </a:defRPr>
            </a:pPr>
            <a:r>
              <a:t>Dosovitskiy, A. et al. (2021). An Image is Worth 16x16 Words: Transformers for Image Recognition at Scale. ICLR.</a:t>
            </a:r>
          </a:p>
          <a:p>
            <a:pPr>
              <a:defRPr sz="1300" b="0">
                <a:latin typeface="Arial"/>
              </a:defRPr>
            </a:pPr>
            <a:r>
              <a:t>He, K.; Chen, X.; Xie, S.; Li, Y.; Dollár, P.; Girshick, R. (2022). Masked Autoencoders Are Scalable Vision Learners. CVPR.</a:t>
            </a:r>
          </a:p>
          <a:p>
            <a:pPr>
              <a:defRPr sz="1300" b="0">
                <a:latin typeface="Arial"/>
              </a:defRPr>
            </a:pPr>
            <a:r>
              <a:t>Bao, H. et al. (2022). BEiT: BERT Pre-Training of Image Transformers. ICLR.</a:t>
            </a:r>
          </a:p>
          <a:p>
            <a:pPr>
              <a:defRPr sz="1300" b="0">
                <a:latin typeface="Arial"/>
              </a:defRPr>
            </a:pPr>
            <a:r>
              <a:t>Xie, Z.; Zhang, Z.; Lin, Y.; Bian, J.; Lin, L.; Zeng, D. (2022). SimMIM: A Simple Framework for Masked Image Modeling. CVPR.</a:t>
            </a:r>
          </a:p>
          <a:p>
            <a:pPr>
              <a:defRPr sz="1300" b="0">
                <a:latin typeface="Arial"/>
              </a:defRPr>
            </a:pPr>
            <a:r>
              <a:t>Krizhevsky, A.; Nair, V.; Hinton, G. (2009). CIFAR-10 (Canadian Institute for Advanced Research). Fonte dos dados deste trabalho, verificado por md5.</a:t>
            </a:r>
          </a:p>
          <a:p>
            <a:pPr>
              <a:defRPr sz="1300" b="0">
                <a:latin typeface="Arial"/>
              </a:defRPr>
            </a:pPr>
            <a:r>
              <a:t>Crédito do experimento complementar: material do colega do grupo, com a implementação pública Hugging Face Transformers, ViTMAE, modelo facebook/vit-mae-base (Meta AI).</a:t>
            </a:r>
          </a:p>
          <a:p>
            <a:pPr>
              <a:defRPr sz="1200" b="0">
                <a:latin typeface="Arial"/>
              </a:defRPr>
            </a:pPr>
            <a:r>
              <a:t>Código do experimento do colega: https://colab.research.google.com/drive/11BkUg8lzF079vWErYh5plimEVcF16gXN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