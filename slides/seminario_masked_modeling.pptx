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4000"/>
            </a:pPr>
            <a:r>
              <a:t>Masked Modeling em Deep Learning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200"/>
            </a:pPr>
            <a:r>
              <a:t>Frederico Maciel de Mello | Luan Pedro de Souza Silva</a:t>
            </a:r>
          </a:p>
          <a:p>
            <a:pPr>
              <a:defRPr sz="2200"/>
            </a:pPr>
            <a:r>
              <a:t>Seminário, 16/10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Roteiro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O problema: aprender representações com conteúdo incompleto</a:t>
            </a:r>
          </a:p>
          <a:p>
            <a:pPr>
              <a:defRPr sz="1700"/>
            </a:pPr>
            <a:r>
              <a:t>Panorama: BERT, MAE e SimMIM</a:t>
            </a:r>
          </a:p>
          <a:p>
            <a:pPr>
              <a:defRPr sz="1700"/>
            </a:pPr>
            <a:r>
              <a:t>Fluxo do MAE: diagrama, equação da perda e pseudocódigo</a:t>
            </a:r>
          </a:p>
          <a:p>
            <a:pPr>
              <a:defRPr sz="1700"/>
            </a:pPr>
            <a:r>
              <a:t>Arquitetura e nossa implementação</a:t>
            </a:r>
          </a:p>
          <a:p>
            <a:pPr>
              <a:defRPr sz="1700"/>
            </a:pPr>
            <a:r>
              <a:t>Protocolo e orçamento de treino</a:t>
            </a:r>
          </a:p>
          <a:p>
            <a:pPr>
              <a:defRPr sz="1700"/>
            </a:pPr>
            <a:r>
              <a:t>Experimento: máscara de 50% contra 75%</a:t>
            </a:r>
          </a:p>
          <a:p>
            <a:pPr>
              <a:defRPr sz="1700"/>
            </a:pPr>
            <a:r>
              <a:t>Resultados, críticas e próximos passos</a:t>
            </a:r>
          </a:p>
          <a:p>
            <a:pPr>
              <a:defRPr sz="1700"/>
            </a:pPr>
            <a:r>
              <a:t>Aplicações e referências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O problema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Supervisão cara: rotular milhões de imagens é custoso</a:t>
            </a:r>
          </a:p>
          <a:p>
            <a:pPr>
              <a:defRPr sz="1700"/>
            </a:pPr>
            <a:r>
              <a:t>Auto-supervisão: a própria imagem fornece o alvo</a:t>
            </a:r>
          </a:p>
          <a:p>
            <a:pPr>
              <a:defRPr sz="1700"/>
            </a:pPr>
            <a:r>
              <a:t>BERT: prever palavras ocultas do texto</a:t>
            </a:r>
          </a:p>
          <a:p>
            <a:pPr>
              <a:defRPr sz="1700"/>
            </a:pPr>
            <a:r>
              <a:t>Ideia do vision masking: ocultar partes da imagem e reconstruir</a:t>
            </a:r>
          </a:p>
          <a:p>
            <a:pPr>
              <a:defRPr sz="1700"/>
            </a:pPr>
            <a:r>
              <a:t>A hipótese (He et al., 2022): reconstruir obrigaria o modelo a representar objetos; exigiria avaliação downstream para confirmar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Panorama: BERT, MAE e SimMIM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371600"/>
          <a:ext cx="1124712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169920"/>
                <a:gridCol w="3169920"/>
                <a:gridCol w="3169920"/>
              </a:tblGrid>
              <a:tr h="804672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Dimensão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BERT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SimMIM</a:t>
                      </a:r>
                    </a:p>
                  </a:txBody>
                  <a:tcPr/>
                </a:tc>
              </a:tr>
              <a:tr h="804672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Modalidade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Texto (tokens discretos)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Imagem (patches de pixels)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Imagem (patches de pixels)</a:t>
                      </a:r>
                    </a:p>
                  </a:txBody>
                  <a:tcPr/>
                </a:tc>
              </a:tr>
              <a:tr h="804672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Alvo previsto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Palavras (tokens) ocultas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Pixels brutos dos patches ocultos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Pixels brutos dos patches ocultos</a:t>
                      </a:r>
                    </a:p>
                  </a:txBody>
                  <a:tcPr/>
                </a:tc>
              </a:tr>
              <a:tr h="804672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Perda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Entropia cruzada sobre os tokens ocultos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MSE nos pixels normalizados, média por patch oculto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L1 (erro absoluto) nos pixels reconstruídos</a:t>
                      </a:r>
                    </a:p>
                  </a:txBody>
                  <a:tcPr/>
                </a:tc>
              </a:tr>
              <a:tr h="804672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Arquitetura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Encoder Transformer único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Assimétrica: encoder pesado e decoder leve separado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Encoder único com cabeça de predição linear leve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56235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latin typeface="Arial"/>
              </a:defRPr>
            </a:pPr>
            <a:r>
              <a:t>Contraste MSE x L1: o MSE do MAE opera em pixels normalizados com média por patch e pede decoder separado; a L1 do SimMIM faz regressão direta de pixels com cabeça linear leve sobre um encoder único, que admite proporções altas de máscara também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Fluxo do MAE: da imagem à perda nos ocultos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12648" y="1463040"/>
            <a:ext cx="2487168" cy="1371600"/>
          </a:xfrm>
          <a:prstGeom prst="roundRect">
            <a:avLst/>
          </a:prstGeom>
          <a:solidFill>
            <a:srgbClr val="EEF2F8"/>
          </a:solidFill>
          <a:ln>
            <a:solidFill>
              <a:srgbClr val="2F4B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F4B6E"/>
                </a:solidFill>
              </a:defRPr>
            </a:pPr>
            <a:r>
              <a:t>Imagem sem rótulo</a:t>
            </a:r>
          </a:p>
          <a:p>
            <a:pPr algn="ctr">
              <a:defRPr sz="1000" b="0">
                <a:solidFill>
                  <a:srgbClr val="2F4B6E"/>
                </a:solidFill>
              </a:defRPr>
            </a:pPr>
            <a:r>
              <a:t>32x32x3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099816" y="1956816"/>
            <a:ext cx="329184" cy="384048"/>
          </a:xfrm>
          <a:prstGeom prst="rightArrow">
            <a:avLst/>
          </a:prstGeom>
          <a:solidFill>
            <a:srgbClr val="2F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429000" y="1463040"/>
            <a:ext cx="2487168" cy="1371600"/>
          </a:xfrm>
          <a:prstGeom prst="roundRect">
            <a:avLst/>
          </a:prstGeom>
          <a:solidFill>
            <a:srgbClr val="EEF2F8"/>
          </a:solidFill>
          <a:ln>
            <a:solidFill>
              <a:srgbClr val="2F4B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F4B6E"/>
                </a:solidFill>
              </a:defRPr>
            </a:pPr>
            <a:r>
              <a:t>Patches</a:t>
            </a:r>
          </a:p>
          <a:p>
            <a:pPr algn="ctr">
              <a:defRPr sz="1000" b="0">
                <a:solidFill>
                  <a:srgbClr val="2F4B6E"/>
                </a:solidFill>
              </a:defRPr>
            </a:pPr>
            <a:r>
              <a:t>16 de 8x8</a:t>
            </a:r>
          </a:p>
          <a:p>
            <a:pPr algn="ctr">
              <a:defRPr sz="1000" b="0">
                <a:solidFill>
                  <a:srgbClr val="2F4B6E"/>
                </a:solidFill>
              </a:defRPr>
            </a:pPr>
            <a:r>
              <a:t>(192 valores cada)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16168" y="1956816"/>
            <a:ext cx="329184" cy="384048"/>
          </a:xfrm>
          <a:prstGeom prst="rightArrow">
            <a:avLst/>
          </a:prstGeom>
          <a:solidFill>
            <a:srgbClr val="2F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45352" y="1463040"/>
            <a:ext cx="2487168" cy="1371600"/>
          </a:xfrm>
          <a:prstGeom prst="roundRect">
            <a:avLst/>
          </a:prstGeom>
          <a:solidFill>
            <a:srgbClr val="EEF2F8"/>
          </a:solidFill>
          <a:ln>
            <a:solidFill>
              <a:srgbClr val="2F4B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F4B6E"/>
                </a:solidFill>
              </a:defRPr>
            </a:pPr>
            <a:r>
              <a:t>Máscara aleatória</a:t>
            </a:r>
          </a:p>
          <a:p>
            <a:pPr algn="ctr">
              <a:defRPr sz="1000" b="0">
                <a:solidFill>
                  <a:srgbClr val="2F4B6E"/>
                </a:solidFill>
              </a:defRPr>
            </a:pPr>
            <a:r>
              <a:t>50% ou 75% dos patches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732520" y="1956816"/>
            <a:ext cx="329184" cy="384048"/>
          </a:xfrm>
          <a:prstGeom prst="rightArrow">
            <a:avLst/>
          </a:prstGeom>
          <a:solidFill>
            <a:srgbClr val="2F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61704" y="1463040"/>
            <a:ext cx="2487168" cy="1371600"/>
          </a:xfrm>
          <a:prstGeom prst="roundRect">
            <a:avLst/>
          </a:prstGeom>
          <a:solidFill>
            <a:srgbClr val="EEF2F8"/>
          </a:solidFill>
          <a:ln>
            <a:solidFill>
              <a:srgbClr val="2F4B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F4B6E"/>
                </a:solidFill>
              </a:defRPr>
            </a:pPr>
            <a:r>
              <a:t>Codificador (ViT)</a:t>
            </a:r>
          </a:p>
          <a:p>
            <a:pPr algn="ctr">
              <a:defRPr sz="1000" b="0">
                <a:solidFill>
                  <a:srgbClr val="2F4B6E"/>
                </a:solidFill>
              </a:defRPr>
            </a:pPr>
            <a:r>
              <a:t>processa apenas</a:t>
            </a:r>
          </a:p>
          <a:p>
            <a:pPr algn="ctr">
              <a:defRPr sz="1000" b="0">
                <a:solidFill>
                  <a:srgbClr val="2F4B6E"/>
                </a:solidFill>
              </a:defRPr>
            </a:pPr>
            <a:r>
              <a:t>os patches visíveis</a:t>
            </a:r>
          </a:p>
        </p:txBody>
      </p:sp>
      <p:sp>
        <p:nvSpPr>
          <p:cNvPr id="10" name="Down Arrow 9"/>
          <p:cNvSpPr/>
          <p:nvPr/>
        </p:nvSpPr>
        <p:spPr>
          <a:xfrm>
            <a:off x="10140696" y="2944368"/>
            <a:ext cx="329184" cy="969264"/>
          </a:xfrm>
          <a:prstGeom prst="downArrow">
            <a:avLst/>
          </a:prstGeom>
          <a:solidFill>
            <a:srgbClr val="2F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2648" y="4023360"/>
            <a:ext cx="2487168" cy="1371600"/>
          </a:xfrm>
          <a:prstGeom prst="roundRect">
            <a:avLst/>
          </a:prstGeom>
          <a:solidFill>
            <a:srgbClr val="EEF2F8"/>
          </a:solidFill>
          <a:ln>
            <a:solidFill>
              <a:srgbClr val="2F4B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F4B6E"/>
                </a:solidFill>
              </a:defRPr>
            </a:pPr>
            <a:r>
              <a:t>Perda: MSE</a:t>
            </a:r>
          </a:p>
          <a:p>
            <a:pPr algn="ctr">
              <a:defRPr sz="1000" b="0">
                <a:solidFill>
                  <a:srgbClr val="2F4B6E"/>
                </a:solidFill>
              </a:defRPr>
            </a:pPr>
            <a:r>
              <a:t>somente nos</a:t>
            </a:r>
          </a:p>
          <a:p>
            <a:pPr algn="ctr">
              <a:defRPr sz="1000" b="0">
                <a:solidFill>
                  <a:srgbClr val="2F4B6E"/>
                </a:solidFill>
              </a:defRPr>
            </a:pPr>
            <a:r>
              <a:t>patches ocultos</a:t>
            </a:r>
          </a:p>
        </p:txBody>
      </p:sp>
      <p:sp>
        <p:nvSpPr>
          <p:cNvPr id="12" name="Left Arrow 11"/>
          <p:cNvSpPr/>
          <p:nvPr/>
        </p:nvSpPr>
        <p:spPr>
          <a:xfrm>
            <a:off x="3099816" y="4517136"/>
            <a:ext cx="329184" cy="384048"/>
          </a:xfrm>
          <a:prstGeom prst="leftArrow">
            <a:avLst/>
          </a:prstGeom>
          <a:solidFill>
            <a:srgbClr val="2F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29000" y="4023360"/>
            <a:ext cx="2487168" cy="1371600"/>
          </a:xfrm>
          <a:prstGeom prst="roundRect">
            <a:avLst/>
          </a:prstGeom>
          <a:solidFill>
            <a:srgbClr val="EEF2F8"/>
          </a:solidFill>
          <a:ln>
            <a:solidFill>
              <a:srgbClr val="2F4B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F4B6E"/>
                </a:solidFill>
              </a:defRPr>
            </a:pPr>
            <a:r>
              <a:t>Reconstrução</a:t>
            </a:r>
          </a:p>
          <a:p>
            <a:pPr algn="ctr">
              <a:defRPr sz="1000" b="0">
                <a:solidFill>
                  <a:srgbClr val="2F4B6E"/>
                </a:solidFill>
              </a:defRPr>
            </a:pPr>
            <a:r>
              <a:t>dos pixels dos</a:t>
            </a:r>
          </a:p>
          <a:p>
            <a:pPr algn="ctr">
              <a:defRPr sz="1000" b="0">
                <a:solidFill>
                  <a:srgbClr val="2F4B6E"/>
                </a:solidFill>
              </a:defRPr>
            </a:pPr>
            <a:r>
              <a:t>patches ocultos</a:t>
            </a:r>
          </a:p>
        </p:txBody>
      </p:sp>
      <p:sp>
        <p:nvSpPr>
          <p:cNvPr id="14" name="Left Arrow 13"/>
          <p:cNvSpPr/>
          <p:nvPr/>
        </p:nvSpPr>
        <p:spPr>
          <a:xfrm>
            <a:off x="5916168" y="4517136"/>
            <a:ext cx="329184" cy="384048"/>
          </a:xfrm>
          <a:prstGeom prst="leftArrow">
            <a:avLst/>
          </a:prstGeom>
          <a:solidFill>
            <a:srgbClr val="2F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45352" y="4023360"/>
            <a:ext cx="2487168" cy="1371600"/>
          </a:xfrm>
          <a:prstGeom prst="roundRect">
            <a:avLst/>
          </a:prstGeom>
          <a:solidFill>
            <a:srgbClr val="EEF2F8"/>
          </a:solidFill>
          <a:ln>
            <a:solidFill>
              <a:srgbClr val="2F4B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F4B6E"/>
                </a:solidFill>
              </a:defRPr>
            </a:pPr>
            <a:r>
              <a:t>Decodificador leve</a:t>
            </a:r>
          </a:p>
          <a:p>
            <a:pPr algn="ctr">
              <a:defRPr sz="1000" b="0">
                <a:solidFill>
                  <a:srgbClr val="2F4B6E"/>
                </a:solidFill>
              </a:defRPr>
            </a:pPr>
            <a:r>
              <a:t>dim 64, 2 blocos</a:t>
            </a:r>
          </a:p>
        </p:txBody>
      </p:sp>
      <p:sp>
        <p:nvSpPr>
          <p:cNvPr id="16" name="Left Arrow 15"/>
          <p:cNvSpPr/>
          <p:nvPr/>
        </p:nvSpPr>
        <p:spPr>
          <a:xfrm>
            <a:off x="8732520" y="4517136"/>
            <a:ext cx="329184" cy="384048"/>
          </a:xfrm>
          <a:prstGeom prst="leftArrow">
            <a:avLst/>
          </a:prstGeom>
          <a:solidFill>
            <a:srgbClr val="2F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061704" y="4023360"/>
            <a:ext cx="2487168" cy="1371600"/>
          </a:xfrm>
          <a:prstGeom prst="roundRect">
            <a:avLst/>
          </a:prstGeom>
          <a:solidFill>
            <a:srgbClr val="EEF2F8"/>
          </a:solidFill>
          <a:ln>
            <a:solidFill>
              <a:srgbClr val="2F4B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F4B6E"/>
                </a:solidFill>
              </a:defRPr>
            </a:pPr>
            <a:r>
              <a:t>Tokens de máscara</a:t>
            </a:r>
          </a:p>
          <a:p>
            <a:pPr algn="ctr">
              <a:defRPr sz="1000" b="0">
                <a:solidFill>
                  <a:srgbClr val="2F4B6E"/>
                </a:solidFill>
              </a:defRPr>
            </a:pPr>
            <a:r>
              <a:t>com embedding</a:t>
            </a:r>
          </a:p>
          <a:p>
            <a:pPr algn="ctr">
              <a:defRPr sz="1000" b="0">
                <a:solidFill>
                  <a:srgbClr val="2F4B6E"/>
                </a:solidFill>
              </a:defRPr>
            </a:pPr>
            <a:r>
              <a:t>das posições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" y="57150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latin typeface="Arial"/>
              </a:defRPr>
            </a:pPr>
            <a:r>
              <a:t>Arquitetura assimétrica: o codificador só vê os patches visíveis e o decoder leve, descartado nas tarefas posteriores de reconhecimento (He et al., 2022)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Equação da perda e pseudocódigo do treinamento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1371600"/>
            <a:ext cx="5577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latin typeface="Arial"/>
              </a:defRPr>
            </a:pPr>
            <a:r>
              <a:t>Equação da perda (erro quadrático médio nos ocultos)</a:t>
            </a:r>
          </a:p>
          <a:p>
            <a:pPr>
              <a:defRPr sz="1300" b="1">
                <a:latin typeface="Arial"/>
              </a:defRPr>
            </a:pPr>
            <a:r>
              <a:t>L_MAE = (1/|M|) · Σ i ∈ M (1/d) · ||x_i − x̂_i||²</a:t>
            </a:r>
          </a:p>
          <a:p>
            <a:pPr>
              <a:defRPr sz="1300" b="0">
                <a:latin typeface="Arial"/>
              </a:defRPr>
            </a:pPr>
            <a:r>
              <a:t>x_i: vetor de pixels do patch i (d valores)</a:t>
            </a:r>
          </a:p>
          <a:p>
            <a:pPr>
              <a:defRPr sz="1300" b="0">
                <a:latin typeface="Arial"/>
              </a:defRPr>
            </a:pPr>
            <a:r>
              <a:t>M: conjunto dos patches mascarados (ocultos)</a:t>
            </a:r>
          </a:p>
          <a:p>
            <a:pPr>
              <a:defRPr sz="1300" b="0">
                <a:latin typeface="Arial"/>
              </a:defRPr>
            </a:pPr>
            <a:r>
              <a:t>x̂_i: reconstrução do patch i produzida pelo modelo</a:t>
            </a:r>
          </a:p>
          <a:p>
            <a:pPr>
              <a:defRPr sz="1300" b="0">
                <a:latin typeface="Arial"/>
              </a:defRPr>
            </a:pPr>
            <a:r>
              <a:t>d: número de valores de pixel por patch (192);</a:t>
            </a:r>
          </a:p>
          <a:p>
            <a:pPr>
              <a:defRPr sz="1200" b="0">
                <a:latin typeface="Arial"/>
              </a:defRPr>
            </a:pPr>
            <a:r>
              <a:t>normaliza pela dimensão da reconstrução</a:t>
            </a:r>
          </a:p>
          <a:p>
            <a:pPr>
              <a:defRPr sz="1300" b="1">
                <a:latin typeface="Arial"/>
              </a:defRPr>
            </a:pPr>
            <a:r>
              <a:t>média sobre i ∈ M: a perda ignora os patches visíveis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371600"/>
            <a:ext cx="5175504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latin typeface="Consolas"/>
              </a:defRPr>
            </a:pPr>
            <a:r>
              <a:t>Pseudocódigo do laço de treinamento</a:t>
            </a:r>
          </a:p>
          <a:p>
            <a:pPr>
              <a:defRPr sz="1200" b="0">
                <a:latin typeface="Consolas"/>
              </a:defRPr>
            </a:pPr>
            <a:r>
              <a:t>1. dividir o lote em patches</a:t>
            </a:r>
          </a:p>
          <a:p>
            <a:pPr>
              <a:defRPr sz="1200" b="0">
                <a:latin typeface="Consolas"/>
              </a:defRPr>
            </a:pPr>
            <a:r>
              <a:t>2. amostrar a máscara na razão r</a:t>
            </a:r>
          </a:p>
          <a:p>
            <a:pPr>
              <a:defRPr sz="1200" b="0">
                <a:latin typeface="Consolas"/>
              </a:defRPr>
            </a:pPr>
            <a:r>
              <a:t>3. codificar somente os patches visíveis</a:t>
            </a:r>
          </a:p>
          <a:p>
            <a:pPr>
              <a:defRPr sz="1200" b="0">
                <a:latin typeface="Consolas"/>
              </a:defRPr>
            </a:pPr>
            <a:r>
              <a:t>4. decodificar com tokens de máscara e posições</a:t>
            </a:r>
          </a:p>
          <a:p>
            <a:pPr>
              <a:defRPr sz="1200" b="0">
                <a:latin typeface="Consolas"/>
              </a:defRPr>
            </a:pPr>
            <a:r>
              <a:t>5. calcular a perda somente nos patches ocultos, normalizada por d</a:t>
            </a:r>
          </a:p>
          <a:p>
            <a:pPr>
              <a:defRPr sz="1200" b="0">
                <a:latin typeface="Consolas"/>
              </a:defRPr>
            </a:pPr>
            <a:r>
              <a:t>6. atualizar os parâmetros por retropropagação</a:t>
            </a:r>
          </a:p>
          <a:p>
            <a:pPr>
              <a:defRPr sz="1200" b="0">
                <a:latin typeface="Consolas"/>
              </a:defRPr>
            </a:pPr>
            <a:r>
              <a:t>Repetir por época sobre o conjunto de treino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Arquitetura e implementação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Patchify: imagem 32x32x3 em 16 patches de 8x8 (192 valores cada)</a:t>
            </a:r>
          </a:p>
          <a:p>
            <a:pPr>
              <a:defRPr sz="1700"/>
            </a:pPr>
            <a:r>
              <a:t>Encoder: somente os patches visíveis entram (ViT dim 128, 4 blocos, 4 heads)</a:t>
            </a:r>
          </a:p>
          <a:p>
            <a:pPr>
              <a:defRPr sz="1700"/>
            </a:pPr>
            <a:r>
              <a:t>Decoder leve: dim 64, 2 blocos, tokens de máscara + embedding posicional</a:t>
            </a:r>
          </a:p>
          <a:p>
            <a:pPr>
              <a:defRPr sz="1700"/>
            </a:pPr>
            <a:r>
              <a:t>Saída: 192 valores por patch oculto; o decoder é descartado em tarefas posteriores</a:t>
            </a:r>
          </a:p>
          <a:p>
            <a:pPr>
              <a:defRPr sz="1700"/>
            </a:pPr>
            <a:r>
              <a:t>MAE próprio em PyTorch puro (sem código de terceiros), validado contra oráculo fora do pacote</a:t>
            </a:r>
          </a:p>
          <a:p>
            <a:pPr>
              <a:defRPr sz="1700"/>
            </a:pPr>
            <a:r>
              <a:t>Máscara aninhada: permutação fixa por imagem com seed 42</a:t>
            </a:r>
          </a:p>
          <a:p>
            <a:pPr>
              <a:defRPr sz="1700"/>
            </a:pPr>
            <a:r>
              <a:t>50% oculta 8 patches; 75% oculta 12 (todos os da 50% também)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Protocolo e orçamento de treino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CIFAR-10 verificado por md5 antes de qualquer uso</a:t>
            </a:r>
          </a:p>
          <a:p>
            <a:pPr>
              <a:defRPr sz="1700"/>
            </a:pPr>
            <a:r>
              <a:t>Subset seed 42, balanceado: 500 treino, 100 validação e 100 teste por classe</a:t>
            </a:r>
          </a:p>
          <a:p>
            <a:pPr>
              <a:defRPr sz="1700"/>
            </a:pPr>
            <a:r>
              <a:t>Validação disjunta do treino; teste sai do split oficial e é usado só no fim</a:t>
            </a:r>
          </a:p>
          <a:p>
            <a:pPr>
              <a:defRPr sz="1700"/>
            </a:pPr>
            <a:r>
              <a:t>Métrica: MSE nos patches ocultos do conjunto de teste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Experimento: máscara de 50% contra 75%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Mesmo treino nas duas condições: 200 épocas, batch 256, lr 3.0e-04 (AdamW)</a:t>
            </a:r>
          </a:p>
          <a:p>
            <a:pPr>
              <a:defRPr sz="1700"/>
            </a:pPr>
            <a:r>
              <a:t>O custo computacional por época diverge: a 75% o encoder vê 4 tokens, a 50% vê 8</a:t>
            </a:r>
          </a:p>
          <a:p>
            <a:pPr>
              <a:defRPr sz="1700"/>
            </a:pPr>
            <a:r>
              <a:t>Tempo medido por época (na condição 75%): 0.58 s</a:t>
            </a:r>
          </a:p>
          <a:p>
            <a:pPr>
              <a:defRPr sz="1700"/>
            </a:pPr>
            <a:r>
              <a:t>Orçamento previsto: 30 minutos para as duas condições somadas</a:t>
            </a:r>
          </a:p>
          <a:p>
            <a:pPr>
              <a:defRPr sz="1700"/>
            </a:pPr>
            <a:r>
              <a:t>MSE de teste nos ocultos: 50% = 0.0608 | 75% = 0.0717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Resultados: reconstruções e curva de perda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1325880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latin typeface="Arial"/>
              </a:defRPr>
            </a:pPr>
            <a:r>
              <a:t>Reconstruções: 8 imagens fixas do teste (seed 42)</a:t>
            </a:r>
          </a:p>
        </p:txBody>
      </p:sp>
      <p:pic>
        <p:nvPicPr>
          <p:cNvPr id="4" name="Picture 3" descr="reconstruco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247" y="1876182"/>
            <a:ext cx="9601200" cy="21820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12648" y="4251959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latin typeface="Arial"/>
              </a:defRPr>
            </a:pPr>
            <a:r>
              <a:t>Curva de perda de validação: MSE nos patches ocultos por época</a:t>
            </a:r>
          </a:p>
        </p:txBody>
      </p:sp>
      <p:pic>
        <p:nvPicPr>
          <p:cNvPr id="6" name="Picture 5" descr="curva_per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9383" y="4590288"/>
            <a:ext cx="2852927" cy="1783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12648" y="640080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latin typeface="Arial"/>
              </a:defRPr>
            </a:pPr>
            <a:r>
              <a:t>Esquerda: original, mascarada e reconstrução por condição; direita: as duas condições no mesmo eixo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Resultados, críticas e próximos passos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75% oculta mais e é mais difícil: MSE 0.0717 contra 0.0608 a 50% (+17.8%)</a:t>
            </a:r>
          </a:p>
          <a:p>
            <a:pPr>
              <a:defRPr sz="1700"/>
            </a:pPr>
            <a:r>
              <a:t>Épocas, batch e lr igualados; a computação por época diverge (4 contra 8 tokens no encoder)</a:t>
            </a:r>
          </a:p>
          <a:p>
            <a:pPr>
              <a:defRPr sz="1700"/>
            </a:pPr>
            <a:r>
              <a:t>Máscara aninhada isola o efeito da taxa: os patches ocultos a 50% também estão a 75%</a:t>
            </a:r>
          </a:p>
          <a:p>
            <a:pPr>
              <a:defRPr sz="1700"/>
            </a:pPr>
            <a:r>
              <a:t>Evidência desta configuração: semente única 42, teste fixo de 1.000 imagens e máscara aninhada</a:t>
            </a:r>
          </a:p>
          <a:p>
            <a:pPr>
              <a:defRPr sz="1700"/>
            </a:pPr>
            <a:r>
              <a:t>Não generalizar: repetir com mais sementes e avaliar downstream antes de concluir</a:t>
            </a:r>
          </a:p>
          <a:p>
            <a:pPr>
              <a:defRPr sz="1700"/>
            </a:pPr>
            <a:r>
              <a:t>Qualidade visual da reconstrução não é prova de representações melhores</a:t>
            </a:r>
          </a:p>
          <a:p>
            <a:pPr>
              <a:defRPr sz="1700"/>
            </a:pPr>
            <a:r>
              <a:t>Dataset pequeno e didático: qualidade absoluta menor que a do paper</a:t>
            </a:r>
          </a:p>
          <a:p>
            <a:pPr>
              <a:defRPr sz="1700"/>
            </a:pPr>
            <a:r>
              <a:t>Linear probing e classificação downstream fora do escopo; próximo passo: linear probing em mais sementes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Aplicações e referências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1371600"/>
            <a:ext cx="10972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latin typeface="Arial"/>
              </a:defRPr>
            </a:pPr>
            <a:r>
              <a:t>Aplicações das representações aprendidas:</a:t>
            </a:r>
          </a:p>
          <a:p>
            <a:pPr>
              <a:defRPr sz="1400" b="0">
                <a:latin typeface="Arial"/>
              </a:defRPr>
            </a:pPr>
            <a:r>
              <a:t>BERT: compreensão de linguagem (busca, classificação e diálogo)</a:t>
            </a:r>
          </a:p>
          <a:p>
            <a:pPr>
              <a:defRPr sz="1400" b="0">
                <a:latin typeface="Arial"/>
              </a:defRPr>
            </a:pPr>
            <a:r>
              <a:t>MAE: classificação, detecção e segmentação de imagens</a:t>
            </a:r>
          </a:p>
          <a:p>
            <a:pPr>
              <a:defRPr sz="1400" b="0">
                <a:latin typeface="Arial"/>
              </a:defRPr>
            </a:pPr>
            <a:r>
              <a:t>SimMIM: classificação, detecção e segmentação em imagens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3063240"/>
            <a:ext cx="10972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latin typeface="Arial"/>
              </a:defRPr>
            </a:pPr>
            <a:r>
              <a:t>Referências:</a:t>
            </a:r>
          </a:p>
          <a:p>
            <a:pPr>
              <a:defRPr sz="1200" b="0">
                <a:latin typeface="Arial"/>
              </a:defRPr>
            </a:pPr>
            <a:r>
              <a:t>Devlin, J.; Chang, M.; Lee, K.; Toutanova, K. (2019). BERT: Pre-training of Deep Bidirectional Transformers for Language Understanding. NAACL-HLT.</a:t>
            </a:r>
          </a:p>
          <a:p>
            <a:pPr>
              <a:defRPr sz="1200" b="0">
                <a:latin typeface="Arial"/>
              </a:defRPr>
            </a:pPr>
            <a:r>
              <a:t>He, K.; Chen, X.; Xie, S.; Li, Y.; Dollár, P.; Girshick, R. (2022). Masked Autoencoders Are Scalable Vision Learners. CVPR.</a:t>
            </a:r>
          </a:p>
          <a:p>
            <a:pPr>
              <a:defRPr sz="1200" b="0">
                <a:latin typeface="Arial"/>
              </a:defRPr>
            </a:pPr>
            <a:r>
              <a:t>Xie, Z.; Zhang, Z.; Lin, Y.; Bian, J.; Lin, L.; Zeng, D. (2022). SimMIM: A Simple Framework for Masked Image Modeling. CVPR.</a:t>
            </a:r>
          </a:p>
          <a:p>
            <a:pPr>
              <a:defRPr sz="1200" b="0">
                <a:latin typeface="Arial"/>
              </a:defRPr>
            </a:pPr>
            <a:r>
              <a:t>Krizhevsky, A.; Nair, V.; Hinton, G. (2009). CIFAR-10 (Canadian Institute for Advanced Research). Fonte dos dados, verificado por md5.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