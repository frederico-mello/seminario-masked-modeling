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5.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24.xml.rels" ContentType="application/vnd.openxmlformats-package.relationships+xml"/>
  <Override PartName="/ppt/notesSlides/_rels/notesSlide9.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pt-BR" sz="4400" spc="-1" strike="noStrike">
                <a:solidFill>
                  <a:srgbClr val="000000"/>
                </a:solidFill>
                <a:latin typeface="Arial"/>
              </a:rPr>
              <a:t>Clique para mover o slide</a:t>
            </a:r>
            <a:endParaRPr b="0" lang="pt-BR" sz="4400" spc="-1" strike="noStrike">
              <a:solidFill>
                <a:srgbClr val="000000"/>
              </a:solidFill>
              <a:latin typeface="Arial"/>
            </a:endParaRPr>
          </a:p>
        </p:txBody>
      </p:sp>
      <p:sp>
        <p:nvSpPr>
          <p:cNvPr id="5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5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54"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55"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6"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F170DC01-16FB-4ACD-AB43-4673A9134381}"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1143000" y="685800"/>
            <a:ext cx="4571280" cy="3428280"/>
          </a:xfrm>
          <a:prstGeom prst="rect">
            <a:avLst/>
          </a:prstGeom>
          <a:ln w="0">
            <a:noFill/>
          </a:ln>
        </p:spPr>
      </p:sp>
      <p:sp>
        <p:nvSpPr>
          <p:cNvPr id="51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seminário apresenta o aprendizado por mascaramento, uma forma de ensinar modelos usando os próprios dados como exercício. Primeiro, uma parte do texto ou da imagem é escondida; depois, o modelo tenta recuperá-la. A apresentação percorre a ideia, os exemplos em texto e imagem, a arquitetura MAE e dois experimentos. As referências principais são BERT e MAE.</a:t>
            </a:r>
            <a:endParaRPr b="0" lang="pt-BR" sz="2000" spc="-1" strike="noStrike">
              <a:solidFill>
                <a:srgbClr val="000000"/>
              </a:solidFill>
              <a:latin typeface="Arial"/>
            </a:endParaRPr>
          </a:p>
        </p:txBody>
      </p:sp>
      <p:sp>
        <p:nvSpPr>
          <p:cNvPr id="520" name="PlaceHolder 3"/>
          <p:cNvSpPr>
            <a:spLocks noGrp="1"/>
          </p:cNvSpPr>
          <p:nvPr>
            <p:ph type="sldNum" idx="3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016DC9D-5A35-452B-9461-33F846D0912B}"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143000" y="685800"/>
            <a:ext cx="4571280" cy="3428280"/>
          </a:xfrm>
          <a:prstGeom prst="rect">
            <a:avLst/>
          </a:prstGeom>
          <a:ln w="0">
            <a:noFill/>
          </a:ln>
        </p:spPr>
      </p:sp>
      <p:sp>
        <p:nvSpPr>
          <p:cNvPr id="52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 ideia central é esconder parte de uma entrada e pedir ao modelo que a preveja usando o restante como contexto. Por exemplo, ao ocultar uma palavra numa frase, as palavras ao redor ajudam a estimar o que falta. Assim, dados sem rótulos feitos por pessoas também podem servir para treinamento.</a:t>
            </a:r>
            <a:endParaRPr b="0" lang="pt-BR" sz="2000" spc="-1" strike="noStrike">
              <a:solidFill>
                <a:srgbClr val="000000"/>
              </a:solidFill>
              <a:latin typeface="Arial"/>
            </a:endParaRPr>
          </a:p>
        </p:txBody>
      </p:sp>
      <p:sp>
        <p:nvSpPr>
          <p:cNvPr id="523" name="PlaceHolder 3"/>
          <p:cNvSpPr>
            <a:spLocks noGrp="1"/>
          </p:cNvSpPr>
          <p:nvPr>
            <p:ph type="sldNum" idx="3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B100573-DAEC-4BEF-8DA3-AC734CF0E2F7}"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1143000" y="685800"/>
            <a:ext cx="4571280" cy="3428280"/>
          </a:xfrm>
          <a:prstGeom prst="rect">
            <a:avLst/>
          </a:prstGeom>
          <a:ln w="0">
            <a:noFill/>
          </a:ln>
        </p:spPr>
      </p:sp>
      <p:sp>
        <p:nvSpPr>
          <p:cNvPr id="52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O mesmo princípio funciona em modalidades diferentes. No exemplo de texto, o alvo é a palavra escondida. Na imagem, a entrada é dividida em pequenos blocos, chamados patches, e alguns ficam ocultos para que o modelo tente reconstruí-los. O percentual de 75% é apenas um exemplo esquemático nesta figura.</a:t>
            </a:r>
            <a:endParaRPr b="0" lang="pt-BR" sz="2000" spc="-1" strike="noStrike">
              <a:solidFill>
                <a:srgbClr val="000000"/>
              </a:solidFill>
              <a:latin typeface="Arial"/>
            </a:endParaRPr>
          </a:p>
        </p:txBody>
      </p:sp>
      <p:sp>
        <p:nvSpPr>
          <p:cNvPr id="526" name="PlaceHolder 3"/>
          <p:cNvSpPr>
            <a:spLocks noGrp="1"/>
          </p:cNvSpPr>
          <p:nvPr>
            <p:ph type="sldNum" idx="3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DECF1DF-B0DC-4A20-BFF1-2ED5E58AABFF}"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1143000" y="685800"/>
            <a:ext cx="4571280" cy="3428280"/>
          </a:xfrm>
          <a:prstGeom prst="rect">
            <a:avLst/>
          </a:prstGeom>
          <a:ln w="0">
            <a:noFill/>
          </a:ln>
        </p:spPr>
      </p:sp>
      <p:sp>
        <p:nvSpPr>
          <p:cNvPr id="52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Um desafio do aprendizado profundo é reunir muitos exemplos já identificados, como fotos acompanhadas da categoria correta. Essa identificação pode exigir trabalho humano. O mascaramento cria uma tarefa automaticamente a partir dos dados disponíveis, embora isso não elimine a necessidade de avaliar depois se o modelo serve para uma aplicação específica.</a:t>
            </a:r>
            <a:endParaRPr b="0" lang="pt-BR" sz="2000" spc="-1" strike="noStrike">
              <a:solidFill>
                <a:srgbClr val="000000"/>
              </a:solidFill>
              <a:latin typeface="Arial"/>
            </a:endParaRPr>
          </a:p>
        </p:txBody>
      </p:sp>
      <p:sp>
        <p:nvSpPr>
          <p:cNvPr id="529" name="PlaceHolder 3"/>
          <p:cNvSpPr>
            <a:spLocks noGrp="1"/>
          </p:cNvSpPr>
          <p:nvPr>
            <p:ph type="sldNum" idx="4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4FA4482-02E5-4083-BE4A-D368F9E18CFE}"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1143000" y="685800"/>
            <a:ext cx="4571280" cy="3428280"/>
          </a:xfrm>
          <a:prstGeom prst="rect">
            <a:avLst/>
          </a:prstGeom>
          <a:ln w="0">
            <a:noFill/>
          </a:ln>
        </p:spPr>
      </p:sp>
      <p:sp>
        <p:nvSpPr>
          <p:cNvPr id="53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Aqui está a mensagem principal: a imagem ou o texto original fornece a resposta de referência. O modelo compara sua previsão com essa referência e aprende com a diferença. É como estudar cobrindo algumas palavras de um texto e conferindo as respostas no original.</a:t>
            </a:r>
            <a:endParaRPr b="0" lang="pt-BR" sz="2000" spc="-1" strike="noStrike">
              <a:solidFill>
                <a:srgbClr val="000000"/>
              </a:solidFill>
              <a:latin typeface="Arial"/>
            </a:endParaRPr>
          </a:p>
        </p:txBody>
      </p:sp>
      <p:sp>
        <p:nvSpPr>
          <p:cNvPr id="532" name="PlaceHolder 3"/>
          <p:cNvSpPr>
            <a:spLocks noGrp="1"/>
          </p:cNvSpPr>
          <p:nvPr>
            <p:ph type="sldNum" idx="4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90C9353-17D1-47A2-8231-D2327D7CC2AD}"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1143000" y="685800"/>
            <a:ext cx="4571280" cy="3428280"/>
          </a:xfrm>
          <a:prstGeom prst="rect">
            <a:avLst/>
          </a:prstGeom>
          <a:ln w="0">
            <a:noFill/>
          </a:ln>
        </p:spPr>
      </p:sp>
      <p:sp>
        <p:nvSpPr>
          <p:cNvPr id="53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 linha do tempo mostra ideias relacionadas, sem sugerir que todos os trabalhos façam exatamente a mesma tarefa. BERT, em 2019, popularizou a previsão de palavras ocultas no contexto. ViT, em 2021, representa imagens como sequências de blocos, o que ajuda a aplicar Transformers à visão. BEiT e MAE, em 2022, exploram tarefas visuais de mascaramento, com objetivos de previsão diferentes.</a:t>
            </a:r>
            <a:endParaRPr b="0" lang="pt-BR" sz="2000" spc="-1" strike="noStrike">
              <a:solidFill>
                <a:srgbClr val="000000"/>
              </a:solidFill>
              <a:latin typeface="Arial"/>
            </a:endParaRPr>
          </a:p>
        </p:txBody>
      </p:sp>
      <p:sp>
        <p:nvSpPr>
          <p:cNvPr id="535" name="PlaceHolder 3"/>
          <p:cNvSpPr>
            <a:spLocks noGrp="1"/>
          </p:cNvSpPr>
          <p:nvPr>
            <p:ph type="sldNum" idx="4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10E922A-9520-4E96-8DD1-2885D01F4992}"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1143000" y="685800"/>
            <a:ext cx="4571280" cy="3428280"/>
          </a:xfrm>
          <a:prstGeom prst="rect">
            <a:avLst/>
          </a:prstGeom>
          <a:ln w="0">
            <a:noFill/>
          </a:ln>
        </p:spPr>
      </p:sp>
      <p:sp>
        <p:nvSpPr>
          <p:cNvPr id="53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slide introduz o MLM, sigla de modelagem de linguagem mascarada, associado ao BERT. Em termos simples, algumas palavras são ocultadas e o modelo aprende a identificá-las a partir das palavras antes e depois. O objetivo é aprender relações úteis da linguagem, não apenas decorar frases isoladas.</a:t>
            </a:r>
            <a:endParaRPr b="0" lang="pt-BR" sz="2000" spc="-1" strike="noStrike">
              <a:solidFill>
                <a:srgbClr val="000000"/>
              </a:solidFill>
              <a:latin typeface="Arial"/>
            </a:endParaRPr>
          </a:p>
        </p:txBody>
      </p:sp>
      <p:sp>
        <p:nvSpPr>
          <p:cNvPr id="538" name="PlaceHolder 3"/>
          <p:cNvSpPr>
            <a:spLocks noGrp="1"/>
          </p:cNvSpPr>
          <p:nvPr>
            <p:ph type="sldNum" idx="4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20F33F0-0832-44A7-B1C1-3BF4DC1FA655}"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1143000" y="685800"/>
            <a:ext cx="4571280" cy="3428280"/>
          </a:xfrm>
          <a:prstGeom prst="rect">
            <a:avLst/>
          </a:prstGeom>
          <a:ln w="0">
            <a:noFill/>
          </a:ln>
        </p:spPr>
      </p:sp>
      <p:sp>
        <p:nvSpPr>
          <p:cNvPr id="54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Agora a mesma família de ideias aparece em imagens. Em vez de esconder palavras, ocultam-se regiões da imagem. Existem diferentes maneiras de definir o que o modelo deve prever, por exemplo, valores dos pixels ou códigos que representam os blocos. O slide apresenta a ideia geral de MIM, modelagem de imagem mascarada.</a:t>
            </a:r>
            <a:endParaRPr b="0" lang="pt-BR" sz="2000" spc="-1" strike="noStrike">
              <a:solidFill>
                <a:srgbClr val="000000"/>
              </a:solidFill>
              <a:latin typeface="Arial"/>
            </a:endParaRPr>
          </a:p>
        </p:txBody>
      </p:sp>
      <p:sp>
        <p:nvSpPr>
          <p:cNvPr id="541" name="PlaceHolder 3"/>
          <p:cNvSpPr>
            <a:spLocks noGrp="1"/>
          </p:cNvSpPr>
          <p:nvPr>
            <p:ph type="sldNum" idx="4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3A1367D-974F-4FC6-9140-E89525D85783}"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1143000" y="685800"/>
            <a:ext cx="4571280" cy="3428280"/>
          </a:xfrm>
          <a:prstGeom prst="rect">
            <a:avLst/>
          </a:prstGeom>
          <a:ln w="0">
            <a:noFill/>
          </a:ln>
        </p:spPr>
      </p:sp>
      <p:sp>
        <p:nvSpPr>
          <p:cNvPr id="54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O MAE organiza a tarefa em etapas. A imagem vira uma grade de blocos; uma parte é escondida; o encoder, ou codificador, analisa apenas o que ficou visível; e um decoder, ou decodificador, usa essa informação junto com posições vazias para reconstruir o que falta. O treino busca reduzir a diferença entre os blocos reconstruídos e os originais ocultos.</a:t>
            </a:r>
            <a:endParaRPr b="0" lang="pt-BR" sz="2000" spc="-1" strike="noStrike">
              <a:solidFill>
                <a:srgbClr val="000000"/>
              </a:solidFill>
              <a:latin typeface="Arial"/>
            </a:endParaRPr>
          </a:p>
        </p:txBody>
      </p:sp>
      <p:sp>
        <p:nvSpPr>
          <p:cNvPr id="544" name="PlaceHolder 3"/>
          <p:cNvSpPr>
            <a:spLocks noGrp="1"/>
          </p:cNvSpPr>
          <p:nvPr>
            <p:ph type="sldNum" idx="4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6F4E1A9-5031-4AA8-8E3A-C4BAF0DF51BF}"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1143000" y="685800"/>
            <a:ext cx="4571280" cy="3428280"/>
          </a:xfrm>
          <a:prstGeom prst="rect">
            <a:avLst/>
          </a:prstGeom>
          <a:ln w="0">
            <a:noFill/>
          </a:ln>
        </p:spPr>
      </p:sp>
      <p:sp>
        <p:nvSpPr>
          <p:cNvPr id="54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O encoder é a parte que resume as informações visíveis da imagem. Como não recebe os blocos ocultos, há menos partes para processar durante o pré-treinamento. O decoder recebe esse resumo e marcadores que indicam onde faltam blocos, então tenta reconstruir os pixels originais. Essa divisão é assimétrica: o encoder e o decoder não fazem trabalhos idênticos.</a:t>
            </a:r>
            <a:endParaRPr b="0" lang="pt-BR" sz="2000" spc="-1" strike="noStrike">
              <a:solidFill>
                <a:srgbClr val="000000"/>
              </a:solidFill>
              <a:latin typeface="Arial"/>
            </a:endParaRPr>
          </a:p>
        </p:txBody>
      </p:sp>
      <p:sp>
        <p:nvSpPr>
          <p:cNvPr id="547" name="PlaceHolder 3"/>
          <p:cNvSpPr>
            <a:spLocks noGrp="1"/>
          </p:cNvSpPr>
          <p:nvPr>
            <p:ph type="sldNum" idx="4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5B75316-7A39-4936-8C42-15B19E9639CA}"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1143000" y="685800"/>
            <a:ext cx="4571280" cy="3428280"/>
          </a:xfrm>
          <a:prstGeom prst="rect">
            <a:avLst/>
          </a:prstGeom>
          <a:ln w="0">
            <a:noFill/>
          </a:ln>
        </p:spPr>
      </p:sp>
      <p:sp>
        <p:nvSpPr>
          <p:cNvPr id="54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slide aprofunda o aprendizado do MAE. A cada exemplo, o modelo recebe somente uma parte da imagem e tenta completar as lacunas. O erro entre a reconstrução e os pixels de referência orienta os ajustes internos do modelo. Esse exercício pode produzir representações visuais úteis, mas reconstruir bem, por si só, não prova que qualquer tarefa posterior será resolvida bem.</a:t>
            </a:r>
            <a:endParaRPr b="0" lang="pt-BR" sz="2000" spc="-1" strike="noStrike">
              <a:solidFill>
                <a:srgbClr val="000000"/>
              </a:solidFill>
              <a:latin typeface="Arial"/>
            </a:endParaRPr>
          </a:p>
        </p:txBody>
      </p:sp>
      <p:sp>
        <p:nvSpPr>
          <p:cNvPr id="550" name="PlaceHolder 3"/>
          <p:cNvSpPr>
            <a:spLocks noGrp="1"/>
          </p:cNvSpPr>
          <p:nvPr>
            <p:ph type="sldNum" idx="4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0FDF7E1-6713-4EEB-BD33-FD6DD41C03AE}"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1143000" y="685800"/>
            <a:ext cx="4571280" cy="3428280"/>
          </a:xfrm>
          <a:prstGeom prst="rect">
            <a:avLst/>
          </a:prstGeom>
          <a:ln w="0">
            <a:noFill/>
          </a:ln>
        </p:spPr>
      </p:sp>
      <p:sp>
        <p:nvSpPr>
          <p:cNvPr id="55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Depois do pré-treinamento, o encoder pode ser reaproveitado em tarefas como classificar imagens, localizar objetos ou separar regiões. O decoder, que servia para treinar a reconstrução, pode ser retirado nessa etapa. O encoder pode ser usado como extrator de características ou ajustado com exemplos da nova tarefa. Essas possibilidades são aplicações, não resultados medidos neste experimento.</a:t>
            </a:r>
            <a:endParaRPr b="0" lang="pt-BR" sz="2000" spc="-1" strike="noStrike">
              <a:solidFill>
                <a:srgbClr val="000000"/>
              </a:solidFill>
              <a:latin typeface="Arial"/>
            </a:endParaRPr>
          </a:p>
        </p:txBody>
      </p:sp>
      <p:sp>
        <p:nvSpPr>
          <p:cNvPr id="553" name="PlaceHolder 3"/>
          <p:cNvSpPr>
            <a:spLocks noGrp="1"/>
          </p:cNvSpPr>
          <p:nvPr>
            <p:ph type="sldNum" idx="4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361B235-F8A7-4095-80A6-0205F3608388}"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1143000" y="685800"/>
            <a:ext cx="4571280" cy="3428280"/>
          </a:xfrm>
          <a:prstGeom prst="rect">
            <a:avLst/>
          </a:prstGeom>
          <a:ln w="0">
            <a:noFill/>
          </a:ln>
        </p:spPr>
      </p:sp>
      <p:sp>
        <p:nvSpPr>
          <p:cNvPr id="55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é um experimento complementar com um ViT-MAE pré-treinado, isto é, um modelo visual que já passou por um treinamento anterior com mascaramento. As entradas são imagens de 224 por 224 pixels, divididas em blocos de 16 por 16. A pergunta é como a reconstrução se comporta em quatro taxas de ocultação. As configurações aqui não devem ser misturadas com as do experimento próprio em CIFAR-10.</a:t>
            </a:r>
            <a:endParaRPr b="0" lang="pt-BR" sz="2000" spc="-1" strike="noStrike">
              <a:solidFill>
                <a:srgbClr val="000000"/>
              </a:solidFill>
              <a:latin typeface="Arial"/>
            </a:endParaRPr>
          </a:p>
        </p:txBody>
      </p:sp>
      <p:sp>
        <p:nvSpPr>
          <p:cNvPr id="556" name="PlaceHolder 3"/>
          <p:cNvSpPr>
            <a:spLocks noGrp="1"/>
          </p:cNvSpPr>
          <p:nvPr>
            <p:ph type="sldNum" idx="4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0118E54-C486-4563-92D6-E752FC46CA7D}"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1143000" y="685800"/>
            <a:ext cx="4571280" cy="3428280"/>
          </a:xfrm>
          <a:prstGeom prst="rect">
            <a:avLst/>
          </a:prstGeom>
          <a:ln w="0">
            <a:noFill/>
          </a:ln>
        </p:spPr>
      </p:sp>
      <p:sp>
        <p:nvSpPr>
          <p:cNvPr id="55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O fluxo mostra o procedimento, não os resultados. Primeiro, cada imagem de 224 por 224 é dividida em blocos de 16 por 16. Em seguida, são testadas quatro taxas de mascaramento: 25%, 50%, 75% e 90%. O MAE processa os blocos visíveis e prevê os ocultos. Por fim, o MSE compara a previsão com a referência somente nas partes escondidas. Os resultados aparecem nos próximos slides.</a:t>
            </a:r>
            <a:endParaRPr b="0" lang="pt-BR" sz="2000" spc="-1" strike="noStrike">
              <a:solidFill>
                <a:srgbClr val="000000"/>
              </a:solidFill>
              <a:latin typeface="Arial"/>
            </a:endParaRPr>
          </a:p>
        </p:txBody>
      </p:sp>
      <p:sp>
        <p:nvSpPr>
          <p:cNvPr id="559" name="PlaceHolder 3"/>
          <p:cNvSpPr>
            <a:spLocks noGrp="1"/>
          </p:cNvSpPr>
          <p:nvPr>
            <p:ph type="sldNum" idx="5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5C0019A-5E07-4336-9833-4713E48ABA40}"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1143000" y="685800"/>
            <a:ext cx="4571280" cy="3428280"/>
          </a:xfrm>
          <a:prstGeom prst="rect">
            <a:avLst/>
          </a:prstGeom>
          <a:ln w="0">
            <a:noFill/>
          </a:ln>
        </p:spPr>
      </p:sp>
      <p:sp>
        <p:nvSpPr>
          <p:cNvPr id="56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slide apresenta exemplos visuais do experimento complementar. Em cada linha, a imagem reconstruída deve ser entendida em relação à imagem original e à máscara aplicada. A comparação ajuda a perceber detalhes que um número sozinho não mostra, como contornos e texturas. A figura ilustra casos escolhidos e não representa necessariamente todas as imagens avaliadas.</a:t>
            </a:r>
            <a:endParaRPr b="0" lang="pt-BR" sz="2000" spc="-1" strike="noStrike">
              <a:solidFill>
                <a:srgbClr val="000000"/>
              </a:solidFill>
              <a:latin typeface="Arial"/>
            </a:endParaRPr>
          </a:p>
        </p:txBody>
      </p:sp>
      <p:sp>
        <p:nvSpPr>
          <p:cNvPr id="562" name="PlaceHolder 3"/>
          <p:cNvSpPr>
            <a:spLocks noGrp="1"/>
          </p:cNvSpPr>
          <p:nvPr>
            <p:ph type="sldNum" idx="5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F6A37EE-6C55-45A0-86BC-BDD9A46E2A38}"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1143000" y="685800"/>
            <a:ext cx="4571280" cy="3428280"/>
          </a:xfrm>
          <a:prstGeom prst="rect">
            <a:avLst/>
          </a:prstGeom>
          <a:ln w="0">
            <a:noFill/>
          </a:ln>
        </p:spPr>
      </p:sp>
      <p:sp>
        <p:nvSpPr>
          <p:cNvPr id="56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slide reúne a comparação quantitativa entre as taxas de mascaramento do experimento complementar. O MSE mede a diferença entre os pixels reconstruídos e os pixels originais nas áreas ocultas; valores menores indicam menor erro nessa medida. Os valores destacados também aparecem na síntese do slide seguinte: 0,0476 com 25%, 0,1403 com 75% e 0,3117 com 90%. A interpretação fica limitada a este experimento apresentado.</a:t>
            </a:r>
            <a:endParaRPr b="0" lang="pt-BR" sz="2000" spc="-1" strike="noStrike">
              <a:solidFill>
                <a:srgbClr val="000000"/>
              </a:solidFill>
              <a:latin typeface="Arial"/>
            </a:endParaRPr>
          </a:p>
        </p:txBody>
      </p:sp>
      <p:sp>
        <p:nvSpPr>
          <p:cNvPr id="565" name="PlaceHolder 3"/>
          <p:cNvSpPr>
            <a:spLocks noGrp="1"/>
          </p:cNvSpPr>
          <p:nvPr>
            <p:ph type="sldNum" idx="5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219BF61-8967-4381-82F7-4BC8ED8189A4}"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1143000" y="685800"/>
            <a:ext cx="4571280" cy="3428280"/>
          </a:xfrm>
          <a:prstGeom prst="rect">
            <a:avLst/>
          </a:prstGeom>
          <a:ln w="0">
            <a:noFill/>
          </a:ln>
        </p:spPr>
      </p:sp>
      <p:sp>
        <p:nvSpPr>
          <p:cNvPr id="56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é o protocolo do experimento próprio com CIFAR-10. As imagens têm 32 por 32 pixels e são divididas em 16 blocos de 8 por 8. São feitos dois treinos separados, um ocultando metade dos blocos e outro ocultando 75%. Ambos usam as mesmas configurações indicadas no slide. As máscaras são aninhadas: os blocos ocultos na condição de 50% também estão ocultos na condição de 75%.</a:t>
            </a:r>
            <a:endParaRPr b="0" lang="pt-BR" sz="2000" spc="-1" strike="noStrike">
              <a:solidFill>
                <a:srgbClr val="000000"/>
              </a:solidFill>
              <a:latin typeface="Arial"/>
            </a:endParaRPr>
          </a:p>
        </p:txBody>
      </p:sp>
      <p:sp>
        <p:nvSpPr>
          <p:cNvPr id="568" name="PlaceHolder 3"/>
          <p:cNvSpPr>
            <a:spLocks noGrp="1"/>
          </p:cNvSpPr>
          <p:nvPr>
            <p:ph type="sldNum" idx="5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06A459A-079B-4B3E-AEE8-86A1B2BEC3A3}"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1143000" y="685800"/>
            <a:ext cx="4571280" cy="3428280"/>
          </a:xfrm>
          <a:prstGeom prst="rect">
            <a:avLst/>
          </a:prstGeom>
          <a:ln w="0">
            <a:noFill/>
          </a:ln>
        </p:spPr>
      </p:sp>
      <p:sp>
        <p:nvSpPr>
          <p:cNvPr id="57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Aqui vemos duas imagens de teste, comparadas com a imagem original e as reconstruções para as duas taxas de mascaramento. A amostra é demonstrativa, não resume sozinha o conjunto inteiro. Com mais blocos escondidos, há menos informação direta disponível para reconstruir a imagem. A seleção corresponde às amostras 1 e 2 de uma grade fixa de oito imagens.</a:t>
            </a:r>
            <a:endParaRPr b="0" lang="pt-BR" sz="2000" spc="-1" strike="noStrike">
              <a:solidFill>
                <a:srgbClr val="000000"/>
              </a:solidFill>
              <a:latin typeface="Arial"/>
            </a:endParaRPr>
          </a:p>
        </p:txBody>
      </p:sp>
      <p:sp>
        <p:nvSpPr>
          <p:cNvPr id="571" name="PlaceHolder 3"/>
          <p:cNvSpPr>
            <a:spLocks noGrp="1"/>
          </p:cNvSpPr>
          <p:nvPr>
            <p:ph type="sldNum" idx="5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EAFA1F1-4D65-4CAC-8F01-0638D069A66A}"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1143000" y="685800"/>
            <a:ext cx="4571280" cy="3428280"/>
          </a:xfrm>
          <a:prstGeom prst="rect">
            <a:avLst/>
          </a:prstGeom>
          <a:ln w="0">
            <a:noFill/>
          </a:ln>
        </p:spPr>
      </p:sp>
      <p:sp>
        <p:nvSpPr>
          <p:cNvPr id="57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O gráfico resume o erro médio quadrático, ou MSE, calculado apenas nos blocos escondidos do teste. Nesta execução, o MSE foi 0,0608 com máscara de 50% e 0,0717 com 75%, portanto a segunda condição teve erro maior. Isso descreve estes dois treinos e esta semente, não uma regra universal. Há uma única semente, sem teste de significância, e não foi medida uma tarefa posterior de classificação.</a:t>
            </a:r>
            <a:endParaRPr b="0" lang="pt-BR" sz="2000" spc="-1" strike="noStrike">
              <a:solidFill>
                <a:srgbClr val="000000"/>
              </a:solidFill>
              <a:latin typeface="Arial"/>
            </a:endParaRPr>
          </a:p>
        </p:txBody>
      </p:sp>
      <p:sp>
        <p:nvSpPr>
          <p:cNvPr id="574" name="PlaceHolder 3"/>
          <p:cNvSpPr>
            <a:spLocks noGrp="1"/>
          </p:cNvSpPr>
          <p:nvPr>
            <p:ph type="sldNum" idx="5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652322B-FDCB-4D0C-A218-BC5472A1E4CF}"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Img"/>
          </p:nvPr>
        </p:nvSpPr>
        <p:spPr>
          <a:xfrm>
            <a:off x="1143000" y="685800"/>
            <a:ext cx="4571280" cy="3428280"/>
          </a:xfrm>
          <a:prstGeom prst="rect">
            <a:avLst/>
          </a:prstGeom>
          <a:ln w="0">
            <a:noFill/>
          </a:ln>
        </p:spPr>
      </p:sp>
      <p:sp>
        <p:nvSpPr>
          <p:cNvPr id="57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As conclusões juntam o método e os resultados. O mascaramento cria um exercício com dados não rotulados, e o MAE usa um encoder que vê apenas os blocos visíveis e um decoder que tenta reconstruir os ocultos. No experimento complementar, o erro informado aumenta de 0,0476 com 25% de máscara para 0,1403 com 75%, e chega a 0,3117 com 90%. Menos informação visível tornou a reconstrução mais difícil neste conjunto de condições; isso não demonstra, por si só, pior desempenho em tarefas posteriores.</a:t>
            </a:r>
            <a:endParaRPr b="0" lang="pt-BR" sz="2000" spc="-1" strike="noStrike">
              <a:solidFill>
                <a:srgbClr val="000000"/>
              </a:solidFill>
              <a:latin typeface="Arial"/>
            </a:endParaRPr>
          </a:p>
        </p:txBody>
      </p:sp>
      <p:sp>
        <p:nvSpPr>
          <p:cNvPr id="577" name="PlaceHolder 3"/>
          <p:cNvSpPr>
            <a:spLocks noGrp="1"/>
          </p:cNvSpPr>
          <p:nvPr>
            <p:ph type="sldNum" idx="5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116EC06-B413-42D0-9543-E1FF4720D608}"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Img"/>
          </p:nvPr>
        </p:nvSpPr>
        <p:spPr>
          <a:xfrm>
            <a:off x="1143000" y="685800"/>
            <a:ext cx="4571280" cy="3428280"/>
          </a:xfrm>
          <a:prstGeom prst="rect">
            <a:avLst/>
          </a:prstGeom>
          <a:ln w="0">
            <a:noFill/>
          </a:ln>
        </p:spPr>
      </p:sp>
      <p:sp>
        <p:nvSpPr>
          <p:cNvPr id="57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O pré-treinamento por mascaramento pode fornecer uma base para várias tarefas de visão, como classificação, detecção e segmentação. A apresentação também cita possíveis usos em imagens médicas e sensoriamento remoto, além de texto, vídeo e áudio. Esses são exemplos de aplicação, não testes realizados neste trabalho. Para uma aplicação real, seria necessário avaliar o modelo com os dados e critérios daquele domínio.</a:t>
            </a:r>
            <a:endParaRPr b="0" lang="pt-BR" sz="2000" spc="-1" strike="noStrike">
              <a:solidFill>
                <a:srgbClr val="000000"/>
              </a:solidFill>
              <a:latin typeface="Arial"/>
            </a:endParaRPr>
          </a:p>
        </p:txBody>
      </p:sp>
      <p:sp>
        <p:nvSpPr>
          <p:cNvPr id="580" name="PlaceHolder 3"/>
          <p:cNvSpPr>
            <a:spLocks noGrp="1"/>
          </p:cNvSpPr>
          <p:nvPr>
            <p:ph type="sldNum" idx="5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F5EB160-F80C-4D21-8CA6-0A34C2A5F043}" type="slidenum">
              <a:rPr b="0" lang="en-US" sz="1200" spc="-1" strike="noStrike">
                <a:solidFill>
                  <a:srgbClr val="000000"/>
                </a:solidFill>
                <a:latin typeface="Times New Roman"/>
              </a:rPr>
              <a:t>24</a:t>
            </a:fld>
            <a:endParaRPr b="0" lang="pt-BR"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1143000" y="685800"/>
            <a:ext cx="4571280" cy="3428280"/>
          </a:xfrm>
          <a:prstGeom prst="rect">
            <a:avLst/>
          </a:prstGeom>
          <a:ln w="0">
            <a:noFill/>
          </a:ln>
        </p:spPr>
      </p:sp>
      <p:sp>
        <p:nvSpPr>
          <p:cNvPr id="58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 distinção final é entre meio e objetivo. Neste método, reconstruir o conteúdo escondido é o exercício usado para aprender. O interesse maior é que o modelo desenvolva representações dos dados que possam ser úteis depois. Portanto, uma reconstrução melhor não garante automaticamente melhor desempenho em todas as tarefas posteriores.</a:t>
            </a:r>
            <a:endParaRPr b="0" lang="pt-BR" sz="2000" spc="-1" strike="noStrike">
              <a:solidFill>
                <a:srgbClr val="000000"/>
              </a:solidFill>
              <a:latin typeface="Arial"/>
            </a:endParaRPr>
          </a:p>
        </p:txBody>
      </p:sp>
      <p:sp>
        <p:nvSpPr>
          <p:cNvPr id="583" name="PlaceHolder 3"/>
          <p:cNvSpPr>
            <a:spLocks noGrp="1"/>
          </p:cNvSpPr>
          <p:nvPr>
            <p:ph type="sldNum" idx="5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E9B5903-5F6B-4CE5-B162-3B12438277AF}" type="slidenum">
              <a:rPr b="0" lang="en-US" sz="1200" spc="-1" strike="noStrike">
                <a:solidFill>
                  <a:srgbClr val="000000"/>
                </a:solidFill>
                <a:latin typeface="Times New Roman"/>
              </a:rPr>
              <a:t>&lt;número&gt;</a:t>
            </a:fld>
            <a:endParaRPr b="0" lang="pt-BR"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1143000" y="685800"/>
            <a:ext cx="4571280" cy="3428280"/>
          </a:xfrm>
          <a:prstGeom prst="rect">
            <a:avLst/>
          </a:prstGeom>
          <a:ln w="0">
            <a:noFill/>
          </a:ln>
        </p:spPr>
      </p:sp>
      <p:sp>
        <p:nvSpPr>
          <p:cNvPr id="58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Este slide registra as fontes usadas para contextualizar os conceitos. BERT fundamenta o exemplo de linguagem mascarada; ViT explica a representação de imagens em blocos; BEiT e MAE são trabalhos ligados ao mascaramento visual. A documentação do Hugging Face e a página do modelo identificam a implementação e o modelo citados na apresentação.</a:t>
            </a:r>
            <a:endParaRPr b="0" lang="pt-BR" sz="2000" spc="-1" strike="noStrike">
              <a:solidFill>
                <a:srgbClr val="000000"/>
              </a:solidFill>
              <a:latin typeface="Arial"/>
            </a:endParaRPr>
          </a:p>
        </p:txBody>
      </p:sp>
      <p:sp>
        <p:nvSpPr>
          <p:cNvPr id="586" name="PlaceHolder 3"/>
          <p:cNvSpPr>
            <a:spLocks noGrp="1"/>
          </p:cNvSpPr>
          <p:nvPr>
            <p:ph type="sldNum" idx="5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986CD77-E44A-4CD7-BD1F-F821316530B5}" type="slidenum">
              <a:rPr b="0" lang="en-US" sz="1200" spc="-1" strike="noStrike">
                <a:solidFill>
                  <a:srgbClr val="000000"/>
                </a:solidFill>
                <a:latin typeface="Times New Roman"/>
              </a:rPr>
              <a:t>&lt;número&gt;</a:t>
            </a:fld>
            <a:endParaRPr b="0" lang="pt-BR"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1143000" y="685800"/>
            <a:ext cx="4571280" cy="3428280"/>
          </a:xfrm>
          <a:prstGeom prst="rect">
            <a:avLst/>
          </a:prstGeom>
          <a:ln w="0">
            <a:noFill/>
          </a:ln>
        </p:spPr>
      </p:sp>
      <p:sp>
        <p:nvSpPr>
          <p:cNvPr id="58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O último slide aponta para o notebook com o código e o material de apoio do experimento. Ele permite consultar os passos de execução e os elementos usados para produzir os resultados apresentados. Os números e imagens dos slides devem ser interpretados dentro das configurações descritas anteriormente, e não como uma avaliação universal do método.</a:t>
            </a:r>
            <a:endParaRPr b="0" lang="pt-BR" sz="2000" spc="-1" strike="noStrike">
              <a:solidFill>
                <a:srgbClr val="000000"/>
              </a:solidFill>
              <a:latin typeface="Arial"/>
            </a:endParaRPr>
          </a:p>
        </p:txBody>
      </p:sp>
      <p:sp>
        <p:nvSpPr>
          <p:cNvPr id="589" name="PlaceHolder 3"/>
          <p:cNvSpPr>
            <a:spLocks noGrp="1"/>
          </p:cNvSpPr>
          <p:nvPr>
            <p:ph type="sldNum" idx="6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1BA65D2-792D-4EFE-A08D-75EB2C00BF73}" type="slidenum">
              <a:rPr b="0" lang="en-US" sz="1200" spc="-1" strike="noStrike">
                <a:solidFill>
                  <a:srgbClr val="000000"/>
                </a:solidFill>
                <a:latin typeface="Times New Roman"/>
              </a:rPr>
              <a:t>&lt;número&gt;</a:t>
            </a:fld>
            <a:endParaRPr b="0" lang="pt-B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lide de Título">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3D8BE82-27F9-4B8C-8FE5-6BF58AD4195A}" type="slidenum">
              <a:t>&lt;#&gt;</a:t>
            </a:fld>
          </a:p>
        </p:txBody>
      </p:sp>
      <p:sp>
        <p:nvSpPr>
          <p:cNvPr id="6" name="PlaceHolder 5"/>
          <p:cNvSpPr>
            <a:spLocks noGrp="1"/>
          </p:cNvSpPr>
          <p:nvPr>
            <p:ph type="dt" idx="3"/>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e Texto Vertical">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814EFF1-D85A-4520-9A5E-CD256FCD4E7E}" type="slidenum">
              <a:t>&lt;#&gt;</a:t>
            </a:fld>
          </a:p>
        </p:txBody>
      </p:sp>
      <p:sp>
        <p:nvSpPr>
          <p:cNvPr id="4" name="PlaceHolder 3"/>
          <p:cNvSpPr>
            <a:spLocks noGrp="1"/>
          </p:cNvSpPr>
          <p:nvPr>
            <p:ph type="dt" idx="6"/>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exto e Título Vertical">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EE061489-5CEA-4E6C-B8F2-61E64A326ECB}" type="slidenum">
              <a:t>&lt;#&gt;</a:t>
            </a:fld>
          </a:p>
        </p:txBody>
      </p:sp>
      <p:sp>
        <p:nvSpPr>
          <p:cNvPr id="4" name="PlaceHolder 3"/>
          <p:cNvSpPr>
            <a:spLocks noGrp="1"/>
          </p:cNvSpPr>
          <p:nvPr>
            <p:ph type="dt" idx="9"/>
          </p:nvPr>
        </p:nvSpPr>
        <p:spPr/>
        <p:txBody>
          <a:bodyPr/>
          <a:p>
            <a:r>
              <a:rPr lang="pt-B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e Conteúdo">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0F3A5EA7-0B25-4FDE-A946-CB3C672E3335}" type="slidenum">
              <a:t>&lt;#&gt;</a:t>
            </a:fld>
          </a:p>
        </p:txBody>
      </p:sp>
      <p:sp>
        <p:nvSpPr>
          <p:cNvPr id="6" name="PlaceHolder 5"/>
          <p:cNvSpPr>
            <a:spLocks noGrp="1"/>
          </p:cNvSpPr>
          <p:nvPr>
            <p:ph type="dt" idx="12"/>
          </p:nvPr>
        </p:nvSpPr>
        <p:spPr/>
        <p:txBody>
          <a:bodyPr/>
          <a:p>
            <a:r>
              <a:rPr lang="pt-B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beçalho da Seção">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471D63CB-6CD3-4E35-B7E9-B2C55183305A}" type="slidenum">
              <a:t>&lt;#&gt;</a:t>
            </a:fld>
          </a:p>
        </p:txBody>
      </p:sp>
      <p:sp>
        <p:nvSpPr>
          <p:cNvPr id="4" name="PlaceHolder 3"/>
          <p:cNvSpPr>
            <a:spLocks noGrp="1"/>
          </p:cNvSpPr>
          <p:nvPr>
            <p:ph type="dt" idx="15"/>
          </p:nvPr>
        </p:nvSpPr>
        <p:spPr/>
        <p:txBody>
          <a:bodyPr/>
          <a:p>
            <a:r>
              <a:rPr lang="pt-B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uas Partes de Conteúdo">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36D4BADD-FA12-4815-A796-3BFE9E1310FB}" type="slidenum">
              <a:t>&lt;#&gt;</a:t>
            </a:fld>
          </a:p>
        </p:txBody>
      </p:sp>
      <p:sp>
        <p:nvSpPr>
          <p:cNvPr id="7" name="PlaceHolder 6"/>
          <p:cNvSpPr>
            <a:spLocks noGrp="1"/>
          </p:cNvSpPr>
          <p:nvPr>
            <p:ph type="dt" idx="18"/>
          </p:nvPr>
        </p:nvSpPr>
        <p:spPr/>
        <p:txBody>
          <a:bodyPr/>
          <a:p>
            <a:r>
              <a:rPr lang="pt-B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ção">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6FF2D2D1-61D9-492E-B844-A8FD20D144D0}" type="slidenum">
              <a:t>&lt;#&gt;</a:t>
            </a:fld>
          </a:p>
        </p:txBody>
      </p:sp>
      <p:sp>
        <p:nvSpPr>
          <p:cNvPr id="4" name="PlaceHolder 3"/>
          <p:cNvSpPr>
            <a:spLocks noGrp="1"/>
          </p:cNvSpPr>
          <p:nvPr>
            <p:ph type="dt" idx="21"/>
          </p:nvPr>
        </p:nvSpPr>
        <p:spPr/>
        <p:txBody>
          <a:bodyPr/>
          <a:p>
            <a:r>
              <a:rPr lang="pt-B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mente Título">
    <p:spTree>
      <p:nvGrpSpPr>
        <p:cNvPr id="1" name=""/>
        <p:cNvGrpSpPr/>
        <p:nvPr/>
      </p:nvGrpSpPr>
      <p:grpSpPr>
        <a:xfrm>
          <a:off x="0" y="0"/>
          <a:ext cx="0" cy="0"/>
          <a:chOff x="0" y="0"/>
          <a:chExt cx="0" cy="0"/>
        </a:xfrm>
      </p:grpSpPr>
      <p:sp>
        <p:nvSpPr>
          <p:cNvPr id="39"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62E67E73-04E4-4CA0-83F6-848F47D34FA4}" type="slidenum">
              <a:t>&lt;#&gt;</a:t>
            </a:fld>
          </a:p>
        </p:txBody>
      </p:sp>
      <p:sp>
        <p:nvSpPr>
          <p:cNvPr id="5" name="PlaceHolder 4"/>
          <p:cNvSpPr>
            <a:spLocks noGrp="1"/>
          </p:cNvSpPr>
          <p:nvPr>
            <p:ph type="dt" idx="24"/>
          </p:nvPr>
        </p:nvSpPr>
        <p:spPr/>
        <p:txBody>
          <a:bodyPr/>
          <a:p>
            <a:r>
              <a:rPr lang="pt-B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m Branco">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7EE66016-787D-429B-A667-2991DC23B47D}" type="slidenum">
              <a:t>&lt;#&gt;</a:t>
            </a:fld>
          </a:p>
        </p:txBody>
      </p:sp>
      <p:sp>
        <p:nvSpPr>
          <p:cNvPr id="4" name="PlaceHolder 3"/>
          <p:cNvSpPr>
            <a:spLocks noGrp="1"/>
          </p:cNvSpPr>
          <p:nvPr>
            <p:ph type="dt" idx="27"/>
          </p:nvPr>
        </p:nvSpPr>
        <p:spPr/>
        <p:txBody>
          <a:bodyPr/>
          <a:p>
            <a:r>
              <a:rPr lang="pt-B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údo com Legenda">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981E7F47-475A-4DBA-BEA1-EFB01297CE87}" type="slidenum">
              <a:t>&lt;#&gt;</a:t>
            </a:fld>
          </a:p>
        </p:txBody>
      </p:sp>
      <p:sp>
        <p:nvSpPr>
          <p:cNvPr id="4" name="PlaceHolder 3"/>
          <p:cNvSpPr>
            <a:spLocks noGrp="1"/>
          </p:cNvSpPr>
          <p:nvPr>
            <p:ph type="dt" idx="30"/>
          </p:nvPr>
        </p:nvSpPr>
        <p:spPr/>
        <p:txBody>
          <a:bodyPr/>
          <a:p>
            <a:r>
              <a:rPr lang="pt-B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m com Legenda">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5D7C6A44-ED50-4EBC-8F50-91481458E129}" type="slidenum">
              <a:t>&lt;#&gt;</a:t>
            </a:fld>
          </a:p>
        </p:txBody>
      </p:sp>
      <p:sp>
        <p:nvSpPr>
          <p:cNvPr id="4" name="PlaceHolder 3"/>
          <p:cNvSpPr>
            <a:spLocks noGrp="1"/>
          </p:cNvSpPr>
          <p:nvPr>
            <p:ph type="dt" idx="33"/>
          </p:nvPr>
        </p:nvSpPr>
        <p:spPr/>
        <p:txBody>
          <a:bodyPr/>
          <a:p>
            <a:r>
              <a:rPr lang="pt-B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89B65C75-5B0D-41FD-BD4A-7098F14FD0D7}"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94C6FD37-1910-4651-A06D-6814FEC344C2}"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CF5D844E-860E-435D-8586-17D40DDBAFB1}"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1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276A41F0-F8A1-4B19-A1F2-2563E73FADE6}"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21D83A65-B3B1-4CB8-BC4D-B6D1D9B20627}"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2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25"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F156E925-C91B-4398-891A-25D1C103D699}"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A361113F-7934-4EB6-ACA5-9F9977D1EA06}"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3280" cy="238680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07DC48F6-869B-47ED-B0F5-E11D847F2547}"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1"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226717FA-9CAB-4384-81E6-890A9FA7358A}"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42"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4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6"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07BD205E-8B29-4061-ABA3-E0DBFD787D1E}"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47"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9"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pt-BR" sz="1200" spc="-1" strike="noStrike">
                <a:solidFill>
                  <a:schemeClr val="dk1">
                    <a:tint val="82000"/>
                  </a:schemeClr>
                </a:solidFill>
                <a:latin typeface="Aptos"/>
              </a:defRPr>
            </a:lvl1pPr>
          </a:lstStyle>
          <a:p>
            <a:pPr indent="0" algn="r" defTabSz="914400">
              <a:lnSpc>
                <a:spcPct val="100000"/>
              </a:lnSpc>
              <a:buNone/>
              <a:tabLst>
                <a:tab algn="l" pos="0"/>
              </a:tabLst>
            </a:pPr>
            <a:fld id="{5C6BFA19-A434-48DD-8603-A4E7B7C71553}" type="slidenum">
              <a:rPr b="0" lang="pt-BR" sz="1200" spc="-1" strike="noStrike">
                <a:solidFill>
                  <a:schemeClr val="dk1">
                    <a:tint val="82000"/>
                  </a:schemeClr>
                </a:solidFill>
                <a:latin typeface="Aptos"/>
              </a:rPr>
              <a:t>&lt;número&gt;</a:t>
            </a:fld>
            <a:endParaRPr b="0" lang="pt-BR" sz="1200" spc="-1" strike="noStrike">
              <a:solidFill>
                <a:srgbClr val="000000"/>
              </a:solidFill>
              <a:latin typeface="Times New Roman"/>
            </a:endParaRPr>
          </a:p>
        </p:txBody>
      </p:sp>
      <p:sp>
        <p:nvSpPr>
          <p:cNvPr id="50"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slideLayout" Target="../slideLayouts/slideLayout9.xml"/><Relationship Id="rId1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hyperlink" Target="https://colab.research.google.com/drive/11BkUg8lzF079vWErYh5plimEVcF16gXN?usp=sharing" TargetMode="External"/><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subTitle"/>
          </p:nvPr>
        </p:nvSpPr>
        <p:spPr>
          <a:xfrm>
            <a:off x="1258560" y="1101240"/>
            <a:ext cx="9408600" cy="41558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Masked Modeling em Deep Learning</a:t>
            </a:r>
            <a:endParaRPr b="0" lang="pt-BR" sz="2400" spc="-1" strike="noStrike">
              <a:solidFill>
                <a:srgbClr val="000000"/>
              </a:solidFill>
              <a:latin typeface="Arial"/>
            </a:endParaRPr>
          </a:p>
          <a:p>
            <a:pPr algn="ctr" defTabSz="914400">
              <a:lnSpc>
                <a:spcPct val="90000"/>
              </a:lnSpc>
              <a:spcBef>
                <a:spcPts val="1001"/>
              </a:spcBef>
              <a:tabLst>
                <a:tab algn="l" pos="0"/>
              </a:tabLst>
            </a:pPr>
            <a:r>
              <a:rPr b="1" lang="pt-BR" sz="2400" spc="-1" strike="noStrike">
                <a:solidFill>
                  <a:schemeClr val="dk1"/>
                </a:solidFill>
                <a:latin typeface="Aptos"/>
              </a:rPr>
              <a:t>Aprendizado Auto-Supervisionado por Mascaramento</a:t>
            </a: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r>
              <a:rPr b="1" lang="pt-BR" sz="2400" spc="-1" strike="noStrike">
                <a:solidFill>
                  <a:schemeClr val="dk1"/>
                </a:solidFill>
                <a:latin typeface="Aptos"/>
              </a:rPr>
              <a:t>Alunos:</a:t>
            </a:r>
            <a:r>
              <a:rPr b="0" lang="pt-BR" sz="2400" spc="-1" strike="noStrike">
                <a:solidFill>
                  <a:schemeClr val="dk1"/>
                </a:solidFill>
                <a:latin typeface="Aptos"/>
              </a:rPr>
              <a:t> Luan Pedro e Frederico Maciel</a:t>
            </a:r>
            <a:br>
              <a:rPr sz="2400"/>
            </a:br>
            <a:r>
              <a:rPr b="1" lang="pt-BR" sz="2400" spc="-1" strike="noStrike">
                <a:solidFill>
                  <a:schemeClr val="dk1"/>
                </a:solidFill>
                <a:latin typeface="Aptos"/>
              </a:rPr>
              <a:t>Disciplina:</a:t>
            </a:r>
            <a:r>
              <a:rPr b="0" lang="pt-BR" sz="2400" spc="-1" strike="noStrike">
                <a:solidFill>
                  <a:schemeClr val="dk1"/>
                </a:solidFill>
                <a:latin typeface="Aptos"/>
              </a:rPr>
              <a:t> Aprendizado Profundo</a:t>
            </a:r>
            <a:br>
              <a:rPr sz="2400"/>
            </a:br>
            <a:r>
              <a:rPr b="1" lang="pt-BR" sz="2400" spc="-1" strike="noStrike">
                <a:solidFill>
                  <a:schemeClr val="dk1"/>
                </a:solidFill>
                <a:latin typeface="Aptos"/>
              </a:rPr>
              <a:t>Seminário</a:t>
            </a: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p:txBody>
      </p:sp>
      <p:pic>
        <p:nvPicPr>
          <p:cNvPr id="58" name="Imagem 4" descr=""/>
          <p:cNvPicPr/>
          <p:nvPr/>
        </p:nvPicPr>
        <p:blipFill>
          <a:blip r:embed="rId1"/>
          <a:stretch/>
        </p:blipFill>
        <p:spPr>
          <a:xfrm>
            <a:off x="3206520" y="3429000"/>
            <a:ext cx="6072840" cy="2399760"/>
          </a:xfrm>
          <a:prstGeom prst="rect">
            <a:avLst/>
          </a:prstGeom>
          <a:ln w="0">
            <a:noFill/>
          </a:ln>
        </p:spPr>
      </p:pic>
      <p:sp>
        <p:nvSpPr>
          <p:cNvPr id="59" name="Rectangle 5"/>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60"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(DEVLIN et al., 2019; HE et al., 2022)</a:t>
            </a:r>
            <a:endParaRPr b="0" lang="pt-BR" sz="850" spc="-1" strike="noStrike">
              <a:solidFill>
                <a:srgbClr val="ffffff"/>
              </a:solidFill>
              <a:latin typeface="Arial"/>
            </a:endParaRPr>
          </a:p>
        </p:txBody>
      </p:sp>
      <p:sp>
        <p:nvSpPr>
          <p:cNvPr id="61" name="TextBox 7"/>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01</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subTitle"/>
          </p:nvPr>
        </p:nvSpPr>
        <p:spPr>
          <a:xfrm>
            <a:off x="1258560" y="1101240"/>
            <a:ext cx="9408600" cy="4155840"/>
          </a:xfrm>
          <a:prstGeom prst="rect">
            <a:avLst/>
          </a:prstGeom>
          <a:noFill/>
          <a:ln w="0">
            <a:noFill/>
          </a:ln>
        </p:spPr>
        <p:txBody>
          <a:bodyPr lIns="91440" rIns="91440" tIns="45720" bIns="45720" anchor="t">
            <a:normAutofit fontScale="83888"/>
          </a:bodyPr>
          <a:p>
            <a:pPr algn="ctr" defTabSz="914400">
              <a:lnSpc>
                <a:spcPct val="90000"/>
              </a:lnSpc>
              <a:spcBef>
                <a:spcPts val="1001"/>
              </a:spcBef>
              <a:tabLst>
                <a:tab algn="l" pos="0"/>
              </a:tabLst>
            </a:pPr>
            <a:r>
              <a:rPr b="1" lang="pt-BR" sz="2400" spc="-1" strike="noStrike">
                <a:solidFill>
                  <a:schemeClr val="dk1"/>
                </a:solidFill>
                <a:latin typeface="Aptos"/>
              </a:rPr>
              <a:t>O que é Masked Modeling?</a:t>
            </a:r>
            <a:endParaRPr b="0" lang="pt-BR" sz="2400" spc="-1" strike="noStrike">
              <a:solidFill>
                <a:srgbClr val="000000"/>
              </a:solidFill>
              <a:latin typeface="Arial"/>
            </a:endParaRPr>
          </a:p>
          <a:p>
            <a:pPr algn="ctr" defTabSz="914400">
              <a:lnSpc>
                <a:spcPct val="90000"/>
              </a:lnSpc>
              <a:spcBef>
                <a:spcPts val="1001"/>
              </a:spcBef>
              <a:tabLst>
                <a:tab algn="l" pos="0"/>
              </a:tabLst>
            </a:pPr>
            <a:r>
              <a:rPr b="1" lang="pt-BR" sz="2400" spc="-1" strike="noStrike">
                <a:solidFill>
                  <a:schemeClr val="dk1"/>
                </a:solidFill>
                <a:latin typeface="Aptos"/>
              </a:rPr>
              <a:t>Masked Modeling</a:t>
            </a:r>
            <a:r>
              <a:rPr b="0" lang="pt-BR" sz="2400" spc="-1" strike="noStrike">
                <a:solidFill>
                  <a:schemeClr val="dk1"/>
                </a:solidFill>
                <a:latin typeface="Aptos"/>
              </a:rPr>
              <a:t> é uma estratégia de aprendizado em que </a:t>
            </a:r>
            <a:r>
              <a:rPr b="1" lang="pt-BR" sz="2400" spc="-1" strike="noStrike">
                <a:solidFill>
                  <a:schemeClr val="dk1"/>
                </a:solidFill>
                <a:latin typeface="Aptos"/>
              </a:rPr>
              <a:t>parte dos dados de entrada é propositalmente ocultada (mascarada)</a:t>
            </a:r>
            <a:r>
              <a:rPr b="0" lang="pt-BR" sz="2400" spc="-1" strike="noStrike">
                <a:solidFill>
                  <a:schemeClr val="dk1"/>
                </a:solidFill>
                <a:latin typeface="Aptos"/>
              </a:rPr>
              <a:t> e o modelo é treinado para </a:t>
            </a:r>
            <a:r>
              <a:rPr b="1" lang="pt-BR" sz="2400" spc="-1" strike="noStrike">
                <a:solidFill>
                  <a:schemeClr val="dk1"/>
                </a:solidFill>
                <a:latin typeface="Aptos"/>
              </a:rPr>
              <a:t>prever ou reconstruir a informação ausente</a:t>
            </a:r>
            <a:r>
              <a:rPr b="0" lang="pt-BR" sz="2400" spc="-1" strike="noStrike">
                <a:solidFill>
                  <a:schemeClr val="dk1"/>
                </a:solidFill>
                <a:latin typeface="Aptos"/>
              </a:rPr>
              <a:t>.</a:t>
            </a: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r>
              <a:rPr b="1" lang="pt-BR" sz="2400" spc="-1" strike="noStrike">
                <a:solidFill>
                  <a:schemeClr val="dk1"/>
                </a:solidFill>
                <a:latin typeface="Aptos"/>
              </a:rPr>
              <a:t>Ideia central:</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Ocultar uma parte da entrada; </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Utilizar a informação visível como contexto; </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Prever ou reconstruir o conteúdo mascarado; </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Aprender representações úteis dos dados durante esse processo.</a:t>
            </a: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p:txBody>
      </p:sp>
      <p:sp>
        <p:nvSpPr>
          <p:cNvPr id="63" name="Rectangle 3"/>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64" name="Rectangle 4"/>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(DEVLIN et al., 2019; HE et al., 2022)</a:t>
            </a:r>
            <a:endParaRPr b="0" lang="pt-BR" sz="850" spc="-1" strike="noStrike">
              <a:solidFill>
                <a:srgbClr val="ffffff"/>
              </a:solidFill>
              <a:latin typeface="Arial"/>
            </a:endParaRPr>
          </a:p>
        </p:txBody>
      </p:sp>
      <p:sp>
        <p:nvSpPr>
          <p:cNvPr id="65" name="TextBox 5"/>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02</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Rectangle 6"/>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67" name="Rectangle 7"/>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Conceitos: (DEVLIN et al., 2019; HE et al., 2022).</a:t>
            </a:r>
            <a:endParaRPr b="0" lang="pt-BR" sz="850" spc="-1" strike="noStrike">
              <a:solidFill>
                <a:srgbClr val="ffffff"/>
              </a:solidFill>
              <a:latin typeface="Arial"/>
            </a:endParaRPr>
          </a:p>
        </p:txBody>
      </p:sp>
      <p:sp>
        <p:nvSpPr>
          <p:cNvPr id="68" name="TextBox 8"/>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03</a:t>
            </a:r>
            <a:endParaRPr b="0" lang="pt-BR" sz="800" spc="-1" strike="noStrike">
              <a:solidFill>
                <a:srgbClr val="000000"/>
              </a:solidFill>
              <a:latin typeface="Arial"/>
            </a:endParaRPr>
          </a:p>
        </p:txBody>
      </p:sp>
      <p:sp>
        <p:nvSpPr>
          <p:cNvPr id="69" name="Vector_Section"/>
          <p:cNvSpPr/>
          <p:nvPr/>
        </p:nvSpPr>
        <p:spPr>
          <a:xfrm>
            <a:off x="567000" y="615600"/>
            <a:ext cx="11063520" cy="19440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100" spc="-1" strike="noStrike">
                <a:solidFill>
                  <a:srgbClr val="0093dd"/>
                </a:solidFill>
                <a:latin typeface="Aptos"/>
              </a:rPr>
              <a:t>EXEMPLOS ESQUEMÁTICOS</a:t>
            </a:r>
            <a:endParaRPr b="0" lang="pt-BR" sz="1100" spc="-1" strike="noStrike">
              <a:solidFill>
                <a:srgbClr val="000000"/>
              </a:solidFill>
              <a:latin typeface="Arial"/>
            </a:endParaRPr>
          </a:p>
        </p:txBody>
      </p:sp>
      <p:sp>
        <p:nvSpPr>
          <p:cNvPr id="70" name="Vector_Headline"/>
          <p:cNvSpPr/>
          <p:nvPr/>
        </p:nvSpPr>
        <p:spPr>
          <a:xfrm>
            <a:off x="567000" y="888840"/>
            <a:ext cx="11063520" cy="4075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2500" spc="-1" strike="noStrike">
                <a:solidFill>
                  <a:srgbClr val="0d1f3a"/>
                </a:solidFill>
                <a:latin typeface="Aptos"/>
              </a:rPr>
              <a:t>A mesma ideia, aplicada a texto e imagem</a:t>
            </a:r>
            <a:endParaRPr b="0" lang="pt-BR" sz="2500" spc="-1" strike="noStrike">
              <a:solidFill>
                <a:srgbClr val="000000"/>
              </a:solidFill>
              <a:latin typeface="Arial"/>
            </a:endParaRPr>
          </a:p>
        </p:txBody>
      </p:sp>
      <p:sp>
        <p:nvSpPr>
          <p:cNvPr id="71" name="Vector_Subheadline"/>
          <p:cNvSpPr/>
          <p:nvPr/>
        </p:nvSpPr>
        <p:spPr>
          <a:xfrm>
            <a:off x="594360" y="1415880"/>
            <a:ext cx="10972080" cy="2401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0" lang="pt-BR" sz="1400" spc="-1" strike="noStrike">
                <a:solidFill>
                  <a:srgbClr val="5c6b7a"/>
                </a:solidFill>
                <a:latin typeface="Aptos"/>
              </a:rPr>
              <a:t>Ocultar parte da entrada cria um alvo de previsão a partir do próprio dado.</a:t>
            </a:r>
            <a:endParaRPr b="0" lang="pt-BR" sz="1400" spc="-1" strike="noStrike">
              <a:solidFill>
                <a:srgbClr val="000000"/>
              </a:solidFill>
              <a:latin typeface="Arial"/>
            </a:endParaRPr>
          </a:p>
        </p:txBody>
      </p:sp>
      <p:sp>
        <p:nvSpPr>
          <p:cNvPr id="72" name="Vector_TextPanel"/>
          <p:cNvSpPr/>
          <p:nvPr/>
        </p:nvSpPr>
        <p:spPr>
          <a:xfrm>
            <a:off x="567000" y="1865520"/>
            <a:ext cx="5394240" cy="4004280"/>
          </a:xfrm>
          <a:prstGeom prst="roundRect">
            <a:avLst>
              <a:gd name="adj" fmla="val 16667"/>
            </a:avLst>
          </a:prstGeom>
          <a:solidFill>
            <a:srgbClr val="f1f7fb"/>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73" name="Vector_ImagePanel"/>
          <p:cNvSpPr/>
          <p:nvPr/>
        </p:nvSpPr>
        <p:spPr>
          <a:xfrm>
            <a:off x="6217920" y="1865520"/>
            <a:ext cx="5394240" cy="4004280"/>
          </a:xfrm>
          <a:prstGeom prst="roundRect">
            <a:avLst>
              <a:gd name="adj" fmla="val 16667"/>
            </a:avLst>
          </a:prstGeom>
          <a:solidFill>
            <a:srgbClr val="f1f7fb"/>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74" name="Vector_TextHeader"/>
          <p:cNvSpPr/>
          <p:nvPr/>
        </p:nvSpPr>
        <p:spPr>
          <a:xfrm>
            <a:off x="822960" y="2097000"/>
            <a:ext cx="4845600" cy="28584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700" spc="-1" strike="noStrike">
                <a:solidFill>
                  <a:srgbClr val="0d1f3a"/>
                </a:solidFill>
                <a:latin typeface="Aptos"/>
              </a:rPr>
              <a:t>TEXTO  |  Masked Language Modeling</a:t>
            </a:r>
            <a:endParaRPr b="0" lang="pt-BR" sz="1700" spc="-1" strike="noStrike">
              <a:solidFill>
                <a:srgbClr val="000000"/>
              </a:solidFill>
              <a:latin typeface="Arial"/>
            </a:endParaRPr>
          </a:p>
        </p:txBody>
      </p:sp>
      <p:sp>
        <p:nvSpPr>
          <p:cNvPr id="75" name="Vector_TextOriginalLabel"/>
          <p:cNvSpPr/>
          <p:nvPr/>
        </p:nvSpPr>
        <p:spPr>
          <a:xfrm>
            <a:off x="841320" y="2674800"/>
            <a:ext cx="2010960" cy="2095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200" spc="-1" strike="noStrike">
                <a:solidFill>
                  <a:srgbClr val="5c6b7a"/>
                </a:solidFill>
                <a:latin typeface="Aptos"/>
              </a:rPr>
              <a:t>Entrada</a:t>
            </a:r>
            <a:endParaRPr b="0" lang="pt-BR" sz="1200" spc="-1" strike="noStrike">
              <a:solidFill>
                <a:srgbClr val="000000"/>
              </a:solidFill>
              <a:latin typeface="Arial"/>
            </a:endParaRPr>
          </a:p>
        </p:txBody>
      </p:sp>
      <p:sp>
        <p:nvSpPr>
          <p:cNvPr id="76" name="Vector_TextOriginal"/>
          <p:cNvSpPr/>
          <p:nvPr/>
        </p:nvSpPr>
        <p:spPr>
          <a:xfrm>
            <a:off x="822960" y="2944440"/>
            <a:ext cx="4845600" cy="59364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77" name="Vector_TextOriginalValue"/>
          <p:cNvSpPr/>
          <p:nvPr/>
        </p:nvSpPr>
        <p:spPr>
          <a:xfrm>
            <a:off x="987480" y="3084480"/>
            <a:ext cx="4525560" cy="2858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700" spc="-1" strike="noStrike">
                <a:solidFill>
                  <a:srgbClr val="1c2a39"/>
                </a:solidFill>
                <a:latin typeface="Aptos"/>
              </a:rPr>
              <a:t>O cachorro correu para o parque.</a:t>
            </a:r>
            <a:endParaRPr b="0" lang="pt-BR" sz="1700" spc="-1" strike="noStrike">
              <a:solidFill>
                <a:srgbClr val="000000"/>
              </a:solidFill>
              <a:latin typeface="Arial"/>
            </a:endParaRPr>
          </a:p>
        </p:txBody>
      </p:sp>
      <p:sp>
        <p:nvSpPr>
          <p:cNvPr id="78" name="Vector_TextMaskedLabel"/>
          <p:cNvSpPr/>
          <p:nvPr/>
        </p:nvSpPr>
        <p:spPr>
          <a:xfrm>
            <a:off x="841320" y="3699000"/>
            <a:ext cx="2468160" cy="2095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200" spc="-1" strike="noStrike">
                <a:solidFill>
                  <a:srgbClr val="5c6b7a"/>
                </a:solidFill>
                <a:latin typeface="Aptos"/>
              </a:rPr>
              <a:t>Com um token oculto</a:t>
            </a:r>
            <a:endParaRPr b="0" lang="pt-BR" sz="1200" spc="-1" strike="noStrike">
              <a:solidFill>
                <a:srgbClr val="000000"/>
              </a:solidFill>
              <a:latin typeface="Arial"/>
            </a:endParaRPr>
          </a:p>
        </p:txBody>
      </p:sp>
      <p:sp>
        <p:nvSpPr>
          <p:cNvPr id="79" name="Vector_TextMasked"/>
          <p:cNvSpPr/>
          <p:nvPr/>
        </p:nvSpPr>
        <p:spPr>
          <a:xfrm>
            <a:off x="822960" y="3959280"/>
            <a:ext cx="4845600" cy="59364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80" name="Vector_TextMaskedValue"/>
          <p:cNvSpPr/>
          <p:nvPr/>
        </p:nvSpPr>
        <p:spPr>
          <a:xfrm>
            <a:off x="987480" y="4099680"/>
            <a:ext cx="4525560" cy="2858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700" spc="-1" strike="noStrike">
                <a:solidFill>
                  <a:srgbClr val="1c2a39"/>
                </a:solidFill>
                <a:latin typeface="Aptos"/>
              </a:rPr>
              <a:t>O [MASK] correu para o parque.</a:t>
            </a:r>
            <a:endParaRPr b="0" lang="pt-BR" sz="1700" spc="-1" strike="noStrike">
              <a:solidFill>
                <a:srgbClr val="000000"/>
              </a:solidFill>
              <a:latin typeface="Arial"/>
            </a:endParaRPr>
          </a:p>
        </p:txBody>
      </p:sp>
      <p:sp>
        <p:nvSpPr>
          <p:cNvPr id="81" name="Vector_TextGuess"/>
          <p:cNvSpPr/>
          <p:nvPr/>
        </p:nvSpPr>
        <p:spPr>
          <a:xfrm>
            <a:off x="1143000" y="4800600"/>
            <a:ext cx="4205520" cy="621000"/>
          </a:xfrm>
          <a:prstGeom prst="roundRect">
            <a:avLst>
              <a:gd name="adj" fmla="val 16667"/>
            </a:avLst>
          </a:prstGeom>
          <a:solidFill>
            <a:srgbClr val="fff1ed"/>
          </a:solidFill>
          <a:ln w="1397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82" name="Vector_TextGuessLabel"/>
          <p:cNvSpPr/>
          <p:nvPr/>
        </p:nvSpPr>
        <p:spPr>
          <a:xfrm>
            <a:off x="1261800" y="4974480"/>
            <a:ext cx="3967920" cy="2552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500" spc="-1" strike="noStrike">
                <a:solidFill>
                  <a:srgbClr val="0d1f3a"/>
                </a:solidFill>
                <a:latin typeface="Aptos"/>
              </a:rPr>
              <a:t>Alvo de previsão: cachorro</a:t>
            </a:r>
            <a:endParaRPr b="0" lang="pt-BR" sz="1500" spc="-1" strike="noStrike">
              <a:solidFill>
                <a:srgbClr val="000000"/>
              </a:solidFill>
              <a:latin typeface="Arial"/>
            </a:endParaRPr>
          </a:p>
        </p:txBody>
      </p:sp>
      <p:sp>
        <p:nvSpPr>
          <p:cNvPr id="83" name="Vector_ImageHeader"/>
          <p:cNvSpPr/>
          <p:nvPr/>
        </p:nvSpPr>
        <p:spPr>
          <a:xfrm>
            <a:off x="6473880" y="2097000"/>
            <a:ext cx="4845600" cy="28584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700" spc="-1" strike="noStrike">
                <a:solidFill>
                  <a:srgbClr val="0d1f3a"/>
                </a:solidFill>
                <a:latin typeface="Aptos"/>
              </a:rPr>
              <a:t>IMAGEM  |  Masked Image Modeling</a:t>
            </a:r>
            <a:endParaRPr b="0" lang="pt-BR" sz="1700" spc="-1" strike="noStrike">
              <a:solidFill>
                <a:srgbClr val="000000"/>
              </a:solidFill>
              <a:latin typeface="Arial"/>
            </a:endParaRPr>
          </a:p>
        </p:txBody>
      </p:sp>
      <p:sp>
        <p:nvSpPr>
          <p:cNvPr id="84" name="Vector_ImageOrigLabel"/>
          <p:cNvSpPr/>
          <p:nvPr/>
        </p:nvSpPr>
        <p:spPr>
          <a:xfrm>
            <a:off x="6510600" y="2656440"/>
            <a:ext cx="1508040" cy="2095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200" spc="-1" strike="noStrike">
                <a:solidFill>
                  <a:srgbClr val="5c6b7a"/>
                </a:solidFill>
                <a:latin typeface="Aptos"/>
              </a:rPr>
              <a:t>1. Entrada</a:t>
            </a:r>
            <a:endParaRPr b="0" lang="pt-BR" sz="1200" spc="-1" strike="noStrike">
              <a:solidFill>
                <a:srgbClr val="000000"/>
              </a:solidFill>
              <a:latin typeface="Arial"/>
            </a:endParaRPr>
          </a:p>
        </p:txBody>
      </p:sp>
      <p:sp>
        <p:nvSpPr>
          <p:cNvPr id="85" name="Vector_ImageMaskLabel"/>
          <p:cNvSpPr/>
          <p:nvPr/>
        </p:nvSpPr>
        <p:spPr>
          <a:xfrm>
            <a:off x="8412480" y="2656440"/>
            <a:ext cx="1508040" cy="2095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200" spc="-1" strike="noStrike">
                <a:solidFill>
                  <a:srgbClr val="5c6b7a"/>
                </a:solidFill>
                <a:latin typeface="Aptos"/>
              </a:rPr>
              <a:t>2. Ocultar</a:t>
            </a:r>
            <a:endParaRPr b="0" lang="pt-BR" sz="1200" spc="-1" strike="noStrike">
              <a:solidFill>
                <a:srgbClr val="000000"/>
              </a:solidFill>
              <a:latin typeface="Arial"/>
            </a:endParaRPr>
          </a:p>
        </p:txBody>
      </p:sp>
      <p:sp>
        <p:nvSpPr>
          <p:cNvPr id="86" name="Vector_ImageTargetLabel"/>
          <p:cNvSpPr/>
          <p:nvPr/>
        </p:nvSpPr>
        <p:spPr>
          <a:xfrm>
            <a:off x="10287000" y="2656440"/>
            <a:ext cx="1023480" cy="2095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200" spc="-1" strike="noStrike">
                <a:solidFill>
                  <a:srgbClr val="5c6b7a"/>
                </a:solidFill>
                <a:latin typeface="Aptos"/>
              </a:rPr>
              <a:t>3. Prever</a:t>
            </a:r>
            <a:endParaRPr b="0" lang="pt-BR" sz="1200" spc="-1" strike="noStrike">
              <a:solidFill>
                <a:srgbClr val="000000"/>
              </a:solidFill>
              <a:latin typeface="Arial"/>
            </a:endParaRPr>
          </a:p>
        </p:txBody>
      </p:sp>
      <p:sp>
        <p:nvSpPr>
          <p:cNvPr id="87" name="Vector_OriginalGrid_0_0"/>
          <p:cNvSpPr/>
          <p:nvPr/>
        </p:nvSpPr>
        <p:spPr>
          <a:xfrm>
            <a:off x="6839640" y="301752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88" name="Vector_OriginalGrid_0_1"/>
          <p:cNvSpPr/>
          <p:nvPr/>
        </p:nvSpPr>
        <p:spPr>
          <a:xfrm>
            <a:off x="7138080" y="301752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89" name="Vector_OriginalGrid_0_2"/>
          <p:cNvSpPr/>
          <p:nvPr/>
        </p:nvSpPr>
        <p:spPr>
          <a:xfrm>
            <a:off x="7436520" y="301752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0" name="Vector_OriginalGrid_0_3"/>
          <p:cNvSpPr/>
          <p:nvPr/>
        </p:nvSpPr>
        <p:spPr>
          <a:xfrm>
            <a:off x="7734600" y="301752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1" name="Vector_OriginalGrid_1_0"/>
          <p:cNvSpPr/>
          <p:nvPr/>
        </p:nvSpPr>
        <p:spPr>
          <a:xfrm>
            <a:off x="6839640" y="331596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2" name="Vector_OriginalGrid_1_1"/>
          <p:cNvSpPr/>
          <p:nvPr/>
        </p:nvSpPr>
        <p:spPr>
          <a:xfrm>
            <a:off x="7138080" y="331596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3" name="Vector_OriginalGrid_1_2"/>
          <p:cNvSpPr/>
          <p:nvPr/>
        </p:nvSpPr>
        <p:spPr>
          <a:xfrm>
            <a:off x="7436520" y="331596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4" name="Vector_OriginalGrid_1_3"/>
          <p:cNvSpPr/>
          <p:nvPr/>
        </p:nvSpPr>
        <p:spPr>
          <a:xfrm>
            <a:off x="7734600" y="331596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5" name="Vector_OriginalGrid_2_0"/>
          <p:cNvSpPr/>
          <p:nvPr/>
        </p:nvSpPr>
        <p:spPr>
          <a:xfrm>
            <a:off x="6839640" y="361404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6" name="Vector_OriginalGrid_2_1"/>
          <p:cNvSpPr/>
          <p:nvPr/>
        </p:nvSpPr>
        <p:spPr>
          <a:xfrm>
            <a:off x="7138080" y="361404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7" name="Vector_OriginalGrid_2_2"/>
          <p:cNvSpPr/>
          <p:nvPr/>
        </p:nvSpPr>
        <p:spPr>
          <a:xfrm>
            <a:off x="7436520" y="361404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8" name="Vector_OriginalGrid_2_3"/>
          <p:cNvSpPr/>
          <p:nvPr/>
        </p:nvSpPr>
        <p:spPr>
          <a:xfrm>
            <a:off x="7734600" y="361404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99" name="Vector_OriginalGrid_3_0"/>
          <p:cNvSpPr/>
          <p:nvPr/>
        </p:nvSpPr>
        <p:spPr>
          <a:xfrm>
            <a:off x="6839640" y="391248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0" name="Vector_OriginalGrid_3_1"/>
          <p:cNvSpPr/>
          <p:nvPr/>
        </p:nvSpPr>
        <p:spPr>
          <a:xfrm>
            <a:off x="7138080" y="391248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1" name="Vector_OriginalGrid_3_2"/>
          <p:cNvSpPr/>
          <p:nvPr/>
        </p:nvSpPr>
        <p:spPr>
          <a:xfrm>
            <a:off x="7436520" y="391248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2" name="Vector_OriginalGrid_3_3"/>
          <p:cNvSpPr/>
          <p:nvPr/>
        </p:nvSpPr>
        <p:spPr>
          <a:xfrm>
            <a:off x="7734600" y="391248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3" name="Vector_MaskedGrid_0_0"/>
          <p:cNvSpPr/>
          <p:nvPr/>
        </p:nvSpPr>
        <p:spPr>
          <a:xfrm>
            <a:off x="8613720" y="301752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4" name="Vector_MaskedGrid_0_1"/>
          <p:cNvSpPr/>
          <p:nvPr/>
        </p:nvSpPr>
        <p:spPr>
          <a:xfrm>
            <a:off x="8911800" y="301752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5" name="Vector_MaskedGrid_0_2"/>
          <p:cNvSpPr/>
          <p:nvPr/>
        </p:nvSpPr>
        <p:spPr>
          <a:xfrm>
            <a:off x="9210240" y="301752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6" name="Vector_MaskedGrid_0_3"/>
          <p:cNvSpPr/>
          <p:nvPr/>
        </p:nvSpPr>
        <p:spPr>
          <a:xfrm>
            <a:off x="9508680" y="301752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7" name="Vector_MaskedGrid_1_0"/>
          <p:cNvSpPr/>
          <p:nvPr/>
        </p:nvSpPr>
        <p:spPr>
          <a:xfrm>
            <a:off x="8613720" y="331596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8" name="Vector_MaskedGrid_1_1"/>
          <p:cNvSpPr/>
          <p:nvPr/>
        </p:nvSpPr>
        <p:spPr>
          <a:xfrm>
            <a:off x="8911800" y="331596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09" name="Vector_MaskedGrid_1_2"/>
          <p:cNvSpPr/>
          <p:nvPr/>
        </p:nvSpPr>
        <p:spPr>
          <a:xfrm>
            <a:off x="9210240" y="331596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0" name="Vector_MaskedGrid_1_3"/>
          <p:cNvSpPr/>
          <p:nvPr/>
        </p:nvSpPr>
        <p:spPr>
          <a:xfrm>
            <a:off x="9508680" y="331596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1" name="Vector_MaskedGrid_2_0"/>
          <p:cNvSpPr/>
          <p:nvPr/>
        </p:nvSpPr>
        <p:spPr>
          <a:xfrm>
            <a:off x="8613720" y="361404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2" name="Vector_MaskedGrid_2_1"/>
          <p:cNvSpPr/>
          <p:nvPr/>
        </p:nvSpPr>
        <p:spPr>
          <a:xfrm>
            <a:off x="8911800" y="361404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3" name="Vector_MaskedGrid_2_2"/>
          <p:cNvSpPr/>
          <p:nvPr/>
        </p:nvSpPr>
        <p:spPr>
          <a:xfrm>
            <a:off x="9210240" y="361404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4" name="Vector_MaskedGrid_2_3"/>
          <p:cNvSpPr/>
          <p:nvPr/>
        </p:nvSpPr>
        <p:spPr>
          <a:xfrm>
            <a:off x="9508680" y="361404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5" name="Vector_MaskedGrid_3_0"/>
          <p:cNvSpPr/>
          <p:nvPr/>
        </p:nvSpPr>
        <p:spPr>
          <a:xfrm>
            <a:off x="8613720" y="391248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6" name="Vector_MaskedGrid_3_1"/>
          <p:cNvSpPr/>
          <p:nvPr/>
        </p:nvSpPr>
        <p:spPr>
          <a:xfrm>
            <a:off x="8911800" y="391248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7" name="Vector_MaskedGrid_3_2"/>
          <p:cNvSpPr/>
          <p:nvPr/>
        </p:nvSpPr>
        <p:spPr>
          <a:xfrm>
            <a:off x="9210240" y="3912480"/>
            <a:ext cx="247320" cy="24732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8" name="Vector_MaskedGrid_3_3"/>
          <p:cNvSpPr/>
          <p:nvPr/>
        </p:nvSpPr>
        <p:spPr>
          <a:xfrm>
            <a:off x="9508680" y="3912480"/>
            <a:ext cx="247320" cy="24732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19" name="Vector_ReconstructionGrid_0_0"/>
          <p:cNvSpPr/>
          <p:nvPr/>
        </p:nvSpPr>
        <p:spPr>
          <a:xfrm>
            <a:off x="10378440" y="301752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0" name="Vector_ReconstructionGrid_0_1"/>
          <p:cNvSpPr/>
          <p:nvPr/>
        </p:nvSpPr>
        <p:spPr>
          <a:xfrm>
            <a:off x="10676880" y="301752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1" name="Vector_ReconstructionGrid_0_2"/>
          <p:cNvSpPr/>
          <p:nvPr/>
        </p:nvSpPr>
        <p:spPr>
          <a:xfrm>
            <a:off x="10974960" y="301752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2" name="Vector_ReconstructionGrid_0_3"/>
          <p:cNvSpPr/>
          <p:nvPr/>
        </p:nvSpPr>
        <p:spPr>
          <a:xfrm>
            <a:off x="11273400" y="301752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3" name="Vector_ReconstructionGrid_1_0"/>
          <p:cNvSpPr/>
          <p:nvPr/>
        </p:nvSpPr>
        <p:spPr>
          <a:xfrm>
            <a:off x="10378440" y="331596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4" name="Vector_ReconstructionGrid_1_1"/>
          <p:cNvSpPr/>
          <p:nvPr/>
        </p:nvSpPr>
        <p:spPr>
          <a:xfrm>
            <a:off x="10676880" y="331596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5" name="Vector_ReconstructionGrid_1_2"/>
          <p:cNvSpPr/>
          <p:nvPr/>
        </p:nvSpPr>
        <p:spPr>
          <a:xfrm>
            <a:off x="10974960" y="331596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6" name="Vector_ReconstructionGrid_1_3"/>
          <p:cNvSpPr/>
          <p:nvPr/>
        </p:nvSpPr>
        <p:spPr>
          <a:xfrm>
            <a:off x="11273400" y="331596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7" name="Vector_ReconstructionGrid_2_0"/>
          <p:cNvSpPr/>
          <p:nvPr/>
        </p:nvSpPr>
        <p:spPr>
          <a:xfrm>
            <a:off x="10378440" y="361404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8" name="Vector_ReconstructionGrid_2_1"/>
          <p:cNvSpPr/>
          <p:nvPr/>
        </p:nvSpPr>
        <p:spPr>
          <a:xfrm>
            <a:off x="10676880" y="361404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29" name="Vector_ReconstructionGrid_2_2"/>
          <p:cNvSpPr/>
          <p:nvPr/>
        </p:nvSpPr>
        <p:spPr>
          <a:xfrm>
            <a:off x="10974960" y="361404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30" name="Vector_ReconstructionGrid_2_3"/>
          <p:cNvSpPr/>
          <p:nvPr/>
        </p:nvSpPr>
        <p:spPr>
          <a:xfrm>
            <a:off x="11273400" y="361404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31" name="Vector_ReconstructionGrid_3_0"/>
          <p:cNvSpPr/>
          <p:nvPr/>
        </p:nvSpPr>
        <p:spPr>
          <a:xfrm>
            <a:off x="10378440" y="391248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32" name="Vector_ReconstructionGrid_3_1"/>
          <p:cNvSpPr/>
          <p:nvPr/>
        </p:nvSpPr>
        <p:spPr>
          <a:xfrm>
            <a:off x="10676880" y="391248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33" name="Vector_ReconstructionGrid_3_2"/>
          <p:cNvSpPr/>
          <p:nvPr/>
        </p:nvSpPr>
        <p:spPr>
          <a:xfrm>
            <a:off x="10974960" y="391248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34" name="Vector_ReconstructionGrid_3_3"/>
          <p:cNvSpPr/>
          <p:nvPr/>
        </p:nvSpPr>
        <p:spPr>
          <a:xfrm>
            <a:off x="11273400" y="3912480"/>
            <a:ext cx="247320" cy="24732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cxnSp>
        <p:nvCxnSpPr>
          <p:cNvPr id="135" name="Vector_Arrow1"/>
          <p:cNvCxnSpPr/>
          <p:nvPr/>
        </p:nvCxnSpPr>
        <p:spPr>
          <a:xfrm>
            <a:off x="8064720" y="3593520"/>
            <a:ext cx="439920" cy="720"/>
          </a:xfrm>
          <a:prstGeom prst="straightConnector1">
            <a:avLst/>
          </a:prstGeom>
          <a:ln w="25400">
            <a:solidFill>
              <a:srgbClr val="0093dd"/>
            </a:solidFill>
            <a:round/>
          </a:ln>
        </p:spPr>
      </p:cxnSp>
      <p:cxnSp>
        <p:nvCxnSpPr>
          <p:cNvPr id="136" name="Vector_Arrow2"/>
          <p:cNvCxnSpPr/>
          <p:nvPr/>
        </p:nvCxnSpPr>
        <p:spPr>
          <a:xfrm>
            <a:off x="9857160" y="3593520"/>
            <a:ext cx="412200" cy="720"/>
          </a:xfrm>
          <a:prstGeom prst="straightConnector1">
            <a:avLst/>
          </a:prstGeom>
          <a:ln w="25400">
            <a:solidFill>
              <a:srgbClr val="0093dd"/>
            </a:solidFill>
            <a:round/>
          </a:ln>
        </p:spPr>
      </p:cxnSp>
      <p:sp>
        <p:nvSpPr>
          <p:cNvPr id="137" name="Vector_ImageCaption1"/>
          <p:cNvSpPr/>
          <p:nvPr/>
        </p:nvSpPr>
        <p:spPr>
          <a:xfrm>
            <a:off x="6473880" y="4468320"/>
            <a:ext cx="178236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300" spc="-1" strike="noStrike">
                <a:solidFill>
                  <a:srgbClr val="1c2a39"/>
                </a:solidFill>
                <a:latin typeface="Aptos"/>
              </a:rPr>
              <a:t>Grade de patches</a:t>
            </a:r>
            <a:endParaRPr b="0" lang="pt-BR" sz="1300" spc="-1" strike="noStrike">
              <a:solidFill>
                <a:srgbClr val="000000"/>
              </a:solidFill>
              <a:latin typeface="Arial"/>
            </a:endParaRPr>
          </a:p>
        </p:txBody>
      </p:sp>
      <p:sp>
        <p:nvSpPr>
          <p:cNvPr id="138" name="Vector_ImageCaption2"/>
          <p:cNvSpPr/>
          <p:nvPr/>
        </p:nvSpPr>
        <p:spPr>
          <a:xfrm>
            <a:off x="8275320" y="4468320"/>
            <a:ext cx="180972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300" spc="-1" strike="noStrike">
                <a:solidFill>
                  <a:srgbClr val="1c2a39"/>
                </a:solidFill>
                <a:latin typeface="Aptos"/>
              </a:rPr>
              <a:t>75% ocultos (exemplo)</a:t>
            </a:r>
            <a:endParaRPr b="0" lang="pt-BR" sz="1300" spc="-1" strike="noStrike">
              <a:solidFill>
                <a:srgbClr val="000000"/>
              </a:solidFill>
              <a:latin typeface="Arial"/>
            </a:endParaRPr>
          </a:p>
        </p:txBody>
      </p:sp>
      <p:sp>
        <p:nvSpPr>
          <p:cNvPr id="139" name="Vector_ImageCaption3"/>
          <p:cNvSpPr/>
          <p:nvPr/>
        </p:nvSpPr>
        <p:spPr>
          <a:xfrm>
            <a:off x="10131480" y="4369320"/>
            <a:ext cx="1690920" cy="423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300" spc="-1" strike="noStrike">
                <a:solidFill>
                  <a:srgbClr val="1c2a39"/>
                </a:solidFill>
                <a:latin typeface="Aptos"/>
              </a:rPr>
              <a:t>Reconstrução estimada</a:t>
            </a:r>
            <a:endParaRPr b="0" lang="pt-BR" sz="1300" spc="-1" strike="noStrike">
              <a:solidFill>
                <a:srgbClr val="000000"/>
              </a:solidFill>
              <a:latin typeface="Arial"/>
            </a:endParaRPr>
          </a:p>
        </p:txBody>
      </p:sp>
      <p:sp>
        <p:nvSpPr>
          <p:cNvPr id="140" name="Vector_DiagramNote"/>
          <p:cNvSpPr/>
          <p:nvPr/>
        </p:nvSpPr>
        <p:spPr>
          <a:xfrm>
            <a:off x="1600200" y="6039720"/>
            <a:ext cx="9006120" cy="2095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i="1" lang="pt-BR" sz="1200" spc="-1" strike="noStrike">
                <a:solidFill>
                  <a:srgbClr val="5c6b7a"/>
                </a:solidFill>
                <a:latin typeface="Aptos"/>
              </a:rPr>
              <a:t>Esquemas vetoriais: elaboração própria.</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ubTitle"/>
          </p:nvPr>
        </p:nvSpPr>
        <p:spPr>
          <a:xfrm>
            <a:off x="1258560" y="1101240"/>
            <a:ext cx="9408600" cy="4155840"/>
          </a:xfrm>
          <a:prstGeom prst="rect">
            <a:avLst/>
          </a:prstGeom>
          <a:noFill/>
          <a:ln w="0">
            <a:noFill/>
          </a:ln>
        </p:spPr>
        <p:txBody>
          <a:bodyPr lIns="91440" rIns="91440" tIns="45720" bIns="45720" anchor="t">
            <a:normAutofit fontScale="75000" lnSpcReduction="20000"/>
          </a:bodyPr>
          <a:p>
            <a:pPr algn="ctr" defTabSz="914400">
              <a:lnSpc>
                <a:spcPct val="90000"/>
              </a:lnSpc>
              <a:spcBef>
                <a:spcPts val="1001"/>
              </a:spcBef>
              <a:tabLst>
                <a:tab algn="l" pos="0"/>
              </a:tabLst>
            </a:pPr>
            <a:r>
              <a:rPr b="1" lang="pt-BR" sz="2400" spc="-1" strike="noStrike">
                <a:solidFill>
                  <a:schemeClr val="dk1"/>
                </a:solidFill>
                <a:latin typeface="Aptos"/>
              </a:rPr>
              <a:t>Por que utilizar Masked Modeling?</a:t>
            </a:r>
            <a:endParaRPr b="0" lang="pt-BR" sz="2400" spc="-1" strike="noStrike">
              <a:solidFill>
                <a:srgbClr val="000000"/>
              </a:solidFill>
              <a:latin typeface="Arial"/>
            </a:endParaRPr>
          </a:p>
          <a:p>
            <a:pPr algn="ctr" defTabSz="914400">
              <a:lnSpc>
                <a:spcPct val="90000"/>
              </a:lnSpc>
              <a:spcBef>
                <a:spcPts val="1001"/>
              </a:spcBef>
              <a:tabLst>
                <a:tab algn="l" pos="0"/>
              </a:tabLst>
            </a:pPr>
            <a:r>
              <a:rPr b="0" lang="pt-BR" sz="2400" spc="-1" strike="noStrike">
                <a:solidFill>
                  <a:schemeClr val="dk1"/>
                </a:solidFill>
                <a:latin typeface="Aptos"/>
              </a:rPr>
              <a:t>O treinamento de modelos de Deep Learning geralmente depende de </a:t>
            </a:r>
            <a:r>
              <a:rPr b="1" lang="pt-BR" sz="2400" spc="-1" strike="noStrike">
                <a:solidFill>
                  <a:schemeClr val="dk1"/>
                </a:solidFill>
                <a:latin typeface="Aptos"/>
              </a:rPr>
              <a:t>grandes quantidades de dados rotulados</a:t>
            </a:r>
            <a:r>
              <a:rPr b="0" lang="pt-BR" sz="2400" spc="-1" strike="noStrike">
                <a:solidFill>
                  <a:schemeClr val="dk1"/>
                </a:solidFill>
                <a:latin typeface="Aptos"/>
              </a:rPr>
              <a:t>, cuja obtenção pode ser cara e demorada.</a:t>
            </a:r>
            <a:endParaRPr b="0" lang="pt-BR" sz="2400" spc="-1" strike="noStrike">
              <a:solidFill>
                <a:srgbClr val="000000"/>
              </a:solidFill>
              <a:latin typeface="Arial"/>
            </a:endParaRPr>
          </a:p>
          <a:p>
            <a:pPr algn="ctr" defTabSz="914400">
              <a:lnSpc>
                <a:spcPct val="90000"/>
              </a:lnSpc>
              <a:spcBef>
                <a:spcPts val="1001"/>
              </a:spcBef>
              <a:tabLst>
                <a:tab algn="l" pos="0"/>
              </a:tabLst>
            </a:pPr>
            <a:r>
              <a:rPr b="0" lang="pt-BR" sz="2400" spc="-1" strike="noStrike">
                <a:solidFill>
                  <a:schemeClr val="dk1"/>
                </a:solidFill>
                <a:latin typeface="Aptos"/>
              </a:rPr>
              <a:t>O Masked Modeling permite aproveitar </a:t>
            </a:r>
            <a:r>
              <a:rPr b="1" lang="pt-BR" sz="2400" spc="-1" strike="noStrike">
                <a:solidFill>
                  <a:schemeClr val="dk1"/>
                </a:solidFill>
                <a:latin typeface="Aptos"/>
              </a:rPr>
              <a:t>dados não rotulados</a:t>
            </a:r>
            <a:r>
              <a:rPr b="0" lang="pt-BR" sz="2400" spc="-1" strike="noStrike">
                <a:solidFill>
                  <a:schemeClr val="dk1"/>
                </a:solidFill>
                <a:latin typeface="Aptos"/>
              </a:rPr>
              <a:t>, criando automaticamente uma tarefa de aprendizado a partir do próprio dado.</a:t>
            </a: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r>
              <a:rPr b="1" lang="pt-BR" sz="2400" spc="-1" strike="noStrike">
                <a:solidFill>
                  <a:schemeClr val="dk1"/>
                </a:solidFill>
                <a:latin typeface="Aptos"/>
              </a:rPr>
              <a:t>Principais motivações</a:t>
            </a:r>
            <a:endParaRPr b="0" lang="pt-BR" sz="2400" spc="-1" strike="noStrike">
              <a:solidFill>
                <a:srgbClr val="000000"/>
              </a:solidFill>
              <a:latin typeface="Arial"/>
            </a:endParaRPr>
          </a:p>
          <a:p>
            <a:pPr defTabSz="914400">
              <a:lnSpc>
                <a:spcPct val="90000"/>
              </a:lnSpc>
              <a:spcBef>
                <a:spcPts val="1001"/>
              </a:spcBef>
              <a:tabLst>
                <a:tab algn="l" pos="0"/>
              </a:tabLst>
            </a:pPr>
            <a:r>
              <a:rPr b="1" lang="pt-BR" sz="2400" spc="-1" strike="noStrike">
                <a:solidFill>
                  <a:schemeClr val="dk1"/>
                </a:solidFill>
                <a:latin typeface="Aptos"/>
              </a:rPr>
              <a:t>Reduzir a dependência de dados rotulados</a:t>
            </a:r>
            <a:r>
              <a:rPr b="0" lang="pt-BR" sz="2400" spc="-1" strike="noStrike">
                <a:solidFill>
                  <a:schemeClr val="dk1"/>
                </a:solidFill>
                <a:latin typeface="Aptos"/>
              </a:rPr>
              <a:t>; </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Aproveitar grandes volumes de </a:t>
            </a:r>
            <a:r>
              <a:rPr b="1" lang="pt-BR" sz="2400" spc="-1" strike="noStrike">
                <a:solidFill>
                  <a:schemeClr val="dk1"/>
                </a:solidFill>
                <a:latin typeface="Aptos"/>
              </a:rPr>
              <a:t>dados não rotulados</a:t>
            </a:r>
            <a:r>
              <a:rPr b="0" lang="pt-BR" sz="2400" spc="-1" strike="noStrike">
                <a:solidFill>
                  <a:schemeClr val="dk1"/>
                </a:solidFill>
                <a:latin typeface="Aptos"/>
              </a:rPr>
              <a:t>; </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Aprender </a:t>
            </a:r>
            <a:r>
              <a:rPr b="1" lang="pt-BR" sz="2400" spc="-1" strike="noStrike">
                <a:solidFill>
                  <a:schemeClr val="dk1"/>
                </a:solidFill>
                <a:latin typeface="Aptos"/>
              </a:rPr>
              <a:t>representações relevantes</a:t>
            </a:r>
            <a:r>
              <a:rPr b="0" lang="pt-BR" sz="2400" spc="-1" strike="noStrike">
                <a:solidFill>
                  <a:schemeClr val="dk1"/>
                </a:solidFill>
                <a:latin typeface="Aptos"/>
              </a:rPr>
              <a:t> dos dados; </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Explorar o </a:t>
            </a:r>
            <a:r>
              <a:rPr b="1" lang="pt-BR" sz="2400" spc="-1" strike="noStrike">
                <a:solidFill>
                  <a:schemeClr val="dk1"/>
                </a:solidFill>
                <a:latin typeface="Aptos"/>
              </a:rPr>
              <a:t>contexto e as relações</a:t>
            </a:r>
            <a:r>
              <a:rPr b="0" lang="pt-BR" sz="2400" spc="-1" strike="noStrike">
                <a:solidFill>
                  <a:schemeClr val="dk1"/>
                </a:solidFill>
                <a:latin typeface="Aptos"/>
              </a:rPr>
              <a:t> entre diferentes partes da entrada; </a:t>
            </a:r>
            <a:endParaRPr b="0" lang="pt-BR" sz="2400" spc="-1" strike="noStrike">
              <a:solidFill>
                <a:srgbClr val="000000"/>
              </a:solidFill>
              <a:latin typeface="Arial"/>
            </a:endParaRPr>
          </a:p>
          <a:p>
            <a:pPr defTabSz="914400">
              <a:lnSpc>
                <a:spcPct val="90000"/>
              </a:lnSpc>
              <a:spcBef>
                <a:spcPts val="1001"/>
              </a:spcBef>
              <a:tabLst>
                <a:tab algn="l" pos="0"/>
              </a:tabLst>
            </a:pPr>
            <a:r>
              <a:rPr b="0" lang="pt-BR" sz="2400" spc="-1" strike="noStrike">
                <a:solidFill>
                  <a:schemeClr val="dk1"/>
                </a:solidFill>
                <a:latin typeface="Aptos"/>
              </a:rPr>
              <a:t>Permitir o </a:t>
            </a:r>
            <a:r>
              <a:rPr b="1" lang="pt-BR" sz="2400" spc="-1" strike="noStrike">
                <a:solidFill>
                  <a:schemeClr val="dk1"/>
                </a:solidFill>
                <a:latin typeface="Aptos"/>
              </a:rPr>
              <a:t>pré-treinamento</a:t>
            </a:r>
            <a:r>
              <a:rPr b="0" lang="pt-BR" sz="2400" spc="-1" strike="noStrike">
                <a:solidFill>
                  <a:schemeClr val="dk1"/>
                </a:solidFill>
                <a:latin typeface="Aptos"/>
              </a:rPr>
              <a:t> de modelos que posteriormente podem ser adaptados para outras tarefas.</a:t>
            </a: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p:txBody>
      </p:sp>
      <p:sp>
        <p:nvSpPr>
          <p:cNvPr id="142" name="Rectangle 3"/>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143" name="Rectangle 4"/>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(DEVLIN et al., 2019; HE et al., 2022)</a:t>
            </a:r>
            <a:endParaRPr b="0" lang="pt-BR" sz="850" spc="-1" strike="noStrike">
              <a:solidFill>
                <a:srgbClr val="ffffff"/>
              </a:solidFill>
              <a:latin typeface="Arial"/>
            </a:endParaRPr>
          </a:p>
        </p:txBody>
      </p:sp>
      <p:sp>
        <p:nvSpPr>
          <p:cNvPr id="144" name="TextBox 5"/>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04</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ubTitle"/>
          </p:nvPr>
        </p:nvSpPr>
        <p:spPr>
          <a:xfrm>
            <a:off x="1258560" y="1101240"/>
            <a:ext cx="9408600" cy="41558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a:p>
            <a:pPr algn="ctr" defTabSz="914400">
              <a:lnSpc>
                <a:spcPct val="90000"/>
              </a:lnSpc>
              <a:spcBef>
                <a:spcPts val="1001"/>
              </a:spcBef>
              <a:tabLst>
                <a:tab algn="l" pos="0"/>
              </a:tabLst>
            </a:pPr>
            <a:r>
              <a:rPr b="1" lang="pt-BR" sz="2400" spc="-1" strike="noStrike">
                <a:solidFill>
                  <a:schemeClr val="dk1"/>
                </a:solidFill>
                <a:latin typeface="Aptos"/>
              </a:rPr>
              <a:t>Ideia-chave</a:t>
            </a:r>
            <a:endParaRPr b="0" lang="pt-BR" sz="2400" spc="-1" strike="noStrike">
              <a:solidFill>
                <a:srgbClr val="000000"/>
              </a:solidFill>
              <a:latin typeface="Arial"/>
            </a:endParaRPr>
          </a:p>
          <a:p>
            <a:pPr algn="ctr" defTabSz="914400">
              <a:lnSpc>
                <a:spcPct val="90000"/>
              </a:lnSpc>
              <a:spcBef>
                <a:spcPts val="1001"/>
              </a:spcBef>
              <a:tabLst>
                <a:tab algn="l" pos="0"/>
              </a:tabLst>
            </a:pPr>
            <a:r>
              <a:rPr b="1" lang="pt-BR" sz="2400" spc="-1" strike="noStrike">
                <a:solidFill>
                  <a:schemeClr val="dk1"/>
                </a:solidFill>
                <a:latin typeface="Aptos"/>
              </a:rPr>
              <a:t>O próprio dado fornece a supervisão:</a:t>
            </a:r>
            <a:r>
              <a:rPr b="0" lang="pt-BR" sz="2400" spc="-1" strike="noStrike">
                <a:solidFill>
                  <a:schemeClr val="dk1"/>
                </a:solidFill>
                <a:latin typeface="Aptos"/>
              </a:rPr>
              <a:t> uma parte é ocultada e a parte original funciona como referência para verificar o que o modelo conseguiu prever ou reconstruir.</a:t>
            </a:r>
            <a:endParaRPr b="0" lang="pt-BR" sz="2400" spc="-1" strike="noStrike">
              <a:solidFill>
                <a:srgbClr val="000000"/>
              </a:solidFill>
              <a:latin typeface="Arial"/>
            </a:endParaRPr>
          </a:p>
          <a:p>
            <a:pPr algn="ctr" defTabSz="914400">
              <a:lnSpc>
                <a:spcPct val="90000"/>
              </a:lnSpc>
              <a:spcBef>
                <a:spcPts val="1001"/>
              </a:spcBef>
              <a:tabLst>
                <a:tab algn="l" pos="0"/>
              </a:tabLst>
            </a:pPr>
            <a:endParaRPr b="0" lang="pt-BR" sz="2400" spc="-1" strike="noStrike">
              <a:solidFill>
                <a:srgbClr val="000000"/>
              </a:solidFill>
              <a:latin typeface="Arial"/>
            </a:endParaRPr>
          </a:p>
        </p:txBody>
      </p:sp>
      <p:sp>
        <p:nvSpPr>
          <p:cNvPr id="146" name="Rectangle 3"/>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147" name="Rectangle 4"/>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(DEVLIN et al., 2019; HE et al., 2022)</a:t>
            </a:r>
            <a:endParaRPr b="0" lang="pt-BR" sz="850" spc="-1" strike="noStrike">
              <a:solidFill>
                <a:srgbClr val="ffffff"/>
              </a:solidFill>
              <a:latin typeface="Arial"/>
            </a:endParaRPr>
          </a:p>
        </p:txBody>
      </p:sp>
      <p:sp>
        <p:nvSpPr>
          <p:cNvPr id="148" name="TextBox 5"/>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05</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Rectangle 4"/>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150" name="Rectangle 5"/>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(DEVLIN et al., 2019; DOSOVITSKIY et al., 2021; BAO et al., 2022; HE et al., 2022)</a:t>
            </a:r>
            <a:endParaRPr b="0" lang="pt-BR" sz="850" spc="-1" strike="noStrike">
              <a:solidFill>
                <a:srgbClr val="ffffff"/>
              </a:solidFill>
              <a:latin typeface="Arial"/>
            </a:endParaRPr>
          </a:p>
        </p:txBody>
      </p:sp>
      <p:sp>
        <p:nvSpPr>
          <p:cNvPr id="151" name="TextBox 6"/>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06</a:t>
            </a:r>
            <a:endParaRPr b="0" lang="pt-BR" sz="800" spc="-1" strike="noStrike">
              <a:solidFill>
                <a:srgbClr val="000000"/>
              </a:solidFill>
              <a:latin typeface="Arial"/>
            </a:endParaRPr>
          </a:p>
        </p:txBody>
      </p:sp>
      <p:sp>
        <p:nvSpPr>
          <p:cNvPr id="152" name="Vector_Section"/>
          <p:cNvSpPr/>
          <p:nvPr/>
        </p:nvSpPr>
        <p:spPr>
          <a:xfrm>
            <a:off x="567000" y="615600"/>
            <a:ext cx="11063520" cy="19440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100" spc="-1" strike="noStrike">
                <a:solidFill>
                  <a:srgbClr val="0093dd"/>
                </a:solidFill>
                <a:latin typeface="Aptos"/>
              </a:rPr>
              <a:t>LINHA DO TEMPO</a:t>
            </a:r>
            <a:endParaRPr b="0" lang="pt-BR" sz="1100" spc="-1" strike="noStrike">
              <a:solidFill>
                <a:srgbClr val="000000"/>
              </a:solidFill>
              <a:latin typeface="Arial"/>
            </a:endParaRPr>
          </a:p>
        </p:txBody>
      </p:sp>
      <p:sp>
        <p:nvSpPr>
          <p:cNvPr id="153" name="Vector_Headline"/>
          <p:cNvSpPr/>
          <p:nvPr/>
        </p:nvSpPr>
        <p:spPr>
          <a:xfrm>
            <a:off x="567000" y="888840"/>
            <a:ext cx="11063520" cy="4075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2500" spc="-1" strike="noStrike">
                <a:solidFill>
                  <a:srgbClr val="0d1f3a"/>
                </a:solidFill>
                <a:latin typeface="Aptos"/>
              </a:rPr>
              <a:t>Do mascaramento de texto às tarefas visuais</a:t>
            </a:r>
            <a:endParaRPr b="0" lang="pt-BR" sz="2500" spc="-1" strike="noStrike">
              <a:solidFill>
                <a:srgbClr val="000000"/>
              </a:solidFill>
              <a:latin typeface="Arial"/>
            </a:endParaRPr>
          </a:p>
        </p:txBody>
      </p:sp>
      <p:sp>
        <p:nvSpPr>
          <p:cNvPr id="154" name="Vector_Subheadline"/>
          <p:cNvSpPr/>
          <p:nvPr/>
        </p:nvSpPr>
        <p:spPr>
          <a:xfrm>
            <a:off x="594360" y="1415880"/>
            <a:ext cx="10972080" cy="2401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0" lang="pt-BR" sz="1400" spc="-1" strike="noStrike">
                <a:solidFill>
                  <a:srgbClr val="5c6b7a"/>
                </a:solidFill>
                <a:latin typeface="Aptos"/>
              </a:rPr>
              <a:t>Os trabalhos adaptam a ideia de prever conteúdo oculto; ViT fornece uma arquitetura visual relacionada.</a:t>
            </a:r>
            <a:endParaRPr b="0" lang="pt-BR" sz="1400" spc="-1" strike="noStrike">
              <a:solidFill>
                <a:srgbClr val="000000"/>
              </a:solidFill>
              <a:latin typeface="Arial"/>
            </a:endParaRPr>
          </a:p>
        </p:txBody>
      </p:sp>
      <p:cxnSp>
        <p:nvCxnSpPr>
          <p:cNvPr id="155" name="Vector_Timeline"/>
          <p:cNvCxnSpPr/>
          <p:nvPr/>
        </p:nvCxnSpPr>
        <p:spPr>
          <a:xfrm>
            <a:off x="1170360" y="2880360"/>
            <a:ext cx="9803160" cy="720"/>
          </a:xfrm>
          <a:prstGeom prst="straightConnector1">
            <a:avLst/>
          </a:prstGeom>
          <a:ln w="25400">
            <a:solidFill>
              <a:srgbClr val="bcd0de"/>
            </a:solidFill>
            <a:round/>
          </a:ln>
        </p:spPr>
      </p:cxnSp>
      <p:sp>
        <p:nvSpPr>
          <p:cNvPr id="156" name="Vector_TimelineCard0"/>
          <p:cNvSpPr/>
          <p:nvPr/>
        </p:nvSpPr>
        <p:spPr>
          <a:xfrm>
            <a:off x="567000" y="2030040"/>
            <a:ext cx="2413440" cy="312660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57" name="Vector_TimelineDot0"/>
          <p:cNvSpPr/>
          <p:nvPr/>
        </p:nvSpPr>
        <p:spPr>
          <a:xfrm>
            <a:off x="1499760" y="2578680"/>
            <a:ext cx="474840" cy="474840"/>
          </a:xfrm>
          <a:prstGeom prst="ellipse">
            <a:avLst/>
          </a:prstGeom>
          <a:solidFill>
            <a:srgbClr val="0093dd"/>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58" name="Vector_TimelineYear0"/>
          <p:cNvSpPr/>
          <p:nvPr/>
        </p:nvSpPr>
        <p:spPr>
          <a:xfrm>
            <a:off x="694800" y="2225160"/>
            <a:ext cx="2157120" cy="2401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0093dd"/>
                </a:solidFill>
                <a:latin typeface="Aptos"/>
              </a:rPr>
              <a:t>2019</a:t>
            </a:r>
            <a:endParaRPr b="0" lang="pt-BR" sz="1400" spc="-1" strike="noStrike">
              <a:solidFill>
                <a:srgbClr val="000000"/>
              </a:solidFill>
              <a:latin typeface="Arial"/>
            </a:endParaRPr>
          </a:p>
        </p:txBody>
      </p:sp>
      <p:sp>
        <p:nvSpPr>
          <p:cNvPr id="159" name="Vector_TimelineName0"/>
          <p:cNvSpPr/>
          <p:nvPr/>
        </p:nvSpPr>
        <p:spPr>
          <a:xfrm>
            <a:off x="694800" y="3205080"/>
            <a:ext cx="2157120" cy="34668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2100" spc="-1" strike="noStrike">
                <a:solidFill>
                  <a:srgbClr val="0d1f3a"/>
                </a:solidFill>
                <a:latin typeface="Aptos"/>
              </a:rPr>
              <a:t>BERT</a:t>
            </a:r>
            <a:endParaRPr b="0" lang="pt-BR" sz="2100" spc="-1" strike="noStrike">
              <a:solidFill>
                <a:srgbClr val="000000"/>
              </a:solidFill>
              <a:latin typeface="Arial"/>
            </a:endParaRPr>
          </a:p>
        </p:txBody>
      </p:sp>
      <p:sp>
        <p:nvSpPr>
          <p:cNvPr id="160" name="Vector_TimelineLabel0"/>
          <p:cNvSpPr/>
          <p:nvPr/>
        </p:nvSpPr>
        <p:spPr>
          <a:xfrm>
            <a:off x="731520" y="3692520"/>
            <a:ext cx="2084040" cy="2401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1c2a39"/>
                </a:solidFill>
                <a:latin typeface="Aptos"/>
              </a:rPr>
              <a:t>Texto mascarado</a:t>
            </a:r>
            <a:endParaRPr b="0" lang="pt-BR" sz="1400" spc="-1" strike="noStrike">
              <a:solidFill>
                <a:srgbClr val="000000"/>
              </a:solidFill>
              <a:latin typeface="Arial"/>
            </a:endParaRPr>
          </a:p>
        </p:txBody>
      </p:sp>
      <p:sp>
        <p:nvSpPr>
          <p:cNvPr id="161" name="Vector_TimelineDesc0"/>
          <p:cNvSpPr/>
          <p:nvPr/>
        </p:nvSpPr>
        <p:spPr>
          <a:xfrm>
            <a:off x="731520" y="4302360"/>
            <a:ext cx="2084040" cy="392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200" spc="-1" strike="noStrike">
                <a:solidFill>
                  <a:srgbClr val="5c6b7a"/>
                </a:solidFill>
                <a:latin typeface="Aptos"/>
              </a:rPr>
              <a:t>Prevê tokens usando o contexto bidirecional.</a:t>
            </a:r>
            <a:endParaRPr b="0" lang="pt-BR" sz="1200" spc="-1" strike="noStrike">
              <a:solidFill>
                <a:srgbClr val="000000"/>
              </a:solidFill>
              <a:latin typeface="Arial"/>
            </a:endParaRPr>
          </a:p>
        </p:txBody>
      </p:sp>
      <p:sp>
        <p:nvSpPr>
          <p:cNvPr id="162" name="Vector_TimelineCard1"/>
          <p:cNvSpPr/>
          <p:nvPr/>
        </p:nvSpPr>
        <p:spPr>
          <a:xfrm>
            <a:off x="3456360" y="2030040"/>
            <a:ext cx="2413440" cy="312660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63" name="Vector_TimelineDot1"/>
          <p:cNvSpPr/>
          <p:nvPr/>
        </p:nvSpPr>
        <p:spPr>
          <a:xfrm>
            <a:off x="4389120" y="2578680"/>
            <a:ext cx="474840" cy="474840"/>
          </a:xfrm>
          <a:prstGeom prst="ellipse">
            <a:avLst/>
          </a:prstGeom>
          <a:solidFill>
            <a:srgbClr val="2b9d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64" name="Vector_TimelineYear1"/>
          <p:cNvSpPr/>
          <p:nvPr/>
        </p:nvSpPr>
        <p:spPr>
          <a:xfrm>
            <a:off x="3584520" y="2225160"/>
            <a:ext cx="2157120" cy="2401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2b9d8f"/>
                </a:solidFill>
                <a:latin typeface="Aptos"/>
              </a:rPr>
              <a:t>2021</a:t>
            </a:r>
            <a:endParaRPr b="0" lang="pt-BR" sz="1400" spc="-1" strike="noStrike">
              <a:solidFill>
                <a:srgbClr val="000000"/>
              </a:solidFill>
              <a:latin typeface="Arial"/>
            </a:endParaRPr>
          </a:p>
        </p:txBody>
      </p:sp>
      <p:sp>
        <p:nvSpPr>
          <p:cNvPr id="165" name="Vector_TimelineName1"/>
          <p:cNvSpPr/>
          <p:nvPr/>
        </p:nvSpPr>
        <p:spPr>
          <a:xfrm>
            <a:off x="3584520" y="3205080"/>
            <a:ext cx="2157120" cy="34668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2100" spc="-1" strike="noStrike">
                <a:solidFill>
                  <a:srgbClr val="0d1f3a"/>
                </a:solidFill>
                <a:latin typeface="Aptos"/>
              </a:rPr>
              <a:t>ViT</a:t>
            </a:r>
            <a:endParaRPr b="0" lang="pt-BR" sz="2100" spc="-1" strike="noStrike">
              <a:solidFill>
                <a:srgbClr val="000000"/>
              </a:solidFill>
              <a:latin typeface="Arial"/>
            </a:endParaRPr>
          </a:p>
        </p:txBody>
      </p:sp>
      <p:sp>
        <p:nvSpPr>
          <p:cNvPr id="166" name="Vector_TimelineLabel1"/>
          <p:cNvSpPr/>
          <p:nvPr/>
        </p:nvSpPr>
        <p:spPr>
          <a:xfrm>
            <a:off x="3620880" y="3585960"/>
            <a:ext cx="2084040" cy="4536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1c2a39"/>
                </a:solidFill>
                <a:latin typeface="Aptos"/>
              </a:rPr>
              <a:t>Transformers para visão</a:t>
            </a:r>
            <a:endParaRPr b="0" lang="pt-BR" sz="1400" spc="-1" strike="noStrike">
              <a:solidFill>
                <a:srgbClr val="000000"/>
              </a:solidFill>
              <a:latin typeface="Arial"/>
            </a:endParaRPr>
          </a:p>
        </p:txBody>
      </p:sp>
      <p:sp>
        <p:nvSpPr>
          <p:cNvPr id="167" name="Vector_TimelineDesc1"/>
          <p:cNvSpPr/>
          <p:nvPr/>
        </p:nvSpPr>
        <p:spPr>
          <a:xfrm>
            <a:off x="3620880" y="4302360"/>
            <a:ext cx="2084040" cy="392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200" spc="-1" strike="noStrike">
                <a:solidFill>
                  <a:srgbClr val="5c6b7a"/>
                </a:solidFill>
                <a:latin typeface="Aptos"/>
              </a:rPr>
              <a:t>Representa a imagem como sequência de patches.</a:t>
            </a:r>
            <a:endParaRPr b="0" lang="pt-BR" sz="1200" spc="-1" strike="noStrike">
              <a:solidFill>
                <a:srgbClr val="000000"/>
              </a:solidFill>
              <a:latin typeface="Arial"/>
            </a:endParaRPr>
          </a:p>
        </p:txBody>
      </p:sp>
      <p:sp>
        <p:nvSpPr>
          <p:cNvPr id="168" name="Vector_TimelineCard2"/>
          <p:cNvSpPr/>
          <p:nvPr/>
        </p:nvSpPr>
        <p:spPr>
          <a:xfrm>
            <a:off x="6346080" y="2030040"/>
            <a:ext cx="2413440" cy="312660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69" name="Vector_TimelineDot2"/>
          <p:cNvSpPr/>
          <p:nvPr/>
        </p:nvSpPr>
        <p:spPr>
          <a:xfrm>
            <a:off x="7278480" y="2578680"/>
            <a:ext cx="474840" cy="474840"/>
          </a:xfrm>
          <a:prstGeom prst="ellipse">
            <a:avLst/>
          </a:prstGeom>
          <a:solidFill>
            <a:srgbClr val="f0b64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70" name="Vector_TimelineYear2"/>
          <p:cNvSpPr/>
          <p:nvPr/>
        </p:nvSpPr>
        <p:spPr>
          <a:xfrm>
            <a:off x="6473880" y="2225160"/>
            <a:ext cx="2157120" cy="2401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f0b648"/>
                </a:solidFill>
                <a:latin typeface="Aptos"/>
              </a:rPr>
              <a:t>2022</a:t>
            </a:r>
            <a:endParaRPr b="0" lang="pt-BR" sz="1400" spc="-1" strike="noStrike">
              <a:solidFill>
                <a:srgbClr val="000000"/>
              </a:solidFill>
              <a:latin typeface="Arial"/>
            </a:endParaRPr>
          </a:p>
        </p:txBody>
      </p:sp>
      <p:sp>
        <p:nvSpPr>
          <p:cNvPr id="171" name="Vector_TimelineName2"/>
          <p:cNvSpPr/>
          <p:nvPr/>
        </p:nvSpPr>
        <p:spPr>
          <a:xfrm>
            <a:off x="6473880" y="3205080"/>
            <a:ext cx="2157120" cy="34668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2100" spc="-1" strike="noStrike">
                <a:solidFill>
                  <a:srgbClr val="0d1f3a"/>
                </a:solidFill>
                <a:latin typeface="Aptos"/>
              </a:rPr>
              <a:t>BEiT</a:t>
            </a:r>
            <a:endParaRPr b="0" lang="pt-BR" sz="2100" spc="-1" strike="noStrike">
              <a:solidFill>
                <a:srgbClr val="000000"/>
              </a:solidFill>
              <a:latin typeface="Arial"/>
            </a:endParaRPr>
          </a:p>
        </p:txBody>
      </p:sp>
      <p:sp>
        <p:nvSpPr>
          <p:cNvPr id="172" name="Vector_TimelineLabel2"/>
          <p:cNvSpPr/>
          <p:nvPr/>
        </p:nvSpPr>
        <p:spPr>
          <a:xfrm>
            <a:off x="6510600" y="3585960"/>
            <a:ext cx="2084040" cy="4536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1c2a39"/>
                </a:solidFill>
                <a:latin typeface="Aptos"/>
              </a:rPr>
              <a:t>Tokens visuais mascarados</a:t>
            </a:r>
            <a:endParaRPr b="0" lang="pt-BR" sz="1400" spc="-1" strike="noStrike">
              <a:solidFill>
                <a:srgbClr val="000000"/>
              </a:solidFill>
              <a:latin typeface="Arial"/>
            </a:endParaRPr>
          </a:p>
        </p:txBody>
      </p:sp>
      <p:sp>
        <p:nvSpPr>
          <p:cNvPr id="173" name="Vector_TimelineDesc2"/>
          <p:cNvSpPr/>
          <p:nvPr/>
        </p:nvSpPr>
        <p:spPr>
          <a:xfrm>
            <a:off x="6510600" y="4210920"/>
            <a:ext cx="2084040" cy="57528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200" spc="-1" strike="noStrike">
                <a:solidFill>
                  <a:srgbClr val="5c6b7a"/>
                </a:solidFill>
                <a:latin typeface="Aptos"/>
              </a:rPr>
              <a:t>Adapta o pré-treinamento por mascaramento a imagens.</a:t>
            </a:r>
            <a:endParaRPr b="0" lang="pt-BR" sz="1200" spc="-1" strike="noStrike">
              <a:solidFill>
                <a:srgbClr val="000000"/>
              </a:solidFill>
              <a:latin typeface="Arial"/>
            </a:endParaRPr>
          </a:p>
        </p:txBody>
      </p:sp>
      <p:sp>
        <p:nvSpPr>
          <p:cNvPr id="174" name="Vector_TimelineCard3"/>
          <p:cNvSpPr/>
          <p:nvPr/>
        </p:nvSpPr>
        <p:spPr>
          <a:xfrm>
            <a:off x="9235440" y="2030040"/>
            <a:ext cx="2413440" cy="312660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75" name="Vector_TimelineDot3"/>
          <p:cNvSpPr/>
          <p:nvPr/>
        </p:nvSpPr>
        <p:spPr>
          <a:xfrm>
            <a:off x="10168200" y="2578680"/>
            <a:ext cx="474840" cy="474840"/>
          </a:xfrm>
          <a:prstGeom prst="ellipse">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76" name="Vector_TimelineYear3"/>
          <p:cNvSpPr/>
          <p:nvPr/>
        </p:nvSpPr>
        <p:spPr>
          <a:xfrm>
            <a:off x="9363600" y="2225160"/>
            <a:ext cx="2157120" cy="24012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f27060"/>
                </a:solidFill>
                <a:latin typeface="Aptos"/>
              </a:rPr>
              <a:t>2022</a:t>
            </a:r>
            <a:endParaRPr b="0" lang="pt-BR" sz="1400" spc="-1" strike="noStrike">
              <a:solidFill>
                <a:srgbClr val="000000"/>
              </a:solidFill>
              <a:latin typeface="Arial"/>
            </a:endParaRPr>
          </a:p>
        </p:txBody>
      </p:sp>
      <p:sp>
        <p:nvSpPr>
          <p:cNvPr id="177" name="Vector_TimelineName3"/>
          <p:cNvSpPr/>
          <p:nvPr/>
        </p:nvSpPr>
        <p:spPr>
          <a:xfrm>
            <a:off x="9363600" y="3205080"/>
            <a:ext cx="2157120" cy="34668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2100" spc="-1" strike="noStrike">
                <a:solidFill>
                  <a:srgbClr val="0d1f3a"/>
                </a:solidFill>
                <a:latin typeface="Aptos"/>
              </a:rPr>
              <a:t>MAE</a:t>
            </a:r>
            <a:endParaRPr b="0" lang="pt-BR" sz="2100" spc="-1" strike="noStrike">
              <a:solidFill>
                <a:srgbClr val="000000"/>
              </a:solidFill>
              <a:latin typeface="Arial"/>
            </a:endParaRPr>
          </a:p>
        </p:txBody>
      </p:sp>
      <p:sp>
        <p:nvSpPr>
          <p:cNvPr id="178" name="Vector_TimelineLabel3"/>
          <p:cNvSpPr/>
          <p:nvPr/>
        </p:nvSpPr>
        <p:spPr>
          <a:xfrm>
            <a:off x="9399960" y="3585960"/>
            <a:ext cx="2084040" cy="4536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400" spc="-1" strike="noStrike">
                <a:solidFill>
                  <a:srgbClr val="1c2a39"/>
                </a:solidFill>
                <a:latin typeface="Aptos"/>
              </a:rPr>
              <a:t>Pixels de patches ocultos</a:t>
            </a:r>
            <a:endParaRPr b="0" lang="pt-BR" sz="1400" spc="-1" strike="noStrike">
              <a:solidFill>
                <a:srgbClr val="000000"/>
              </a:solidFill>
              <a:latin typeface="Arial"/>
            </a:endParaRPr>
          </a:p>
        </p:txBody>
      </p:sp>
      <p:sp>
        <p:nvSpPr>
          <p:cNvPr id="179" name="Vector_TimelineDesc3"/>
          <p:cNvSpPr/>
          <p:nvPr/>
        </p:nvSpPr>
        <p:spPr>
          <a:xfrm>
            <a:off x="9399960" y="4210920"/>
            <a:ext cx="2084040" cy="57528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200" spc="-1" strike="noStrike">
                <a:solidFill>
                  <a:srgbClr val="5c6b7a"/>
                </a:solidFill>
                <a:latin typeface="Aptos"/>
              </a:rPr>
              <a:t>Reconstrói patches mascarados com um decoder leve.</a:t>
            </a:r>
            <a:endParaRPr b="0" lang="pt-BR" sz="1200" spc="-1" strike="noStrike">
              <a:solidFill>
                <a:srgbClr val="000000"/>
              </a:solidFill>
              <a:latin typeface="Arial"/>
            </a:endParaRPr>
          </a:p>
        </p:txBody>
      </p:sp>
      <p:sp>
        <p:nvSpPr>
          <p:cNvPr id="180" name="Vector_TimelineTakeaway"/>
          <p:cNvSpPr/>
          <p:nvPr/>
        </p:nvSpPr>
        <p:spPr>
          <a:xfrm>
            <a:off x="822960" y="5550480"/>
            <a:ext cx="10560600" cy="2552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500" spc="-1" strike="noStrike">
                <a:solidFill>
                  <a:srgbClr val="0d1f3a"/>
                </a:solidFill>
                <a:latin typeface="Aptos"/>
              </a:rPr>
              <a:t>A tarefa varia entre prever tokens e reconstruir pixels; a representação também muda.</a:t>
            </a:r>
            <a:endParaRPr b="0" lang="pt-B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ubTitle"/>
          </p:nvPr>
        </p:nvSpPr>
        <p:spPr>
          <a:xfrm>
            <a:off x="747360" y="1101240"/>
            <a:ext cx="9920160" cy="470880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r>
              <a:rPr b="1" lang="pt-BR" sz="2400" spc="-1" strike="noStrike">
                <a:solidFill>
                  <a:schemeClr val="dk1"/>
                </a:solidFill>
                <a:latin typeface="Aptos"/>
              </a:rPr>
              <a:t>Masked Language Modeling – MLM - BERT</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pic>
        <p:nvPicPr>
          <p:cNvPr id="182" name="Imagem 4" descr=""/>
          <p:cNvPicPr/>
          <p:nvPr/>
        </p:nvPicPr>
        <p:blipFill>
          <a:blip r:embed="rId1"/>
          <a:stretch/>
        </p:blipFill>
        <p:spPr>
          <a:xfrm>
            <a:off x="2423520" y="1628280"/>
            <a:ext cx="7201440" cy="4677120"/>
          </a:xfrm>
          <a:prstGeom prst="rect">
            <a:avLst/>
          </a:prstGeom>
          <a:ln w="0">
            <a:noFill/>
          </a:ln>
        </p:spPr>
      </p:pic>
      <p:sp>
        <p:nvSpPr>
          <p:cNvPr id="183" name="Rectangle 5"/>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184"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(DEVLIN et al., 2019)</a:t>
            </a:r>
            <a:endParaRPr b="0" lang="pt-BR" sz="850" spc="-1" strike="noStrike">
              <a:solidFill>
                <a:srgbClr val="ffffff"/>
              </a:solidFill>
              <a:latin typeface="Arial"/>
            </a:endParaRPr>
          </a:p>
        </p:txBody>
      </p:sp>
      <p:sp>
        <p:nvSpPr>
          <p:cNvPr id="185" name="TextBox 7"/>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07</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ubTitle"/>
          </p:nvPr>
        </p:nvSpPr>
        <p:spPr>
          <a:xfrm>
            <a:off x="747360" y="1101240"/>
            <a:ext cx="9920160" cy="470880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r>
              <a:rPr b="1" lang="pt-BR" sz="2400" spc="-1" strike="noStrike">
                <a:solidFill>
                  <a:schemeClr val="dk1"/>
                </a:solidFill>
                <a:latin typeface="Aptos"/>
              </a:rPr>
              <a:t>Masked Image Modeling – MIM</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pic>
        <p:nvPicPr>
          <p:cNvPr id="187" name="Imagem 3" descr=""/>
          <p:cNvPicPr/>
          <p:nvPr/>
        </p:nvPicPr>
        <p:blipFill>
          <a:blip r:embed="rId1"/>
          <a:stretch/>
        </p:blipFill>
        <p:spPr>
          <a:xfrm>
            <a:off x="1325880" y="2108880"/>
            <a:ext cx="9262800" cy="3383640"/>
          </a:xfrm>
          <a:prstGeom prst="rect">
            <a:avLst/>
          </a:prstGeom>
          <a:ln w="0">
            <a:noFill/>
          </a:ln>
        </p:spPr>
      </p:pic>
      <p:sp>
        <p:nvSpPr>
          <p:cNvPr id="188" name="Rectangle 4"/>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189" name="Rectangle 5"/>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(BAO et al., 2022; HE et al., 2022)</a:t>
            </a:r>
            <a:endParaRPr b="0" lang="pt-BR" sz="850" spc="-1" strike="noStrike">
              <a:solidFill>
                <a:srgbClr val="ffffff"/>
              </a:solidFill>
              <a:latin typeface="Arial"/>
            </a:endParaRPr>
          </a:p>
        </p:txBody>
      </p:sp>
      <p:sp>
        <p:nvSpPr>
          <p:cNvPr id="190" name="TextBox 6"/>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08</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Rectangle 7"/>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192" name="Rectangle 8"/>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(HE et al., 2022)</a:t>
            </a:r>
            <a:endParaRPr b="0" lang="pt-BR" sz="850" spc="-1" strike="noStrike">
              <a:solidFill>
                <a:srgbClr val="ffffff"/>
              </a:solidFill>
              <a:latin typeface="Arial"/>
            </a:endParaRPr>
          </a:p>
        </p:txBody>
      </p:sp>
      <p:sp>
        <p:nvSpPr>
          <p:cNvPr id="193" name="TextBox 9"/>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09</a:t>
            </a:r>
            <a:endParaRPr b="0" lang="pt-BR" sz="800" spc="-1" strike="noStrike">
              <a:solidFill>
                <a:srgbClr val="000000"/>
              </a:solidFill>
              <a:latin typeface="Arial"/>
            </a:endParaRPr>
          </a:p>
        </p:txBody>
      </p:sp>
      <p:sp>
        <p:nvSpPr>
          <p:cNvPr id="194" name="Vector_Section"/>
          <p:cNvSpPr/>
          <p:nvPr/>
        </p:nvSpPr>
        <p:spPr>
          <a:xfrm>
            <a:off x="567000" y="615600"/>
            <a:ext cx="11063520" cy="19440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100" spc="-1" strike="noStrike">
                <a:solidFill>
                  <a:srgbClr val="0093dd"/>
                </a:solidFill>
                <a:latin typeface="Aptos"/>
              </a:rPr>
              <a:t>ARQUITETURA MAE</a:t>
            </a:r>
            <a:endParaRPr b="0" lang="pt-BR" sz="1100" spc="-1" strike="noStrike">
              <a:solidFill>
                <a:srgbClr val="000000"/>
              </a:solidFill>
              <a:latin typeface="Arial"/>
            </a:endParaRPr>
          </a:p>
        </p:txBody>
      </p:sp>
      <p:sp>
        <p:nvSpPr>
          <p:cNvPr id="195" name="Vector_Headline"/>
          <p:cNvSpPr/>
          <p:nvPr/>
        </p:nvSpPr>
        <p:spPr>
          <a:xfrm>
            <a:off x="567000" y="888840"/>
            <a:ext cx="11063520" cy="4075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2500" spc="-1" strike="noStrike">
                <a:solidFill>
                  <a:srgbClr val="0d1f3a"/>
                </a:solidFill>
                <a:latin typeface="Aptos"/>
              </a:rPr>
              <a:t>O encoder vê os patches visíveis; o decoder reconstrói os ocultos</a:t>
            </a:r>
            <a:endParaRPr b="0" lang="pt-BR" sz="2500" spc="-1" strike="noStrike">
              <a:solidFill>
                <a:srgbClr val="000000"/>
              </a:solidFill>
              <a:latin typeface="Arial"/>
            </a:endParaRPr>
          </a:p>
        </p:txBody>
      </p:sp>
      <p:sp>
        <p:nvSpPr>
          <p:cNvPr id="196" name="Vector_MAEcard0"/>
          <p:cNvSpPr/>
          <p:nvPr/>
        </p:nvSpPr>
        <p:spPr>
          <a:xfrm>
            <a:off x="502920" y="1874520"/>
            <a:ext cx="1937880" cy="287964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97" name="Vector_MAEnum0"/>
          <p:cNvSpPr/>
          <p:nvPr/>
        </p:nvSpPr>
        <p:spPr>
          <a:xfrm>
            <a:off x="621720" y="1993320"/>
            <a:ext cx="365040" cy="365040"/>
          </a:xfrm>
          <a:prstGeom prst="ellipse">
            <a:avLst/>
          </a:prstGeom>
          <a:solidFill>
            <a:srgbClr val="0093dd"/>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198" name="Vector_MAEnumtext0"/>
          <p:cNvSpPr/>
          <p:nvPr/>
        </p:nvSpPr>
        <p:spPr>
          <a:xfrm>
            <a:off x="621720" y="2063520"/>
            <a:ext cx="36504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300" spc="-1" strike="noStrike">
                <a:solidFill>
                  <a:srgbClr val="ffffff"/>
                </a:solidFill>
                <a:latin typeface="Aptos"/>
              </a:rPr>
              <a:t>1</a:t>
            </a:r>
            <a:endParaRPr b="0" lang="pt-BR" sz="1300" spc="-1" strike="noStrike">
              <a:solidFill>
                <a:srgbClr val="000000"/>
              </a:solidFill>
              <a:latin typeface="Arial"/>
            </a:endParaRPr>
          </a:p>
        </p:txBody>
      </p:sp>
      <p:sp>
        <p:nvSpPr>
          <p:cNvPr id="199" name="Vector_MAEstepTitle0"/>
          <p:cNvSpPr/>
          <p:nvPr/>
        </p:nvSpPr>
        <p:spPr>
          <a:xfrm>
            <a:off x="621720" y="2403720"/>
            <a:ext cx="1699920" cy="51408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d1f3a"/>
                </a:solidFill>
                <a:latin typeface="Aptos"/>
              </a:rPr>
              <a:t>Imagem em patches</a:t>
            </a:r>
            <a:endParaRPr b="0" lang="pt-BR" sz="1600" spc="-1" strike="noStrike">
              <a:solidFill>
                <a:srgbClr val="000000"/>
              </a:solidFill>
              <a:latin typeface="Arial"/>
            </a:endParaRPr>
          </a:p>
        </p:txBody>
      </p:sp>
      <p:sp>
        <p:nvSpPr>
          <p:cNvPr id="200" name="Vector_MAEinput_0_0"/>
          <p:cNvSpPr/>
          <p:nvPr/>
        </p:nvSpPr>
        <p:spPr>
          <a:xfrm>
            <a:off x="941760" y="299016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1" name="Vector_MAEinput_0_1"/>
          <p:cNvSpPr/>
          <p:nvPr/>
        </p:nvSpPr>
        <p:spPr>
          <a:xfrm>
            <a:off x="1219680" y="299016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2" name="Vector_MAEinput_0_2"/>
          <p:cNvSpPr/>
          <p:nvPr/>
        </p:nvSpPr>
        <p:spPr>
          <a:xfrm>
            <a:off x="1497240" y="299016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3" name="Vector_MAEinput_0_3"/>
          <p:cNvSpPr/>
          <p:nvPr/>
        </p:nvSpPr>
        <p:spPr>
          <a:xfrm>
            <a:off x="1775160" y="299016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4" name="Vector_MAEinput_1_0"/>
          <p:cNvSpPr/>
          <p:nvPr/>
        </p:nvSpPr>
        <p:spPr>
          <a:xfrm>
            <a:off x="941760" y="326772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5" name="Vector_MAEinput_1_1"/>
          <p:cNvSpPr/>
          <p:nvPr/>
        </p:nvSpPr>
        <p:spPr>
          <a:xfrm>
            <a:off x="1219680" y="326772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6" name="Vector_MAEinput_1_2"/>
          <p:cNvSpPr/>
          <p:nvPr/>
        </p:nvSpPr>
        <p:spPr>
          <a:xfrm>
            <a:off x="1497240" y="326772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7" name="Vector_MAEinput_1_3"/>
          <p:cNvSpPr/>
          <p:nvPr/>
        </p:nvSpPr>
        <p:spPr>
          <a:xfrm>
            <a:off x="1775160" y="326772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8" name="Vector_MAEinput_2_0"/>
          <p:cNvSpPr/>
          <p:nvPr/>
        </p:nvSpPr>
        <p:spPr>
          <a:xfrm>
            <a:off x="941760" y="354564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09" name="Vector_MAEinput_2_1"/>
          <p:cNvSpPr/>
          <p:nvPr/>
        </p:nvSpPr>
        <p:spPr>
          <a:xfrm>
            <a:off x="1219680" y="354564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0" name="Vector_MAEinput_2_2"/>
          <p:cNvSpPr/>
          <p:nvPr/>
        </p:nvSpPr>
        <p:spPr>
          <a:xfrm>
            <a:off x="1497240" y="354564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1" name="Vector_MAEinput_2_3"/>
          <p:cNvSpPr/>
          <p:nvPr/>
        </p:nvSpPr>
        <p:spPr>
          <a:xfrm>
            <a:off x="1775160" y="354564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2" name="Vector_MAEinput_3_0"/>
          <p:cNvSpPr/>
          <p:nvPr/>
        </p:nvSpPr>
        <p:spPr>
          <a:xfrm>
            <a:off x="941760" y="382320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3" name="Vector_MAEinput_3_1"/>
          <p:cNvSpPr/>
          <p:nvPr/>
        </p:nvSpPr>
        <p:spPr>
          <a:xfrm>
            <a:off x="1219680" y="382320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4" name="Vector_MAEinput_3_2"/>
          <p:cNvSpPr/>
          <p:nvPr/>
        </p:nvSpPr>
        <p:spPr>
          <a:xfrm>
            <a:off x="1497240" y="382320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5" name="Vector_MAEinput_3_3"/>
          <p:cNvSpPr/>
          <p:nvPr/>
        </p:nvSpPr>
        <p:spPr>
          <a:xfrm>
            <a:off x="1775160" y="382320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6" name="Vector_MAEcaption0"/>
          <p:cNvSpPr/>
          <p:nvPr/>
        </p:nvSpPr>
        <p:spPr>
          <a:xfrm>
            <a:off x="631080" y="4226040"/>
            <a:ext cx="1681920" cy="3621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100" spc="-1" strike="noStrike">
                <a:solidFill>
                  <a:srgbClr val="1c2a39"/>
                </a:solidFill>
                <a:latin typeface="Aptos"/>
              </a:rPr>
              <a:t>Entrada dividida em partes</a:t>
            </a:r>
            <a:endParaRPr b="0" lang="pt-BR" sz="1100" spc="-1" strike="noStrike">
              <a:solidFill>
                <a:srgbClr val="000000"/>
              </a:solidFill>
              <a:latin typeface="Arial"/>
            </a:endParaRPr>
          </a:p>
        </p:txBody>
      </p:sp>
      <p:cxnSp>
        <p:nvCxnSpPr>
          <p:cNvPr id="217" name="Vector_MAEarrow0"/>
          <p:cNvCxnSpPr/>
          <p:nvPr/>
        </p:nvCxnSpPr>
        <p:spPr>
          <a:xfrm>
            <a:off x="2477880" y="3429000"/>
            <a:ext cx="266040" cy="720"/>
          </a:xfrm>
          <a:prstGeom prst="straightConnector1">
            <a:avLst/>
          </a:prstGeom>
          <a:ln w="25400">
            <a:solidFill>
              <a:srgbClr val="0093dd"/>
            </a:solidFill>
            <a:round/>
          </a:ln>
        </p:spPr>
      </p:cxnSp>
      <p:sp>
        <p:nvSpPr>
          <p:cNvPr id="218" name="Vector_MAEcard1"/>
          <p:cNvSpPr/>
          <p:nvPr/>
        </p:nvSpPr>
        <p:spPr>
          <a:xfrm>
            <a:off x="2816280" y="1874520"/>
            <a:ext cx="1937880" cy="287964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19" name="Vector_MAEnum1"/>
          <p:cNvSpPr/>
          <p:nvPr/>
        </p:nvSpPr>
        <p:spPr>
          <a:xfrm>
            <a:off x="2935080" y="1993320"/>
            <a:ext cx="365040" cy="365040"/>
          </a:xfrm>
          <a:prstGeom prst="ellipse">
            <a:avLst/>
          </a:prstGeom>
          <a:solidFill>
            <a:srgbClr val="0093dd"/>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0" name="Vector_MAEnumtext1"/>
          <p:cNvSpPr/>
          <p:nvPr/>
        </p:nvSpPr>
        <p:spPr>
          <a:xfrm>
            <a:off x="2935080" y="2063520"/>
            <a:ext cx="36504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300" spc="-1" strike="noStrike">
                <a:solidFill>
                  <a:srgbClr val="ffffff"/>
                </a:solidFill>
                <a:latin typeface="Aptos"/>
              </a:rPr>
              <a:t>2</a:t>
            </a:r>
            <a:endParaRPr b="0" lang="pt-BR" sz="1300" spc="-1" strike="noStrike">
              <a:solidFill>
                <a:srgbClr val="000000"/>
              </a:solidFill>
              <a:latin typeface="Arial"/>
            </a:endParaRPr>
          </a:p>
        </p:txBody>
      </p:sp>
      <p:sp>
        <p:nvSpPr>
          <p:cNvPr id="221" name="Vector_MAEstepTitle1"/>
          <p:cNvSpPr/>
          <p:nvPr/>
        </p:nvSpPr>
        <p:spPr>
          <a:xfrm>
            <a:off x="2935080" y="2525400"/>
            <a:ext cx="169992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d1f3a"/>
                </a:solidFill>
                <a:latin typeface="Aptos"/>
              </a:rPr>
              <a:t>Mascarar</a:t>
            </a:r>
            <a:endParaRPr b="0" lang="pt-BR" sz="1600" spc="-1" strike="noStrike">
              <a:solidFill>
                <a:srgbClr val="000000"/>
              </a:solidFill>
              <a:latin typeface="Arial"/>
            </a:endParaRPr>
          </a:p>
        </p:txBody>
      </p:sp>
      <p:sp>
        <p:nvSpPr>
          <p:cNvPr id="222" name="Vector_MAEmasked_0_0"/>
          <p:cNvSpPr/>
          <p:nvPr/>
        </p:nvSpPr>
        <p:spPr>
          <a:xfrm>
            <a:off x="3255120" y="299016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3" name="Vector_MAEmasked_0_1"/>
          <p:cNvSpPr/>
          <p:nvPr/>
        </p:nvSpPr>
        <p:spPr>
          <a:xfrm>
            <a:off x="3533040" y="299016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4" name="Vector_MAEmasked_0_2"/>
          <p:cNvSpPr/>
          <p:nvPr/>
        </p:nvSpPr>
        <p:spPr>
          <a:xfrm>
            <a:off x="3810600" y="299016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5" name="Vector_MAEmasked_0_3"/>
          <p:cNvSpPr/>
          <p:nvPr/>
        </p:nvSpPr>
        <p:spPr>
          <a:xfrm>
            <a:off x="4088520" y="299016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6" name="Vector_MAEmasked_1_0"/>
          <p:cNvSpPr/>
          <p:nvPr/>
        </p:nvSpPr>
        <p:spPr>
          <a:xfrm>
            <a:off x="3255120" y="326772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7" name="Vector_MAEmasked_1_1"/>
          <p:cNvSpPr/>
          <p:nvPr/>
        </p:nvSpPr>
        <p:spPr>
          <a:xfrm>
            <a:off x="3533040" y="326772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8" name="Vector_MAEmasked_1_2"/>
          <p:cNvSpPr/>
          <p:nvPr/>
        </p:nvSpPr>
        <p:spPr>
          <a:xfrm>
            <a:off x="3810600" y="326772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29" name="Vector_MAEmasked_1_3"/>
          <p:cNvSpPr/>
          <p:nvPr/>
        </p:nvSpPr>
        <p:spPr>
          <a:xfrm>
            <a:off x="4088520" y="326772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0" name="Vector_MAEmasked_2_0"/>
          <p:cNvSpPr/>
          <p:nvPr/>
        </p:nvSpPr>
        <p:spPr>
          <a:xfrm>
            <a:off x="3255120" y="354564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1" name="Vector_MAEmasked_2_1"/>
          <p:cNvSpPr/>
          <p:nvPr/>
        </p:nvSpPr>
        <p:spPr>
          <a:xfrm>
            <a:off x="3533040" y="354564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2" name="Vector_MAEmasked_2_2"/>
          <p:cNvSpPr/>
          <p:nvPr/>
        </p:nvSpPr>
        <p:spPr>
          <a:xfrm>
            <a:off x="3810600" y="354564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3" name="Vector_MAEmasked_2_3"/>
          <p:cNvSpPr/>
          <p:nvPr/>
        </p:nvSpPr>
        <p:spPr>
          <a:xfrm>
            <a:off x="4088520" y="354564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4" name="Vector_MAEmasked_3_0"/>
          <p:cNvSpPr/>
          <p:nvPr/>
        </p:nvSpPr>
        <p:spPr>
          <a:xfrm>
            <a:off x="3255120" y="382320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5" name="Vector_MAEmasked_3_1"/>
          <p:cNvSpPr/>
          <p:nvPr/>
        </p:nvSpPr>
        <p:spPr>
          <a:xfrm>
            <a:off x="3533040" y="382320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6" name="Vector_MAEmasked_3_2"/>
          <p:cNvSpPr/>
          <p:nvPr/>
        </p:nvSpPr>
        <p:spPr>
          <a:xfrm>
            <a:off x="3810600" y="3823200"/>
            <a:ext cx="226800" cy="226800"/>
          </a:xfrm>
          <a:prstGeom prst="rect">
            <a:avLst/>
          </a:prstGeom>
          <a:solidFill>
            <a:srgbClr val="b8c3c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7" name="Vector_MAEmasked_3_3"/>
          <p:cNvSpPr/>
          <p:nvPr/>
        </p:nvSpPr>
        <p:spPr>
          <a:xfrm>
            <a:off x="4088520" y="3823200"/>
            <a:ext cx="226800" cy="22680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38" name="Vector_MAEcaption1"/>
          <p:cNvSpPr/>
          <p:nvPr/>
        </p:nvSpPr>
        <p:spPr>
          <a:xfrm>
            <a:off x="2944440" y="4309920"/>
            <a:ext cx="1681920" cy="194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100" spc="-1" strike="noStrike">
                <a:solidFill>
                  <a:srgbClr val="1c2a39"/>
                </a:solidFill>
                <a:latin typeface="Aptos"/>
              </a:rPr>
              <a:t>Exemplo: ocultar 75%</a:t>
            </a:r>
            <a:endParaRPr b="0" lang="pt-BR" sz="1100" spc="-1" strike="noStrike">
              <a:solidFill>
                <a:srgbClr val="000000"/>
              </a:solidFill>
              <a:latin typeface="Arial"/>
            </a:endParaRPr>
          </a:p>
        </p:txBody>
      </p:sp>
      <p:cxnSp>
        <p:nvCxnSpPr>
          <p:cNvPr id="239" name="Vector_MAEarrow1"/>
          <p:cNvCxnSpPr/>
          <p:nvPr/>
        </p:nvCxnSpPr>
        <p:spPr>
          <a:xfrm>
            <a:off x="4791240" y="3429000"/>
            <a:ext cx="266040" cy="720"/>
          </a:xfrm>
          <a:prstGeom prst="straightConnector1">
            <a:avLst/>
          </a:prstGeom>
          <a:ln w="25400">
            <a:solidFill>
              <a:srgbClr val="0093dd"/>
            </a:solidFill>
            <a:round/>
          </a:ln>
        </p:spPr>
      </p:cxnSp>
      <p:sp>
        <p:nvSpPr>
          <p:cNvPr id="240" name="Vector_MAEcard2"/>
          <p:cNvSpPr/>
          <p:nvPr/>
        </p:nvSpPr>
        <p:spPr>
          <a:xfrm>
            <a:off x="5129640" y="1874520"/>
            <a:ext cx="1937880" cy="287964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41" name="Vector_MAEnum2"/>
          <p:cNvSpPr/>
          <p:nvPr/>
        </p:nvSpPr>
        <p:spPr>
          <a:xfrm>
            <a:off x="5248800" y="1993320"/>
            <a:ext cx="365040" cy="365040"/>
          </a:xfrm>
          <a:prstGeom prst="ellipse">
            <a:avLst/>
          </a:prstGeom>
          <a:solidFill>
            <a:srgbClr val="0d1f3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42" name="Vector_MAEnumtext2"/>
          <p:cNvSpPr/>
          <p:nvPr/>
        </p:nvSpPr>
        <p:spPr>
          <a:xfrm>
            <a:off x="5248800" y="2063520"/>
            <a:ext cx="36504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300" spc="-1" strike="noStrike">
                <a:solidFill>
                  <a:srgbClr val="ffffff"/>
                </a:solidFill>
                <a:latin typeface="Aptos"/>
              </a:rPr>
              <a:t>3</a:t>
            </a:r>
            <a:endParaRPr b="0" lang="pt-BR" sz="1300" spc="-1" strike="noStrike">
              <a:solidFill>
                <a:srgbClr val="000000"/>
              </a:solidFill>
              <a:latin typeface="Arial"/>
            </a:endParaRPr>
          </a:p>
        </p:txBody>
      </p:sp>
      <p:sp>
        <p:nvSpPr>
          <p:cNvPr id="243" name="Vector_MAEstepTitle2"/>
          <p:cNvSpPr/>
          <p:nvPr/>
        </p:nvSpPr>
        <p:spPr>
          <a:xfrm>
            <a:off x="5248800" y="2525400"/>
            <a:ext cx="169992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d1f3a"/>
                </a:solidFill>
                <a:latin typeface="Aptos"/>
              </a:rPr>
              <a:t>Encoder ViT</a:t>
            </a:r>
            <a:endParaRPr b="0" lang="pt-BR" sz="1600" spc="-1" strike="noStrike">
              <a:solidFill>
                <a:srgbClr val="000000"/>
              </a:solidFill>
              <a:latin typeface="Arial"/>
            </a:endParaRPr>
          </a:p>
        </p:txBody>
      </p:sp>
      <p:sp>
        <p:nvSpPr>
          <p:cNvPr id="244" name="Vector_EncoderBox"/>
          <p:cNvSpPr/>
          <p:nvPr/>
        </p:nvSpPr>
        <p:spPr>
          <a:xfrm>
            <a:off x="5422320" y="2999160"/>
            <a:ext cx="1352520" cy="685080"/>
          </a:xfrm>
          <a:prstGeom prst="roundRect">
            <a:avLst>
              <a:gd name="adj" fmla="val 16667"/>
            </a:avLst>
          </a:prstGeom>
          <a:solidFill>
            <a:srgbClr val="f1f7fb"/>
          </a:solidFill>
          <a:ln w="13970">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45" name="Vector_EncoderText"/>
          <p:cNvSpPr/>
          <p:nvPr/>
        </p:nvSpPr>
        <p:spPr>
          <a:xfrm>
            <a:off x="5459040" y="3095280"/>
            <a:ext cx="1279440" cy="483840"/>
          </a:xfrm>
          <a:prstGeom prst="rect">
            <a:avLst/>
          </a:prstGeom>
          <a:noFill/>
          <a:ln w="0">
            <a:noFill/>
          </a:ln>
        </p:spPr>
        <p:style>
          <a:lnRef idx="0"/>
          <a:fillRef idx="0"/>
          <a:effectRef idx="0"/>
          <a:fontRef idx="minor"/>
        </p:style>
        <p:txBody>
          <a:bodyPr lIns="36720" rIns="36720" tIns="13680" bIns="13680" anchor="ctr">
            <a:spAutoFit/>
          </a:bodyPr>
          <a:p>
            <a:pPr>
              <a:lnSpc>
                <a:spcPct val="100000"/>
              </a:lnSpc>
            </a:pPr>
            <a:r>
              <a:rPr b="1" lang="pt-BR" sz="1500" spc="-1" strike="noStrike">
                <a:solidFill>
                  <a:srgbClr val="0d1f3a"/>
                </a:solidFill>
                <a:latin typeface="Aptos"/>
              </a:rPr>
              <a:t>Encoder</a:t>
            </a:r>
            <a:endParaRPr b="0" lang="pt-BR" sz="1500" spc="-1" strike="noStrike">
              <a:solidFill>
                <a:srgbClr val="000000"/>
              </a:solidFill>
              <a:latin typeface="Arial"/>
            </a:endParaRPr>
          </a:p>
          <a:p>
            <a:pPr algn="ctr" defTabSz="914400">
              <a:lnSpc>
                <a:spcPct val="100000"/>
              </a:lnSpc>
            </a:pPr>
            <a:r>
              <a:rPr b="1" lang="pt-BR" sz="1500" spc="-1" strike="noStrike">
                <a:solidFill>
                  <a:srgbClr val="0d1f3a"/>
                </a:solidFill>
                <a:latin typeface="Aptos"/>
              </a:rPr>
              <a:t>(ViT)</a:t>
            </a:r>
            <a:endParaRPr b="0" lang="pt-BR" sz="1500" spc="-1" strike="noStrike">
              <a:solidFill>
                <a:srgbClr val="000000"/>
              </a:solidFill>
              <a:latin typeface="Arial"/>
            </a:endParaRPr>
          </a:p>
        </p:txBody>
      </p:sp>
      <p:sp>
        <p:nvSpPr>
          <p:cNvPr id="246" name="Vector_VisibleOnly"/>
          <p:cNvSpPr/>
          <p:nvPr/>
        </p:nvSpPr>
        <p:spPr>
          <a:xfrm>
            <a:off x="5358240" y="3830040"/>
            <a:ext cx="1480680" cy="194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100" spc="-1" strike="noStrike">
                <a:solidFill>
                  <a:srgbClr val="2b9d8f"/>
                </a:solidFill>
                <a:latin typeface="Aptos"/>
              </a:rPr>
              <a:t>patches visíveis</a:t>
            </a:r>
            <a:endParaRPr b="0" lang="pt-BR" sz="1100" spc="-1" strike="noStrike">
              <a:solidFill>
                <a:srgbClr val="000000"/>
              </a:solidFill>
              <a:latin typeface="Arial"/>
            </a:endParaRPr>
          </a:p>
        </p:txBody>
      </p:sp>
      <p:sp>
        <p:nvSpPr>
          <p:cNvPr id="247" name="Vector_MAEcaption2"/>
          <p:cNvSpPr/>
          <p:nvPr/>
        </p:nvSpPr>
        <p:spPr>
          <a:xfrm>
            <a:off x="5257800" y="4226040"/>
            <a:ext cx="1681920" cy="3621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100" spc="-1" strike="noStrike">
                <a:solidFill>
                  <a:srgbClr val="1c2a39"/>
                </a:solidFill>
                <a:latin typeface="Aptos"/>
              </a:rPr>
              <a:t>Processa só o que está visível</a:t>
            </a:r>
            <a:endParaRPr b="0" lang="pt-BR" sz="1100" spc="-1" strike="noStrike">
              <a:solidFill>
                <a:srgbClr val="000000"/>
              </a:solidFill>
              <a:latin typeface="Arial"/>
            </a:endParaRPr>
          </a:p>
        </p:txBody>
      </p:sp>
      <p:cxnSp>
        <p:nvCxnSpPr>
          <p:cNvPr id="248" name="Vector_MAEarrow2"/>
          <p:cNvCxnSpPr/>
          <p:nvPr/>
        </p:nvCxnSpPr>
        <p:spPr>
          <a:xfrm>
            <a:off x="7104600" y="3429000"/>
            <a:ext cx="266040" cy="720"/>
          </a:xfrm>
          <a:prstGeom prst="straightConnector1">
            <a:avLst/>
          </a:prstGeom>
          <a:ln w="25400">
            <a:solidFill>
              <a:srgbClr val="0093dd"/>
            </a:solidFill>
            <a:round/>
          </a:ln>
        </p:spPr>
      </p:cxnSp>
      <p:sp>
        <p:nvSpPr>
          <p:cNvPr id="249" name="Vector_MAEcard3"/>
          <p:cNvSpPr/>
          <p:nvPr/>
        </p:nvSpPr>
        <p:spPr>
          <a:xfrm>
            <a:off x="7443360" y="1874520"/>
            <a:ext cx="1937880" cy="287964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50" name="Vector_MAEnum3"/>
          <p:cNvSpPr/>
          <p:nvPr/>
        </p:nvSpPr>
        <p:spPr>
          <a:xfrm>
            <a:off x="7562160" y="1993320"/>
            <a:ext cx="365040" cy="365040"/>
          </a:xfrm>
          <a:prstGeom prst="ellipse">
            <a:avLst/>
          </a:prstGeom>
          <a:solidFill>
            <a:srgbClr val="0d1f3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51" name="Vector_MAEnumtext3"/>
          <p:cNvSpPr/>
          <p:nvPr/>
        </p:nvSpPr>
        <p:spPr>
          <a:xfrm>
            <a:off x="7562160" y="2063520"/>
            <a:ext cx="36504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300" spc="-1" strike="noStrike">
                <a:solidFill>
                  <a:srgbClr val="ffffff"/>
                </a:solidFill>
                <a:latin typeface="Aptos"/>
              </a:rPr>
              <a:t>4</a:t>
            </a:r>
            <a:endParaRPr b="0" lang="pt-BR" sz="1300" spc="-1" strike="noStrike">
              <a:solidFill>
                <a:srgbClr val="000000"/>
              </a:solidFill>
              <a:latin typeface="Arial"/>
            </a:endParaRPr>
          </a:p>
        </p:txBody>
      </p:sp>
      <p:sp>
        <p:nvSpPr>
          <p:cNvPr id="252" name="Vector_MAEstepTitle3"/>
          <p:cNvSpPr/>
          <p:nvPr/>
        </p:nvSpPr>
        <p:spPr>
          <a:xfrm>
            <a:off x="7562160" y="2525400"/>
            <a:ext cx="169992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d1f3a"/>
                </a:solidFill>
                <a:latin typeface="Aptos"/>
              </a:rPr>
              <a:t>Decoder leve</a:t>
            </a:r>
            <a:endParaRPr b="0" lang="pt-BR" sz="1600" spc="-1" strike="noStrike">
              <a:solidFill>
                <a:srgbClr val="000000"/>
              </a:solidFill>
              <a:latin typeface="Arial"/>
            </a:endParaRPr>
          </a:p>
        </p:txBody>
      </p:sp>
      <p:sp>
        <p:nvSpPr>
          <p:cNvPr id="253" name="Vector_DecoderBox"/>
          <p:cNvSpPr/>
          <p:nvPr/>
        </p:nvSpPr>
        <p:spPr>
          <a:xfrm>
            <a:off x="7735680" y="2999160"/>
            <a:ext cx="1352520" cy="685080"/>
          </a:xfrm>
          <a:prstGeom prst="roundRect">
            <a:avLst>
              <a:gd name="adj" fmla="val 16667"/>
            </a:avLst>
          </a:prstGeom>
          <a:solidFill>
            <a:srgbClr val="f1f7fb"/>
          </a:solidFill>
          <a:ln w="1397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54" name="Vector_DecoderText"/>
          <p:cNvSpPr/>
          <p:nvPr/>
        </p:nvSpPr>
        <p:spPr>
          <a:xfrm>
            <a:off x="7772400" y="3095280"/>
            <a:ext cx="1279440" cy="483840"/>
          </a:xfrm>
          <a:prstGeom prst="rect">
            <a:avLst/>
          </a:prstGeom>
          <a:noFill/>
          <a:ln w="0">
            <a:noFill/>
          </a:ln>
        </p:spPr>
        <p:style>
          <a:lnRef idx="0"/>
          <a:fillRef idx="0"/>
          <a:effectRef idx="0"/>
          <a:fontRef idx="minor"/>
        </p:style>
        <p:txBody>
          <a:bodyPr lIns="36720" rIns="36720" tIns="13680" bIns="13680" anchor="ctr">
            <a:spAutoFit/>
          </a:bodyPr>
          <a:p>
            <a:pPr>
              <a:lnSpc>
                <a:spcPct val="100000"/>
              </a:lnSpc>
            </a:pPr>
            <a:r>
              <a:rPr b="1" lang="pt-BR" sz="1500" spc="-1" strike="noStrike">
                <a:solidFill>
                  <a:srgbClr val="0d1f3a"/>
                </a:solidFill>
                <a:latin typeface="Aptos"/>
              </a:rPr>
              <a:t>Decoder</a:t>
            </a:r>
            <a:endParaRPr b="0" lang="pt-BR" sz="1500" spc="-1" strike="noStrike">
              <a:solidFill>
                <a:srgbClr val="000000"/>
              </a:solidFill>
              <a:latin typeface="Arial"/>
            </a:endParaRPr>
          </a:p>
          <a:p>
            <a:pPr algn="ctr" defTabSz="914400">
              <a:lnSpc>
                <a:spcPct val="100000"/>
              </a:lnSpc>
            </a:pPr>
            <a:r>
              <a:rPr b="1" lang="pt-BR" sz="1500" spc="-1" strike="noStrike">
                <a:solidFill>
                  <a:srgbClr val="0d1f3a"/>
                </a:solidFill>
                <a:latin typeface="Aptos"/>
              </a:rPr>
              <a:t>leve</a:t>
            </a:r>
            <a:endParaRPr b="0" lang="pt-BR" sz="1500" spc="-1" strike="noStrike">
              <a:solidFill>
                <a:srgbClr val="000000"/>
              </a:solidFill>
              <a:latin typeface="Arial"/>
            </a:endParaRPr>
          </a:p>
        </p:txBody>
      </p:sp>
      <p:sp>
        <p:nvSpPr>
          <p:cNvPr id="255" name="Vector_MaskTokens"/>
          <p:cNvSpPr/>
          <p:nvPr/>
        </p:nvSpPr>
        <p:spPr>
          <a:xfrm>
            <a:off x="7626240" y="3830040"/>
            <a:ext cx="1699920" cy="194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100" spc="-1" strike="noStrike">
                <a:solidFill>
                  <a:srgbClr val="f27060"/>
                </a:solidFill>
                <a:latin typeface="Aptos"/>
              </a:rPr>
              <a:t>tokens + posições</a:t>
            </a:r>
            <a:endParaRPr b="0" lang="pt-BR" sz="1100" spc="-1" strike="noStrike">
              <a:solidFill>
                <a:srgbClr val="000000"/>
              </a:solidFill>
              <a:latin typeface="Arial"/>
            </a:endParaRPr>
          </a:p>
        </p:txBody>
      </p:sp>
      <p:sp>
        <p:nvSpPr>
          <p:cNvPr id="256" name="Vector_MAEcaption3"/>
          <p:cNvSpPr/>
          <p:nvPr/>
        </p:nvSpPr>
        <p:spPr>
          <a:xfrm>
            <a:off x="7571160" y="4226040"/>
            <a:ext cx="1681920" cy="3621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100" spc="-1" strike="noStrike">
                <a:solidFill>
                  <a:srgbClr val="1c2a39"/>
                </a:solidFill>
                <a:latin typeface="Aptos"/>
              </a:rPr>
              <a:t>Recebe tokens e posições</a:t>
            </a:r>
            <a:endParaRPr b="0" lang="pt-BR" sz="1100" spc="-1" strike="noStrike">
              <a:solidFill>
                <a:srgbClr val="000000"/>
              </a:solidFill>
              <a:latin typeface="Arial"/>
            </a:endParaRPr>
          </a:p>
        </p:txBody>
      </p:sp>
      <p:cxnSp>
        <p:nvCxnSpPr>
          <p:cNvPr id="257" name="Vector_MAEarrow3"/>
          <p:cNvCxnSpPr/>
          <p:nvPr/>
        </p:nvCxnSpPr>
        <p:spPr>
          <a:xfrm>
            <a:off x="9418320" y="3429000"/>
            <a:ext cx="265680" cy="720"/>
          </a:xfrm>
          <a:prstGeom prst="straightConnector1">
            <a:avLst/>
          </a:prstGeom>
          <a:ln w="25400">
            <a:solidFill>
              <a:srgbClr val="0093dd"/>
            </a:solidFill>
            <a:round/>
          </a:ln>
        </p:spPr>
      </p:cxnSp>
      <p:sp>
        <p:nvSpPr>
          <p:cNvPr id="258" name="Vector_MAEcard4"/>
          <p:cNvSpPr/>
          <p:nvPr/>
        </p:nvSpPr>
        <p:spPr>
          <a:xfrm>
            <a:off x="9756720" y="1874520"/>
            <a:ext cx="1937880" cy="287964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59" name="Vector_MAEnum4"/>
          <p:cNvSpPr/>
          <p:nvPr/>
        </p:nvSpPr>
        <p:spPr>
          <a:xfrm>
            <a:off x="9875520" y="1993320"/>
            <a:ext cx="365040" cy="365040"/>
          </a:xfrm>
          <a:prstGeom prst="ellipse">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0" name="Vector_MAEnumtext4"/>
          <p:cNvSpPr/>
          <p:nvPr/>
        </p:nvSpPr>
        <p:spPr>
          <a:xfrm>
            <a:off x="9875520" y="2063520"/>
            <a:ext cx="36504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300" spc="-1" strike="noStrike">
                <a:solidFill>
                  <a:srgbClr val="ffffff"/>
                </a:solidFill>
                <a:latin typeface="Aptos"/>
              </a:rPr>
              <a:t>5</a:t>
            </a:r>
            <a:endParaRPr b="0" lang="pt-BR" sz="1300" spc="-1" strike="noStrike">
              <a:solidFill>
                <a:srgbClr val="000000"/>
              </a:solidFill>
              <a:latin typeface="Arial"/>
            </a:endParaRPr>
          </a:p>
        </p:txBody>
      </p:sp>
      <p:sp>
        <p:nvSpPr>
          <p:cNvPr id="261" name="Vector_MAEstepTitle4"/>
          <p:cNvSpPr/>
          <p:nvPr/>
        </p:nvSpPr>
        <p:spPr>
          <a:xfrm>
            <a:off x="9875520" y="2525400"/>
            <a:ext cx="169992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d1f3a"/>
                </a:solidFill>
                <a:latin typeface="Aptos"/>
              </a:rPr>
              <a:t>Reconstrução</a:t>
            </a:r>
            <a:endParaRPr b="0" lang="pt-BR" sz="1600" spc="-1" strike="noStrike">
              <a:solidFill>
                <a:srgbClr val="000000"/>
              </a:solidFill>
              <a:latin typeface="Arial"/>
            </a:endParaRPr>
          </a:p>
        </p:txBody>
      </p:sp>
      <p:sp>
        <p:nvSpPr>
          <p:cNvPr id="262" name="Vector_MAEoutput_0_0"/>
          <p:cNvSpPr/>
          <p:nvPr/>
        </p:nvSpPr>
        <p:spPr>
          <a:xfrm>
            <a:off x="10195560" y="299016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3" name="Vector_MAEoutput_0_1"/>
          <p:cNvSpPr/>
          <p:nvPr/>
        </p:nvSpPr>
        <p:spPr>
          <a:xfrm>
            <a:off x="10473480" y="299016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4" name="Vector_MAEoutput_0_2"/>
          <p:cNvSpPr/>
          <p:nvPr/>
        </p:nvSpPr>
        <p:spPr>
          <a:xfrm>
            <a:off x="10751040" y="299016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5" name="Vector_MAEoutput_0_3"/>
          <p:cNvSpPr/>
          <p:nvPr/>
        </p:nvSpPr>
        <p:spPr>
          <a:xfrm>
            <a:off x="11028960" y="299016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6" name="Vector_MAEoutput_1_0"/>
          <p:cNvSpPr/>
          <p:nvPr/>
        </p:nvSpPr>
        <p:spPr>
          <a:xfrm>
            <a:off x="10195560" y="326772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7" name="Vector_MAEoutput_1_1"/>
          <p:cNvSpPr/>
          <p:nvPr/>
        </p:nvSpPr>
        <p:spPr>
          <a:xfrm>
            <a:off x="10473480" y="326772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8" name="Vector_MAEoutput_1_2"/>
          <p:cNvSpPr/>
          <p:nvPr/>
        </p:nvSpPr>
        <p:spPr>
          <a:xfrm>
            <a:off x="10751040" y="326772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69" name="Vector_MAEoutput_1_3"/>
          <p:cNvSpPr/>
          <p:nvPr/>
        </p:nvSpPr>
        <p:spPr>
          <a:xfrm>
            <a:off x="11028960" y="326772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0" name="Vector_MAEoutput_2_0"/>
          <p:cNvSpPr/>
          <p:nvPr/>
        </p:nvSpPr>
        <p:spPr>
          <a:xfrm>
            <a:off x="10195560" y="354564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1" name="Vector_MAEoutput_2_1"/>
          <p:cNvSpPr/>
          <p:nvPr/>
        </p:nvSpPr>
        <p:spPr>
          <a:xfrm>
            <a:off x="10473480" y="354564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2" name="Vector_MAEoutput_2_2"/>
          <p:cNvSpPr/>
          <p:nvPr/>
        </p:nvSpPr>
        <p:spPr>
          <a:xfrm>
            <a:off x="10751040" y="354564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3" name="Vector_MAEoutput_2_3"/>
          <p:cNvSpPr/>
          <p:nvPr/>
        </p:nvSpPr>
        <p:spPr>
          <a:xfrm>
            <a:off x="11028960" y="354564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4" name="Vector_MAEoutput_3_0"/>
          <p:cNvSpPr/>
          <p:nvPr/>
        </p:nvSpPr>
        <p:spPr>
          <a:xfrm>
            <a:off x="10195560" y="382320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5" name="Vector_MAEoutput_3_1"/>
          <p:cNvSpPr/>
          <p:nvPr/>
        </p:nvSpPr>
        <p:spPr>
          <a:xfrm>
            <a:off x="10473480" y="382320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6" name="Vector_MAEoutput_3_2"/>
          <p:cNvSpPr/>
          <p:nvPr/>
        </p:nvSpPr>
        <p:spPr>
          <a:xfrm>
            <a:off x="10751040" y="382320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7" name="Vector_MAEoutput_3_3"/>
          <p:cNvSpPr/>
          <p:nvPr/>
        </p:nvSpPr>
        <p:spPr>
          <a:xfrm>
            <a:off x="11028960" y="3823200"/>
            <a:ext cx="226800" cy="226800"/>
          </a:xfrm>
          <a:prstGeom prst="rect">
            <a:avLst/>
          </a:prstGeom>
          <a:solidFill>
            <a:srgbClr val="0093dd"/>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78" name="Vector_MAEcaption4"/>
          <p:cNvSpPr/>
          <p:nvPr/>
        </p:nvSpPr>
        <p:spPr>
          <a:xfrm>
            <a:off x="9884520" y="4226040"/>
            <a:ext cx="1681920" cy="3621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100" spc="-1" strike="noStrike">
                <a:solidFill>
                  <a:srgbClr val="1c2a39"/>
                </a:solidFill>
                <a:latin typeface="Aptos"/>
              </a:rPr>
              <a:t>Prevê os patches ocultos</a:t>
            </a:r>
            <a:endParaRPr b="0" lang="pt-BR" sz="1100" spc="-1" strike="noStrike">
              <a:solidFill>
                <a:srgbClr val="000000"/>
              </a:solidFill>
              <a:latin typeface="Arial"/>
            </a:endParaRPr>
          </a:p>
        </p:txBody>
      </p:sp>
      <p:sp>
        <p:nvSpPr>
          <p:cNvPr id="279" name="Vector_MAEObjective"/>
          <p:cNvSpPr/>
          <p:nvPr/>
        </p:nvSpPr>
        <p:spPr>
          <a:xfrm>
            <a:off x="1143000" y="5139000"/>
            <a:ext cx="9920520" cy="639360"/>
          </a:xfrm>
          <a:prstGeom prst="roundRect">
            <a:avLst>
              <a:gd name="adj" fmla="val 16667"/>
            </a:avLst>
          </a:prstGeom>
          <a:solidFill>
            <a:srgbClr val="f1f7fb"/>
          </a:solidFill>
          <a:ln w="13970">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280" name="Vector_MAEObjectiveText"/>
          <p:cNvSpPr/>
          <p:nvPr/>
        </p:nvSpPr>
        <p:spPr>
          <a:xfrm>
            <a:off x="1353240" y="5312880"/>
            <a:ext cx="9509040" cy="2552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500" spc="-1" strike="noStrike">
                <a:solidFill>
                  <a:srgbClr val="0d1f3a"/>
                </a:solidFill>
                <a:latin typeface="Aptos"/>
              </a:rPr>
              <a:t>Objetivo de treino: minimizar o erro de reconstrução nos patches mascarados.</a:t>
            </a:r>
            <a:endParaRPr b="0" lang="pt-B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r>
              <a:rPr b="1" lang="pt-BR" sz="2400" spc="-1" strike="noStrike">
                <a:solidFill>
                  <a:schemeClr val="dk1"/>
                </a:solidFill>
                <a:latin typeface="Aptos"/>
              </a:rPr>
              <a:t>Arquitetura do MAE</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282" name="CaixaDeTexto 4"/>
          <p:cNvSpPr/>
          <p:nvPr/>
        </p:nvSpPr>
        <p:spPr>
          <a:xfrm>
            <a:off x="1242000" y="1720800"/>
            <a:ext cx="9669240" cy="3381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pc="-1" strike="noStrike">
                <a:solidFill>
                  <a:schemeClr val="dk1"/>
                </a:solidFill>
                <a:latin typeface="Aptos"/>
              </a:rPr>
              <a:t>Encoder e Decoder no MAE</a:t>
            </a:r>
            <a:endParaRPr b="0" lang="pt-BR" sz="18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Encoder (ViT)</a:t>
            </a:r>
            <a:br>
              <a:rPr sz="1800"/>
            </a:br>
            <a:r>
              <a:rPr b="0" lang="pt-BR" sz="1800" spc="-1" strike="noStrike">
                <a:solidFill>
                  <a:schemeClr val="dk1"/>
                </a:solidFill>
                <a:latin typeface="Aptos"/>
              </a:rPr>
              <a:t>O encoder recebe </a:t>
            </a:r>
            <a:r>
              <a:rPr b="1" lang="pt-BR" sz="1800" spc="-1" strike="noStrike">
                <a:solidFill>
                  <a:schemeClr val="dk1"/>
                </a:solidFill>
                <a:latin typeface="Aptos"/>
              </a:rPr>
              <a:t>apenas os patches visíveis</a:t>
            </a:r>
            <a:r>
              <a:rPr b="0" lang="pt-BR" sz="1800" spc="-1" strike="noStrike">
                <a:solidFill>
                  <a:schemeClr val="dk1"/>
                </a:solidFill>
                <a:latin typeface="Aptos"/>
              </a:rPr>
              <a:t> da imagem e utiliza o mecanismo de </a:t>
            </a:r>
            <a:r>
              <a:rPr b="0" i="1" lang="pt-BR" sz="1800" spc="-1" strike="noStrike">
                <a:solidFill>
                  <a:schemeClr val="dk1"/>
                </a:solidFill>
                <a:latin typeface="Aptos"/>
              </a:rPr>
              <a:t>self-attention</a:t>
            </a:r>
            <a:r>
              <a:rPr b="0" lang="pt-BR" sz="1800" spc="-1" strike="noStrike">
                <a:solidFill>
                  <a:schemeClr val="dk1"/>
                </a:solidFill>
                <a:latin typeface="Aptos"/>
              </a:rPr>
              <a:t> para aprender uma representação do conteúdo observado. Como os patches mascarados não são processados pelo encoder, o custo computacional do pré-treinamento é reduzido.</a:t>
            </a:r>
            <a:endParaRPr b="0" lang="pt-BR" sz="18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Decoder</a:t>
            </a:r>
            <a:br>
              <a:rPr sz="1800"/>
            </a:br>
            <a:r>
              <a:rPr b="0" lang="pt-BR" sz="1800" spc="-1" strike="noStrike">
                <a:solidFill>
                  <a:schemeClr val="dk1"/>
                </a:solidFill>
                <a:latin typeface="Aptos"/>
              </a:rPr>
              <a:t>O decoder recebe as representações produzidas pelo encoder e os </a:t>
            </a:r>
            <a:r>
              <a:rPr b="1" lang="pt-BR" sz="1800" spc="-1" strike="noStrike">
                <a:solidFill>
                  <a:schemeClr val="dk1"/>
                </a:solidFill>
                <a:latin typeface="Aptos"/>
              </a:rPr>
              <a:t>mask tokens</a:t>
            </a:r>
            <a:r>
              <a:rPr b="0" lang="pt-BR" sz="1800" spc="-1" strike="noStrike">
                <a:solidFill>
                  <a:schemeClr val="dk1"/>
                </a:solidFill>
                <a:latin typeface="Aptos"/>
              </a:rPr>
              <a:t>, inseridos nas posições dos patches ocultos. A partir dessa sequência completa, ele tenta </a:t>
            </a:r>
            <a:r>
              <a:rPr b="1" lang="pt-BR" sz="1800" spc="-1" strike="noStrike">
                <a:solidFill>
                  <a:schemeClr val="dk1"/>
                </a:solidFill>
                <a:latin typeface="Aptos"/>
              </a:rPr>
              <a:t>reconstruir os pixels dos patches mascarados</a:t>
            </a:r>
            <a:r>
              <a:rPr b="0" lang="pt-BR" sz="1800" spc="-1" strike="noStrike">
                <a:solidFill>
                  <a:schemeClr val="dk1"/>
                </a:solidFill>
                <a:latin typeface="Aptos"/>
              </a:rPr>
              <a:t>.</a:t>
            </a:r>
            <a:endParaRPr b="0" lang="pt-BR" sz="1800" spc="-1" strike="noStrike">
              <a:solidFill>
                <a:srgbClr val="000000"/>
              </a:solidFill>
              <a:latin typeface="Arial"/>
            </a:endParaRPr>
          </a:p>
        </p:txBody>
      </p:sp>
      <p:sp>
        <p:nvSpPr>
          <p:cNvPr id="283" name="Rectangle 5"/>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284"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(HE et al., 2022)</a:t>
            </a:r>
            <a:endParaRPr b="0" lang="pt-BR" sz="850" spc="-1" strike="noStrike">
              <a:solidFill>
                <a:srgbClr val="ffffff"/>
              </a:solidFill>
              <a:latin typeface="Arial"/>
            </a:endParaRPr>
          </a:p>
        </p:txBody>
      </p:sp>
      <p:sp>
        <p:nvSpPr>
          <p:cNvPr id="285" name="TextBox 7"/>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10</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r>
              <a:rPr b="1" lang="pt-BR" sz="2400" spc="-1" strike="noStrike">
                <a:solidFill>
                  <a:schemeClr val="dk1"/>
                </a:solidFill>
                <a:latin typeface="Aptos"/>
              </a:rPr>
              <a:t>Como o MAE Aprende?</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287" name="CaixaDeTexto 3"/>
          <p:cNvSpPr/>
          <p:nvPr/>
        </p:nvSpPr>
        <p:spPr>
          <a:xfrm>
            <a:off x="3048120" y="1661400"/>
            <a:ext cx="6095160" cy="464796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pt-BR" sz="1800" spc="-1" strike="noStrike">
                <a:solidFill>
                  <a:srgbClr val="ffffff">
                    <a:alpha val="1000"/>
                  </a:srgbClr>
                </a:solidFill>
                <a:latin typeface="Aptos"/>
              </a:rPr>
              <a:t> </a:t>
            </a:r>
            <a:endParaRPr b="0" lang="pt-BR" sz="1800" spc="-1" strike="noStrike">
              <a:solidFill>
                <a:srgbClr val="000000"/>
              </a:solidFill>
              <a:latin typeface="Arial"/>
            </a:endParaRPr>
          </a:p>
        </p:txBody>
      </p:sp>
      <p:sp>
        <p:nvSpPr>
          <p:cNvPr id="288" name="Rectangle 4"/>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289" name="Rectangle 5"/>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(HE et al., 2022)</a:t>
            </a:r>
            <a:endParaRPr b="0" lang="pt-BR" sz="850" spc="-1" strike="noStrike">
              <a:solidFill>
                <a:srgbClr val="ffffff"/>
              </a:solidFill>
              <a:latin typeface="Arial"/>
            </a:endParaRPr>
          </a:p>
        </p:txBody>
      </p:sp>
      <p:sp>
        <p:nvSpPr>
          <p:cNvPr id="290" name="TextBox 6"/>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11</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r>
              <a:rPr b="1" lang="pt-BR" sz="2400" spc="-1" strike="noStrike">
                <a:solidFill>
                  <a:schemeClr val="dk1"/>
                </a:solidFill>
                <a:latin typeface="Aptos"/>
              </a:rPr>
              <a:t>O que fazer após o MAE - Aplicações</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292" name="CaixaDeTexto 4"/>
          <p:cNvSpPr/>
          <p:nvPr/>
        </p:nvSpPr>
        <p:spPr>
          <a:xfrm>
            <a:off x="1783080" y="1272600"/>
            <a:ext cx="9744840" cy="4204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pc="-1" strike="noStrike">
                <a:solidFill>
                  <a:schemeClr val="dk1"/>
                </a:solidFill>
                <a:latin typeface="Aptos"/>
              </a:rPr>
              <a:t>Pré-treinamento e tarefas downstream</a:t>
            </a:r>
            <a:endParaRPr b="0" lang="pt-BR" sz="18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0" lang="pt-BR" sz="1800" spc="-1" strike="noStrike">
                <a:solidFill>
                  <a:schemeClr val="dk1"/>
                </a:solidFill>
                <a:latin typeface="Aptos"/>
              </a:rPr>
              <a:t>Durante o </a:t>
            </a:r>
            <a:r>
              <a:rPr b="1" lang="pt-BR" sz="1800" spc="-1" strike="noStrike">
                <a:solidFill>
                  <a:schemeClr val="dk1"/>
                </a:solidFill>
                <a:latin typeface="Aptos"/>
              </a:rPr>
              <a:t>pré-treinamento</a:t>
            </a:r>
            <a:r>
              <a:rPr b="0" lang="pt-BR" sz="1800" spc="-1" strike="noStrike">
                <a:solidFill>
                  <a:schemeClr val="dk1"/>
                </a:solidFill>
                <a:latin typeface="Aptos"/>
              </a:rPr>
              <a:t>, o MAE utiliza grandes quantidades de </a:t>
            </a:r>
            <a:r>
              <a:rPr b="1" lang="pt-BR" sz="1800" spc="-1" strike="noStrike">
                <a:solidFill>
                  <a:schemeClr val="dk1"/>
                </a:solidFill>
                <a:latin typeface="Aptos"/>
              </a:rPr>
              <a:t>imagens não rotuladas</a:t>
            </a:r>
            <a:r>
              <a:rPr b="0" lang="pt-BR" sz="1800" spc="-1" strike="noStrike">
                <a:solidFill>
                  <a:schemeClr val="dk1"/>
                </a:solidFill>
                <a:latin typeface="Aptos"/>
              </a:rPr>
              <a:t>. Parte dos patches é mascarada e o modelo é treinado para reconstruir a informação ausente. Nesse processo, o </a:t>
            </a:r>
            <a:r>
              <a:rPr b="1" lang="pt-BR" sz="1800" spc="-1" strike="noStrike">
                <a:solidFill>
                  <a:schemeClr val="dk1"/>
                </a:solidFill>
                <a:latin typeface="Aptos"/>
              </a:rPr>
              <a:t>encoder ViT aprende representações visuais</a:t>
            </a:r>
            <a:r>
              <a:rPr b="0" lang="pt-BR" sz="1800" spc="-1" strike="noStrike">
                <a:solidFill>
                  <a:schemeClr val="dk1"/>
                </a:solidFill>
                <a:latin typeface="Aptos"/>
              </a:rPr>
              <a:t> das imagens.</a:t>
            </a:r>
            <a:endParaRPr b="0" lang="pt-BR" sz="1800" spc="-1" strike="noStrike">
              <a:solidFill>
                <a:srgbClr val="000000"/>
              </a:solidFill>
              <a:latin typeface="Arial"/>
            </a:endParaRPr>
          </a:p>
          <a:p>
            <a:pPr defTabSz="914400">
              <a:lnSpc>
                <a:spcPct val="100000"/>
              </a:lnSpc>
            </a:pPr>
            <a:r>
              <a:rPr b="0" lang="pt-BR" sz="1800" spc="-1" strike="noStrike">
                <a:solidFill>
                  <a:schemeClr val="dk1"/>
                </a:solidFill>
                <a:latin typeface="Aptos"/>
              </a:rPr>
              <a:t>Após o pré-treinamento, o </a:t>
            </a:r>
            <a:r>
              <a:rPr b="1" lang="pt-BR" sz="1800" spc="-1" strike="noStrike">
                <a:solidFill>
                  <a:schemeClr val="dk1"/>
                </a:solidFill>
                <a:latin typeface="Aptos"/>
              </a:rPr>
              <a:t>decoder pode ser descartado</a:t>
            </a:r>
            <a:r>
              <a:rPr b="0" lang="pt-BR" sz="1800" spc="-1" strike="noStrike">
                <a:solidFill>
                  <a:schemeClr val="dk1"/>
                </a:solidFill>
                <a:latin typeface="Aptos"/>
              </a:rPr>
              <a:t>, pois sua função principal era auxiliar na tarefa de reconstrução.</a:t>
            </a:r>
            <a:endParaRPr b="0" lang="pt-BR" sz="1800" spc="-1" strike="noStrike">
              <a:solidFill>
                <a:srgbClr val="000000"/>
              </a:solidFill>
              <a:latin typeface="Arial"/>
            </a:endParaRPr>
          </a:p>
          <a:p>
            <a:pPr defTabSz="914400">
              <a:lnSpc>
                <a:spcPct val="100000"/>
              </a:lnSpc>
            </a:pPr>
            <a:r>
              <a:rPr b="0" lang="pt-BR" sz="1800" spc="-1" strike="noStrike">
                <a:solidFill>
                  <a:schemeClr val="dk1"/>
                </a:solidFill>
                <a:latin typeface="Aptos"/>
              </a:rPr>
              <a:t>O </a:t>
            </a:r>
            <a:r>
              <a:rPr b="1" lang="pt-BR" sz="1800" spc="-1" strike="noStrike">
                <a:solidFill>
                  <a:schemeClr val="dk1"/>
                </a:solidFill>
                <a:latin typeface="Aptos"/>
              </a:rPr>
              <a:t>encoder pré-treinado</a:t>
            </a:r>
            <a:r>
              <a:rPr b="0" lang="pt-BR" sz="1800" spc="-1" strike="noStrike">
                <a:solidFill>
                  <a:schemeClr val="dk1"/>
                </a:solidFill>
                <a:latin typeface="Aptos"/>
              </a:rPr>
              <a:t> é então reutilizado em tarefas </a:t>
            </a:r>
            <a:r>
              <a:rPr b="0" i="1" lang="pt-BR" sz="1800" spc="-1" strike="noStrike">
                <a:solidFill>
                  <a:schemeClr val="dk1"/>
                </a:solidFill>
                <a:latin typeface="Aptos"/>
              </a:rPr>
              <a:t>downstream</a:t>
            </a:r>
            <a:r>
              <a:rPr b="0" lang="pt-BR" sz="1800" spc="-1" strike="noStrike">
                <a:solidFill>
                  <a:schemeClr val="dk1"/>
                </a:solidFill>
                <a:latin typeface="Aptos"/>
              </a:rPr>
              <a:t>, como:</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1" lang="pt-BR" sz="1800" spc="-1" strike="noStrike">
                <a:solidFill>
                  <a:schemeClr val="dk1"/>
                </a:solidFill>
                <a:latin typeface="Aptos"/>
              </a:rPr>
              <a:t>Classificação de imagens</a:t>
            </a:r>
            <a:r>
              <a:rPr b="0" lang="pt-BR" sz="1800" spc="-1" strike="noStrike">
                <a:solidFill>
                  <a:schemeClr val="dk1"/>
                </a:solidFill>
                <a:latin typeface="Aptos"/>
              </a:rPr>
              <a: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1" lang="pt-BR" sz="1800" spc="-1" strike="noStrike">
                <a:solidFill>
                  <a:schemeClr val="dk1"/>
                </a:solidFill>
                <a:latin typeface="Aptos"/>
              </a:rPr>
              <a:t>Detecção de objetos</a:t>
            </a:r>
            <a:r>
              <a:rPr b="0" lang="pt-BR" sz="1800" spc="-1" strike="noStrike">
                <a:solidFill>
                  <a:schemeClr val="dk1"/>
                </a:solidFill>
                <a:latin typeface="Aptos"/>
              </a:rPr>
              <a: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1" lang="pt-BR" sz="1800" spc="-1" strike="noStrike">
                <a:solidFill>
                  <a:schemeClr val="dk1"/>
                </a:solidFill>
                <a:latin typeface="Aptos"/>
              </a:rPr>
              <a:t>Segmentação semântica</a:t>
            </a:r>
            <a:r>
              <a:rPr b="0" lang="pt-BR" sz="1800" spc="-1" strike="noStrike">
                <a:solidFill>
                  <a:schemeClr val="dk1"/>
                </a:solidFill>
                <a:latin typeface="Aptos"/>
              </a:rPr>
              <a: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Outras aplicações específicas do domínio. </a:t>
            </a:r>
            <a:endParaRPr b="0" lang="pt-BR" sz="1800" spc="-1" strike="noStrike">
              <a:solidFill>
                <a:srgbClr val="000000"/>
              </a:solidFill>
              <a:latin typeface="Arial"/>
            </a:endParaRPr>
          </a:p>
          <a:p>
            <a:pPr defTabSz="914400">
              <a:lnSpc>
                <a:spcPct val="100000"/>
              </a:lnSpc>
            </a:pPr>
            <a:r>
              <a:rPr b="0" lang="pt-BR" sz="1800" spc="-1" strike="noStrike">
                <a:solidFill>
                  <a:schemeClr val="dk1"/>
                </a:solidFill>
                <a:latin typeface="Aptos"/>
              </a:rPr>
              <a:t>O encoder pode ser utilizado como </a:t>
            </a:r>
            <a:r>
              <a:rPr b="1" lang="pt-BR" sz="1800" spc="-1" strike="noStrike">
                <a:solidFill>
                  <a:schemeClr val="dk1"/>
                </a:solidFill>
                <a:latin typeface="Aptos"/>
              </a:rPr>
              <a:t>extrator de características</a:t>
            </a:r>
            <a:r>
              <a:rPr b="0" lang="pt-BR" sz="1800" spc="-1" strike="noStrike">
                <a:solidFill>
                  <a:schemeClr val="dk1"/>
                </a:solidFill>
                <a:latin typeface="Aptos"/>
              </a:rPr>
              <a:t> ou ter seus pesos ajustados por </a:t>
            </a:r>
            <a:r>
              <a:rPr b="1" lang="pt-BR" sz="1800" spc="-1" strike="noStrike">
                <a:solidFill>
                  <a:schemeClr val="dk1"/>
                </a:solidFill>
                <a:latin typeface="Aptos"/>
              </a:rPr>
              <a:t>fine-tuning</a:t>
            </a:r>
            <a:r>
              <a:rPr b="0" lang="pt-BR" sz="1800" spc="-1" strike="noStrike">
                <a:solidFill>
                  <a:schemeClr val="dk1"/>
                </a:solidFill>
                <a:latin typeface="Aptos"/>
              </a:rPr>
              <a:t> para a nova tarefa.</a:t>
            </a:r>
            <a:endParaRPr b="0" lang="pt-BR" sz="1800" spc="-1" strike="noStrike">
              <a:solidFill>
                <a:srgbClr val="000000"/>
              </a:solidFill>
              <a:latin typeface="Arial"/>
            </a:endParaRPr>
          </a:p>
        </p:txBody>
      </p:sp>
      <p:sp>
        <p:nvSpPr>
          <p:cNvPr id="293" name="Rectangle 5"/>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294"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(HE et al., 2022)</a:t>
            </a:r>
            <a:endParaRPr b="0" lang="pt-BR" sz="850" spc="-1" strike="noStrike">
              <a:solidFill>
                <a:srgbClr val="ffffff"/>
              </a:solidFill>
              <a:latin typeface="Arial"/>
            </a:endParaRPr>
          </a:p>
        </p:txBody>
      </p:sp>
      <p:sp>
        <p:nvSpPr>
          <p:cNvPr id="295" name="TextBox 7"/>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12</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Experimento complementar: ViT-MAE</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297" name="CaixaDeTexto 4"/>
          <p:cNvSpPr/>
          <p:nvPr/>
        </p:nvSpPr>
        <p:spPr>
          <a:xfrm>
            <a:off x="1958400" y="1443960"/>
            <a:ext cx="8373600" cy="3655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pc="-1" strike="noStrike">
                <a:solidFill>
                  <a:schemeClr val="dk1"/>
                </a:solidFill>
                <a:latin typeface="Aptos"/>
              </a:rPr>
              <a:t>Objetivo do experimento</a:t>
            </a:r>
            <a:br>
              <a:rPr sz="1800"/>
            </a:br>
            <a:r>
              <a:rPr b="0" lang="pt-BR" sz="1800" spc="-1" strike="noStrike">
                <a:solidFill>
                  <a:schemeClr val="dk1"/>
                </a:solidFill>
                <a:latin typeface="Aptos"/>
              </a:rPr>
              <a:t>Avaliar como diferentes taxas de mascaramento afetam a capacidade de reconstrução de um Masked Autoencoder pré-treinado.</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Modelo</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MAE pré-treinado;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Arquitetura baseada em Vision Transformer (ViT);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Imagem de entrada: 224 × 224 pixels;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Patches: 16 × 16 pixels. </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Taxas avaliadas</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25%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50%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75%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90%</a:t>
            </a:r>
            <a:endParaRPr b="0" lang="pt-BR" sz="1800" spc="-1" strike="noStrike">
              <a:solidFill>
                <a:srgbClr val="000000"/>
              </a:solidFill>
              <a:latin typeface="Arial"/>
            </a:endParaRPr>
          </a:p>
        </p:txBody>
      </p:sp>
      <p:sp>
        <p:nvSpPr>
          <p:cNvPr id="298" name="Rectangle 5"/>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nSpc>
                <a:spcPct val="100000"/>
              </a:lnSpc>
            </a:pPr>
            <a:endParaRPr b="0" lang="pt-BR" sz="1800" spc="-1" strike="noStrike">
              <a:solidFill>
                <a:schemeClr val="lt1"/>
              </a:solidFill>
              <a:latin typeface="Aptos"/>
            </a:endParaRPr>
          </a:p>
        </p:txBody>
      </p:sp>
      <p:sp>
        <p:nvSpPr>
          <p:cNvPr id="299"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Método MAE: (HE et al., 2022). Parâmetros: experimento apresentado.</a:t>
            </a:r>
            <a:endParaRPr b="0" lang="pt-BR" sz="850" spc="-1" strike="noStrike">
              <a:solidFill>
                <a:srgbClr val="ffffff"/>
              </a:solidFill>
              <a:latin typeface="Arial"/>
            </a:endParaRPr>
          </a:p>
        </p:txBody>
      </p:sp>
      <p:sp>
        <p:nvSpPr>
          <p:cNvPr id="300" name="TextBox 7"/>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13</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Rectangle 5"/>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nSpc>
                <a:spcPct val="100000"/>
              </a:lnSpc>
            </a:pPr>
            <a:endParaRPr b="0" lang="pt-BR" sz="1800" spc="-1" strike="noStrike">
              <a:solidFill>
                <a:schemeClr val="lt1"/>
              </a:solidFill>
              <a:latin typeface="Aptos"/>
            </a:endParaRPr>
          </a:p>
        </p:txBody>
      </p:sp>
      <p:sp>
        <p:nvSpPr>
          <p:cNvPr id="302"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Procedimento experimental apresentado.</a:t>
            </a:r>
            <a:endParaRPr b="0" lang="pt-BR" sz="850" spc="-1" strike="noStrike">
              <a:solidFill>
                <a:srgbClr val="ffffff"/>
              </a:solidFill>
              <a:latin typeface="Arial"/>
            </a:endParaRPr>
          </a:p>
        </p:txBody>
      </p:sp>
      <p:sp>
        <p:nvSpPr>
          <p:cNvPr id="303" name="TextBox 7"/>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14</a:t>
            </a:r>
            <a:endParaRPr b="0" lang="pt-BR" sz="800" spc="-1" strike="noStrike">
              <a:solidFill>
                <a:srgbClr val="000000"/>
              </a:solidFill>
              <a:latin typeface="Arial"/>
            </a:endParaRPr>
          </a:p>
        </p:txBody>
      </p:sp>
      <p:sp>
        <p:nvSpPr>
          <p:cNvPr id="304" name="Vector_Section"/>
          <p:cNvSpPr/>
          <p:nvPr/>
        </p:nvSpPr>
        <p:spPr>
          <a:xfrm>
            <a:off x="567000" y="615600"/>
            <a:ext cx="11063520" cy="19440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100" spc="-1" strike="noStrike">
                <a:solidFill>
                  <a:srgbClr val="0093dd"/>
                </a:solidFill>
                <a:latin typeface="Aptos"/>
              </a:rPr>
              <a:t>PROCEDIMENTO EXPERIMENTAL</a:t>
            </a:r>
            <a:endParaRPr b="0" lang="pt-BR" sz="1100" spc="-1" strike="noStrike">
              <a:solidFill>
                <a:srgbClr val="000000"/>
              </a:solidFill>
              <a:latin typeface="Arial"/>
            </a:endParaRPr>
          </a:p>
        </p:txBody>
      </p:sp>
      <p:sp>
        <p:nvSpPr>
          <p:cNvPr id="305" name="Vector_Headline"/>
          <p:cNvSpPr/>
          <p:nvPr/>
        </p:nvSpPr>
        <p:spPr>
          <a:xfrm>
            <a:off x="567000" y="888840"/>
            <a:ext cx="11063520" cy="4075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2500" spc="-1" strike="noStrike">
                <a:solidFill>
                  <a:srgbClr val="0d1f3a"/>
                </a:solidFill>
                <a:latin typeface="Aptos"/>
              </a:rPr>
              <a:t>Quatro taxas de máscara, um critério de reconstrução</a:t>
            </a:r>
            <a:endParaRPr b="0" lang="pt-BR" sz="2500" spc="-1" strike="noStrike">
              <a:solidFill>
                <a:srgbClr val="000000"/>
              </a:solidFill>
              <a:latin typeface="Arial"/>
            </a:endParaRPr>
          </a:p>
        </p:txBody>
      </p:sp>
      <p:sp>
        <p:nvSpPr>
          <p:cNvPr id="306" name="Vector_Subheadline"/>
          <p:cNvSpPr/>
          <p:nvPr/>
        </p:nvSpPr>
        <p:spPr>
          <a:xfrm>
            <a:off x="594360" y="1415880"/>
            <a:ext cx="10972080" cy="24012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0" lang="pt-BR" sz="1400" spc="-1" strike="noStrike">
                <a:solidFill>
                  <a:srgbClr val="5c6b7a"/>
                </a:solidFill>
                <a:latin typeface="Aptos"/>
              </a:rPr>
              <a:t>Fluxo esquemático do experimento; os valores medidos aparecem nos slides de resultados.</a:t>
            </a:r>
            <a:endParaRPr b="0" lang="pt-BR" sz="1400" spc="-1" strike="noStrike">
              <a:solidFill>
                <a:srgbClr val="000000"/>
              </a:solidFill>
              <a:latin typeface="Arial"/>
            </a:endParaRPr>
          </a:p>
        </p:txBody>
      </p:sp>
      <p:sp>
        <p:nvSpPr>
          <p:cNvPr id="307" name="Vector_ExpCard0"/>
          <p:cNvSpPr/>
          <p:nvPr/>
        </p:nvSpPr>
        <p:spPr>
          <a:xfrm>
            <a:off x="621720" y="2148840"/>
            <a:ext cx="2331000" cy="251388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08" name="Vector_ExpNum0"/>
          <p:cNvSpPr/>
          <p:nvPr/>
        </p:nvSpPr>
        <p:spPr>
          <a:xfrm>
            <a:off x="768240" y="2360880"/>
            <a:ext cx="45648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093dd"/>
                </a:solidFill>
                <a:latin typeface="Aptos"/>
              </a:rPr>
              <a:t>1</a:t>
            </a:r>
            <a:endParaRPr b="0" lang="pt-BR" sz="1600" spc="-1" strike="noStrike">
              <a:solidFill>
                <a:srgbClr val="000000"/>
              </a:solidFill>
              <a:latin typeface="Arial"/>
            </a:endParaRPr>
          </a:p>
        </p:txBody>
      </p:sp>
      <p:sp>
        <p:nvSpPr>
          <p:cNvPr id="309" name="Vector_ExpTitle0"/>
          <p:cNvSpPr/>
          <p:nvPr/>
        </p:nvSpPr>
        <p:spPr>
          <a:xfrm>
            <a:off x="1216080" y="2345760"/>
            <a:ext cx="1599480" cy="30096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800" spc="-1" strike="noStrike">
                <a:solidFill>
                  <a:srgbClr val="0d1f3a"/>
                </a:solidFill>
                <a:latin typeface="Aptos"/>
              </a:rPr>
              <a:t>Entrada</a:t>
            </a:r>
            <a:endParaRPr b="0" lang="pt-BR" sz="1800" spc="-1" strike="noStrike">
              <a:solidFill>
                <a:srgbClr val="000000"/>
              </a:solidFill>
              <a:latin typeface="Arial"/>
            </a:endParaRPr>
          </a:p>
        </p:txBody>
      </p:sp>
      <p:sp>
        <p:nvSpPr>
          <p:cNvPr id="310" name="Vector_ExpImageGrid_0_0"/>
          <p:cNvSpPr/>
          <p:nvPr/>
        </p:nvSpPr>
        <p:spPr>
          <a:xfrm>
            <a:off x="1334880" y="28713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1" name="Vector_ExpImageGrid_0_1"/>
          <p:cNvSpPr/>
          <p:nvPr/>
        </p:nvSpPr>
        <p:spPr>
          <a:xfrm>
            <a:off x="1585440" y="28713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2" name="Vector_ExpImageGrid_0_2"/>
          <p:cNvSpPr/>
          <p:nvPr/>
        </p:nvSpPr>
        <p:spPr>
          <a:xfrm>
            <a:off x="1835640" y="28713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3" name="Vector_ExpImageGrid_0_3"/>
          <p:cNvSpPr/>
          <p:nvPr/>
        </p:nvSpPr>
        <p:spPr>
          <a:xfrm>
            <a:off x="2085840" y="28713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4" name="Vector_ExpImageGrid_1_0"/>
          <p:cNvSpPr/>
          <p:nvPr/>
        </p:nvSpPr>
        <p:spPr>
          <a:xfrm>
            <a:off x="1334880" y="31215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5" name="Vector_ExpImageGrid_1_1"/>
          <p:cNvSpPr/>
          <p:nvPr/>
        </p:nvSpPr>
        <p:spPr>
          <a:xfrm>
            <a:off x="1585440" y="31215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6" name="Vector_ExpImageGrid_1_2"/>
          <p:cNvSpPr/>
          <p:nvPr/>
        </p:nvSpPr>
        <p:spPr>
          <a:xfrm>
            <a:off x="1835640" y="31215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7" name="Vector_ExpImageGrid_1_3"/>
          <p:cNvSpPr/>
          <p:nvPr/>
        </p:nvSpPr>
        <p:spPr>
          <a:xfrm>
            <a:off x="2085840" y="31215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8" name="Vector_ExpImageGrid_2_0"/>
          <p:cNvSpPr/>
          <p:nvPr/>
        </p:nvSpPr>
        <p:spPr>
          <a:xfrm>
            <a:off x="1334880" y="33717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19" name="Vector_ExpImageGrid_2_1"/>
          <p:cNvSpPr/>
          <p:nvPr/>
        </p:nvSpPr>
        <p:spPr>
          <a:xfrm>
            <a:off x="1585440" y="33717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0" name="Vector_ExpImageGrid_2_2"/>
          <p:cNvSpPr/>
          <p:nvPr/>
        </p:nvSpPr>
        <p:spPr>
          <a:xfrm>
            <a:off x="1835640" y="33717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1" name="Vector_ExpImageGrid_2_3"/>
          <p:cNvSpPr/>
          <p:nvPr/>
        </p:nvSpPr>
        <p:spPr>
          <a:xfrm>
            <a:off x="2085840" y="337176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2" name="Vector_ExpImageGrid_3_0"/>
          <p:cNvSpPr/>
          <p:nvPr/>
        </p:nvSpPr>
        <p:spPr>
          <a:xfrm>
            <a:off x="1334880" y="362232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3" name="Vector_ExpImageGrid_3_1"/>
          <p:cNvSpPr/>
          <p:nvPr/>
        </p:nvSpPr>
        <p:spPr>
          <a:xfrm>
            <a:off x="1585440" y="362232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4" name="Vector_ExpImageGrid_3_2"/>
          <p:cNvSpPr/>
          <p:nvPr/>
        </p:nvSpPr>
        <p:spPr>
          <a:xfrm>
            <a:off x="1835640" y="362232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5" name="Vector_ExpImageGrid_3_3"/>
          <p:cNvSpPr/>
          <p:nvPr/>
        </p:nvSpPr>
        <p:spPr>
          <a:xfrm>
            <a:off x="2085840" y="3622320"/>
            <a:ext cx="199440" cy="199440"/>
          </a:xfrm>
          <a:prstGeom prst="rect">
            <a:avLst/>
          </a:prstGeom>
          <a:solidFill>
            <a:srgbClr val="2b9d8f"/>
          </a:solidFill>
          <a:ln w="8890">
            <a:solidFill>
              <a:srgbClr val="ff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6" name="Vector_ExpDesc0"/>
          <p:cNvSpPr/>
          <p:nvPr/>
        </p:nvSpPr>
        <p:spPr>
          <a:xfrm>
            <a:off x="804600" y="3941280"/>
            <a:ext cx="1965240" cy="392400"/>
          </a:xfrm>
          <a:prstGeom prst="rect">
            <a:avLst/>
          </a:prstGeom>
          <a:noFill/>
          <a:ln w="0">
            <a:noFill/>
          </a:ln>
        </p:spPr>
        <p:style>
          <a:lnRef idx="0"/>
          <a:fillRef idx="0"/>
          <a:effectRef idx="0"/>
          <a:fontRef idx="minor"/>
        </p:style>
        <p:txBody>
          <a:bodyPr lIns="36720" rIns="36720" tIns="13680" bIns="13680" anchor="ctr">
            <a:spAutoFit/>
          </a:bodyPr>
          <a:p>
            <a:pPr>
              <a:lnSpc>
                <a:spcPct val="100000"/>
              </a:lnSpc>
            </a:pPr>
            <a:r>
              <a:rPr b="0" lang="pt-BR" sz="1200" spc="-1" strike="noStrike">
                <a:solidFill>
                  <a:srgbClr val="1c2a39"/>
                </a:solidFill>
                <a:latin typeface="Aptos"/>
              </a:rPr>
              <a:t>Imagem 224 × 224</a:t>
            </a:r>
            <a:endParaRPr b="0" lang="pt-BR" sz="1200" spc="-1" strike="noStrike">
              <a:solidFill>
                <a:srgbClr val="000000"/>
              </a:solidFill>
              <a:latin typeface="Arial"/>
            </a:endParaRPr>
          </a:p>
          <a:p>
            <a:pPr algn="ctr" defTabSz="914400">
              <a:lnSpc>
                <a:spcPct val="100000"/>
              </a:lnSpc>
            </a:pPr>
            <a:r>
              <a:rPr b="0" lang="pt-BR" sz="1200" spc="-1" strike="noStrike">
                <a:solidFill>
                  <a:srgbClr val="1c2a39"/>
                </a:solidFill>
                <a:latin typeface="Aptos"/>
              </a:rPr>
              <a:t>Patches 16 × 16</a:t>
            </a:r>
            <a:endParaRPr b="0" lang="pt-BR" sz="1200" spc="-1" strike="noStrike">
              <a:solidFill>
                <a:srgbClr val="000000"/>
              </a:solidFill>
              <a:latin typeface="Arial"/>
            </a:endParaRPr>
          </a:p>
        </p:txBody>
      </p:sp>
      <p:cxnSp>
        <p:nvCxnSpPr>
          <p:cNvPr id="327" name="Vector_ExpArrow0"/>
          <p:cNvCxnSpPr/>
          <p:nvPr/>
        </p:nvCxnSpPr>
        <p:spPr>
          <a:xfrm>
            <a:off x="3008160" y="3401280"/>
            <a:ext cx="393840" cy="720"/>
          </a:xfrm>
          <a:prstGeom prst="straightConnector1">
            <a:avLst/>
          </a:prstGeom>
          <a:ln w="25400">
            <a:solidFill>
              <a:srgbClr val="0093dd"/>
            </a:solidFill>
            <a:round/>
          </a:ln>
        </p:spPr>
      </p:cxnSp>
      <p:sp>
        <p:nvSpPr>
          <p:cNvPr id="328" name="Vector_ExpCard1"/>
          <p:cNvSpPr/>
          <p:nvPr/>
        </p:nvSpPr>
        <p:spPr>
          <a:xfrm>
            <a:off x="3493080" y="2148840"/>
            <a:ext cx="2331000" cy="251388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29" name="Vector_ExpNum1"/>
          <p:cNvSpPr/>
          <p:nvPr/>
        </p:nvSpPr>
        <p:spPr>
          <a:xfrm>
            <a:off x="3639240" y="2360880"/>
            <a:ext cx="45648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093dd"/>
                </a:solidFill>
                <a:latin typeface="Aptos"/>
              </a:rPr>
              <a:t>2</a:t>
            </a:r>
            <a:endParaRPr b="0" lang="pt-BR" sz="1600" spc="-1" strike="noStrike">
              <a:solidFill>
                <a:srgbClr val="000000"/>
              </a:solidFill>
              <a:latin typeface="Arial"/>
            </a:endParaRPr>
          </a:p>
        </p:txBody>
      </p:sp>
      <p:sp>
        <p:nvSpPr>
          <p:cNvPr id="330" name="Vector_ExpTitle1"/>
          <p:cNvSpPr/>
          <p:nvPr/>
        </p:nvSpPr>
        <p:spPr>
          <a:xfrm>
            <a:off x="4087440" y="2208600"/>
            <a:ext cx="1599480" cy="57528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800" spc="-1" strike="noStrike">
                <a:solidFill>
                  <a:srgbClr val="0d1f3a"/>
                </a:solidFill>
                <a:latin typeface="Aptos"/>
              </a:rPr>
              <a:t>Taxas testadas</a:t>
            </a:r>
            <a:endParaRPr b="0" lang="pt-BR" sz="1800" spc="-1" strike="noStrike">
              <a:solidFill>
                <a:srgbClr val="000000"/>
              </a:solidFill>
              <a:latin typeface="Arial"/>
            </a:endParaRPr>
          </a:p>
        </p:txBody>
      </p:sp>
      <p:sp>
        <p:nvSpPr>
          <p:cNvPr id="331" name="Vector_RatioChip1_0"/>
          <p:cNvSpPr/>
          <p:nvPr/>
        </p:nvSpPr>
        <p:spPr>
          <a:xfrm>
            <a:off x="3703320" y="2853000"/>
            <a:ext cx="831240" cy="456480"/>
          </a:xfrm>
          <a:prstGeom prst="roundRect">
            <a:avLst>
              <a:gd name="adj" fmla="val 16667"/>
            </a:avLst>
          </a:prstGeom>
          <a:solidFill>
            <a:srgbClr val="f1f7fb"/>
          </a:solidFill>
          <a:ln w="13970">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32" name="Vector_RatioText1_0"/>
          <p:cNvSpPr/>
          <p:nvPr/>
        </p:nvSpPr>
        <p:spPr>
          <a:xfrm>
            <a:off x="3703320" y="2953800"/>
            <a:ext cx="831240" cy="2552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500" spc="-1" strike="noStrike">
                <a:solidFill>
                  <a:srgbClr val="0d1f3a"/>
                </a:solidFill>
                <a:latin typeface="Aptos"/>
              </a:rPr>
              <a:t>25%</a:t>
            </a:r>
            <a:endParaRPr b="0" lang="pt-BR" sz="1500" spc="-1" strike="noStrike">
              <a:solidFill>
                <a:srgbClr val="000000"/>
              </a:solidFill>
              <a:latin typeface="Arial"/>
            </a:endParaRPr>
          </a:p>
        </p:txBody>
      </p:sp>
      <p:sp>
        <p:nvSpPr>
          <p:cNvPr id="333" name="Vector_RatioChip1_1"/>
          <p:cNvSpPr/>
          <p:nvPr/>
        </p:nvSpPr>
        <p:spPr>
          <a:xfrm>
            <a:off x="4663440" y="2853000"/>
            <a:ext cx="831240" cy="456480"/>
          </a:xfrm>
          <a:prstGeom prst="roundRect">
            <a:avLst>
              <a:gd name="adj" fmla="val 16667"/>
            </a:avLst>
          </a:prstGeom>
          <a:solidFill>
            <a:srgbClr val="f1f7fb"/>
          </a:solidFill>
          <a:ln w="13970">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34" name="Vector_RatioText1_1"/>
          <p:cNvSpPr/>
          <p:nvPr/>
        </p:nvSpPr>
        <p:spPr>
          <a:xfrm>
            <a:off x="4663440" y="2953800"/>
            <a:ext cx="831240" cy="2552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500" spc="-1" strike="noStrike">
                <a:solidFill>
                  <a:srgbClr val="0d1f3a"/>
                </a:solidFill>
                <a:latin typeface="Aptos"/>
              </a:rPr>
              <a:t>50%</a:t>
            </a:r>
            <a:endParaRPr b="0" lang="pt-BR" sz="1500" spc="-1" strike="noStrike">
              <a:solidFill>
                <a:srgbClr val="000000"/>
              </a:solidFill>
              <a:latin typeface="Arial"/>
            </a:endParaRPr>
          </a:p>
        </p:txBody>
      </p:sp>
      <p:sp>
        <p:nvSpPr>
          <p:cNvPr id="335" name="Vector_RatioChip1_2"/>
          <p:cNvSpPr/>
          <p:nvPr/>
        </p:nvSpPr>
        <p:spPr>
          <a:xfrm>
            <a:off x="3703320" y="3456360"/>
            <a:ext cx="831240" cy="456480"/>
          </a:xfrm>
          <a:prstGeom prst="roundRect">
            <a:avLst>
              <a:gd name="adj" fmla="val 16667"/>
            </a:avLst>
          </a:prstGeom>
          <a:solidFill>
            <a:srgbClr val="f1f7fb"/>
          </a:solidFill>
          <a:ln w="13970">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36" name="Vector_RatioText1_2"/>
          <p:cNvSpPr/>
          <p:nvPr/>
        </p:nvSpPr>
        <p:spPr>
          <a:xfrm>
            <a:off x="3703320" y="3557160"/>
            <a:ext cx="831240" cy="2552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500" spc="-1" strike="noStrike">
                <a:solidFill>
                  <a:srgbClr val="0d1f3a"/>
                </a:solidFill>
                <a:latin typeface="Aptos"/>
              </a:rPr>
              <a:t>75%</a:t>
            </a:r>
            <a:endParaRPr b="0" lang="pt-BR" sz="1500" spc="-1" strike="noStrike">
              <a:solidFill>
                <a:srgbClr val="000000"/>
              </a:solidFill>
              <a:latin typeface="Arial"/>
            </a:endParaRPr>
          </a:p>
        </p:txBody>
      </p:sp>
      <p:sp>
        <p:nvSpPr>
          <p:cNvPr id="337" name="Vector_RatioChip1_3"/>
          <p:cNvSpPr/>
          <p:nvPr/>
        </p:nvSpPr>
        <p:spPr>
          <a:xfrm>
            <a:off x="4663440" y="3456360"/>
            <a:ext cx="831240" cy="456480"/>
          </a:xfrm>
          <a:prstGeom prst="roundRect">
            <a:avLst>
              <a:gd name="adj" fmla="val 16667"/>
            </a:avLst>
          </a:prstGeom>
          <a:solidFill>
            <a:srgbClr val="f1f7fb"/>
          </a:solidFill>
          <a:ln w="13970">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38" name="Vector_RatioText1_3"/>
          <p:cNvSpPr/>
          <p:nvPr/>
        </p:nvSpPr>
        <p:spPr>
          <a:xfrm>
            <a:off x="4663440" y="3557160"/>
            <a:ext cx="831240" cy="25524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500" spc="-1" strike="noStrike">
                <a:solidFill>
                  <a:srgbClr val="0d1f3a"/>
                </a:solidFill>
                <a:latin typeface="Aptos"/>
              </a:rPr>
              <a:t>90%</a:t>
            </a:r>
            <a:endParaRPr b="0" lang="pt-BR" sz="1500" spc="-1" strike="noStrike">
              <a:solidFill>
                <a:srgbClr val="000000"/>
              </a:solidFill>
              <a:latin typeface="Arial"/>
            </a:endParaRPr>
          </a:p>
        </p:txBody>
      </p:sp>
      <p:sp>
        <p:nvSpPr>
          <p:cNvPr id="339" name="Vector_ExpDesc1"/>
          <p:cNvSpPr/>
          <p:nvPr/>
        </p:nvSpPr>
        <p:spPr>
          <a:xfrm>
            <a:off x="3675960" y="4032720"/>
            <a:ext cx="1965240" cy="392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200" spc="-1" strike="noStrike">
                <a:solidFill>
                  <a:srgbClr val="1c2a39"/>
                </a:solidFill>
                <a:latin typeface="Aptos"/>
              </a:rPr>
              <a:t>Quatro condições comparadas</a:t>
            </a:r>
            <a:endParaRPr b="0" lang="pt-BR" sz="1200" spc="-1" strike="noStrike">
              <a:solidFill>
                <a:srgbClr val="000000"/>
              </a:solidFill>
              <a:latin typeface="Arial"/>
            </a:endParaRPr>
          </a:p>
        </p:txBody>
      </p:sp>
      <p:cxnSp>
        <p:nvCxnSpPr>
          <p:cNvPr id="340" name="Vector_ExpArrow1"/>
          <p:cNvCxnSpPr/>
          <p:nvPr/>
        </p:nvCxnSpPr>
        <p:spPr>
          <a:xfrm>
            <a:off x="5879520" y="3401280"/>
            <a:ext cx="393840" cy="720"/>
          </a:xfrm>
          <a:prstGeom prst="straightConnector1">
            <a:avLst/>
          </a:prstGeom>
          <a:ln w="25400">
            <a:solidFill>
              <a:srgbClr val="0093dd"/>
            </a:solidFill>
            <a:round/>
          </a:ln>
        </p:spPr>
      </p:cxnSp>
      <p:sp>
        <p:nvSpPr>
          <p:cNvPr id="341" name="Vector_ExpCard2"/>
          <p:cNvSpPr/>
          <p:nvPr/>
        </p:nvSpPr>
        <p:spPr>
          <a:xfrm>
            <a:off x="6364080" y="2148840"/>
            <a:ext cx="2331000" cy="251388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42" name="Vector_ExpNum2"/>
          <p:cNvSpPr/>
          <p:nvPr/>
        </p:nvSpPr>
        <p:spPr>
          <a:xfrm>
            <a:off x="6510600" y="2360880"/>
            <a:ext cx="45648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0093dd"/>
                </a:solidFill>
                <a:latin typeface="Aptos"/>
              </a:rPr>
              <a:t>3</a:t>
            </a:r>
            <a:endParaRPr b="0" lang="pt-BR" sz="1600" spc="-1" strike="noStrike">
              <a:solidFill>
                <a:srgbClr val="000000"/>
              </a:solidFill>
              <a:latin typeface="Arial"/>
            </a:endParaRPr>
          </a:p>
        </p:txBody>
      </p:sp>
      <p:sp>
        <p:nvSpPr>
          <p:cNvPr id="343" name="Vector_ExpTitle2"/>
          <p:cNvSpPr/>
          <p:nvPr/>
        </p:nvSpPr>
        <p:spPr>
          <a:xfrm>
            <a:off x="6958440" y="2345760"/>
            <a:ext cx="1599480" cy="30096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800" spc="-1" strike="noStrike">
                <a:solidFill>
                  <a:srgbClr val="0d1f3a"/>
                </a:solidFill>
                <a:latin typeface="Aptos"/>
              </a:rPr>
              <a:t>MAE</a:t>
            </a:r>
            <a:endParaRPr b="0" lang="pt-BR" sz="1800" spc="-1" strike="noStrike">
              <a:solidFill>
                <a:srgbClr val="000000"/>
              </a:solidFill>
              <a:latin typeface="Arial"/>
            </a:endParaRPr>
          </a:p>
        </p:txBody>
      </p:sp>
      <p:sp>
        <p:nvSpPr>
          <p:cNvPr id="344" name="Vector_ExpEncoder"/>
          <p:cNvSpPr/>
          <p:nvPr/>
        </p:nvSpPr>
        <p:spPr>
          <a:xfrm>
            <a:off x="6546960" y="2926080"/>
            <a:ext cx="913680" cy="593640"/>
          </a:xfrm>
          <a:prstGeom prst="roundRect">
            <a:avLst>
              <a:gd name="adj" fmla="val 16667"/>
            </a:avLst>
          </a:prstGeom>
          <a:solidFill>
            <a:srgbClr val="f1f7fb"/>
          </a:solidFill>
          <a:ln w="13970">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45" name="Vector_ExpEncoderText"/>
          <p:cNvSpPr/>
          <p:nvPr/>
        </p:nvSpPr>
        <p:spPr>
          <a:xfrm>
            <a:off x="6583680" y="3110760"/>
            <a:ext cx="84060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300" spc="-1" strike="noStrike">
                <a:solidFill>
                  <a:srgbClr val="0d1f3a"/>
                </a:solidFill>
                <a:latin typeface="Aptos"/>
              </a:rPr>
              <a:t>Encoder</a:t>
            </a:r>
            <a:endParaRPr b="0" lang="pt-BR" sz="1300" spc="-1" strike="noStrike">
              <a:solidFill>
                <a:srgbClr val="000000"/>
              </a:solidFill>
              <a:latin typeface="Arial"/>
            </a:endParaRPr>
          </a:p>
        </p:txBody>
      </p:sp>
      <p:sp>
        <p:nvSpPr>
          <p:cNvPr id="346" name="Vector_ExpDecoder"/>
          <p:cNvSpPr/>
          <p:nvPr/>
        </p:nvSpPr>
        <p:spPr>
          <a:xfrm>
            <a:off x="7598520" y="2926080"/>
            <a:ext cx="913680" cy="593640"/>
          </a:xfrm>
          <a:prstGeom prst="roundRect">
            <a:avLst>
              <a:gd name="adj" fmla="val 16667"/>
            </a:avLst>
          </a:prstGeom>
          <a:solidFill>
            <a:srgbClr val="f1f7fb"/>
          </a:solidFill>
          <a:ln w="1397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47" name="Vector_ExpDecoderText"/>
          <p:cNvSpPr/>
          <p:nvPr/>
        </p:nvSpPr>
        <p:spPr>
          <a:xfrm>
            <a:off x="7635240" y="3110760"/>
            <a:ext cx="840600" cy="2250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300" spc="-1" strike="noStrike">
                <a:solidFill>
                  <a:srgbClr val="0d1f3a"/>
                </a:solidFill>
                <a:latin typeface="Aptos"/>
              </a:rPr>
              <a:t>Decoder</a:t>
            </a:r>
            <a:endParaRPr b="0" lang="pt-BR" sz="1300" spc="-1" strike="noStrike">
              <a:solidFill>
                <a:srgbClr val="000000"/>
              </a:solidFill>
              <a:latin typeface="Arial"/>
            </a:endParaRPr>
          </a:p>
        </p:txBody>
      </p:sp>
      <p:cxnSp>
        <p:nvCxnSpPr>
          <p:cNvPr id="348" name="Vector_ExpModelArrow"/>
          <p:cNvCxnSpPr/>
          <p:nvPr/>
        </p:nvCxnSpPr>
        <p:spPr>
          <a:xfrm>
            <a:off x="7479720" y="3227760"/>
            <a:ext cx="92160" cy="720"/>
          </a:xfrm>
          <a:prstGeom prst="straightConnector1">
            <a:avLst/>
          </a:prstGeom>
          <a:ln w="20320">
            <a:solidFill>
              <a:srgbClr val="0093dd"/>
            </a:solidFill>
            <a:round/>
          </a:ln>
        </p:spPr>
      </p:cxnSp>
      <p:sp>
        <p:nvSpPr>
          <p:cNvPr id="349" name="Vector_ExpDesc2"/>
          <p:cNvSpPr/>
          <p:nvPr/>
        </p:nvSpPr>
        <p:spPr>
          <a:xfrm>
            <a:off x="6546960" y="3941280"/>
            <a:ext cx="1965240" cy="392400"/>
          </a:xfrm>
          <a:prstGeom prst="rect">
            <a:avLst/>
          </a:prstGeom>
          <a:noFill/>
          <a:ln w="0">
            <a:noFill/>
          </a:ln>
        </p:spPr>
        <p:style>
          <a:lnRef idx="0"/>
          <a:fillRef idx="0"/>
          <a:effectRef idx="0"/>
          <a:fontRef idx="minor"/>
        </p:style>
        <p:txBody>
          <a:bodyPr lIns="36720" rIns="36720" tIns="13680" bIns="13680" anchor="ctr">
            <a:spAutoFit/>
          </a:bodyPr>
          <a:p>
            <a:pPr>
              <a:lnSpc>
                <a:spcPct val="100000"/>
              </a:lnSpc>
            </a:pPr>
            <a:r>
              <a:rPr b="0" lang="pt-BR" sz="1200" spc="-1" strike="noStrike">
                <a:solidFill>
                  <a:srgbClr val="1c2a39"/>
                </a:solidFill>
                <a:latin typeface="Aptos"/>
              </a:rPr>
              <a:t>Encoder vê patches</a:t>
            </a:r>
            <a:endParaRPr b="0" lang="pt-BR" sz="1200" spc="-1" strike="noStrike">
              <a:solidFill>
                <a:srgbClr val="000000"/>
              </a:solidFill>
              <a:latin typeface="Arial"/>
            </a:endParaRPr>
          </a:p>
          <a:p>
            <a:pPr algn="ctr" defTabSz="914400">
              <a:lnSpc>
                <a:spcPct val="100000"/>
              </a:lnSpc>
            </a:pPr>
            <a:r>
              <a:rPr b="0" lang="pt-BR" sz="1200" spc="-1" strike="noStrike">
                <a:solidFill>
                  <a:srgbClr val="1c2a39"/>
                </a:solidFill>
                <a:latin typeface="Aptos"/>
              </a:rPr>
              <a:t>visíveis; decoder prevê</a:t>
            </a:r>
            <a:endParaRPr b="0" lang="pt-BR" sz="1200" spc="-1" strike="noStrike">
              <a:solidFill>
                <a:srgbClr val="000000"/>
              </a:solidFill>
              <a:latin typeface="Arial"/>
            </a:endParaRPr>
          </a:p>
        </p:txBody>
      </p:sp>
      <p:cxnSp>
        <p:nvCxnSpPr>
          <p:cNvPr id="350" name="Vector_ExpArrow2"/>
          <p:cNvCxnSpPr/>
          <p:nvPr/>
        </p:nvCxnSpPr>
        <p:spPr>
          <a:xfrm>
            <a:off x="8750520" y="3401280"/>
            <a:ext cx="394200" cy="720"/>
          </a:xfrm>
          <a:prstGeom prst="straightConnector1">
            <a:avLst/>
          </a:prstGeom>
          <a:ln w="25400">
            <a:solidFill>
              <a:srgbClr val="0093dd"/>
            </a:solidFill>
            <a:round/>
          </a:ln>
        </p:spPr>
      </p:cxnSp>
      <p:sp>
        <p:nvSpPr>
          <p:cNvPr id="351" name="Vector_ExpCard3"/>
          <p:cNvSpPr/>
          <p:nvPr/>
        </p:nvSpPr>
        <p:spPr>
          <a:xfrm>
            <a:off x="9235440" y="2148840"/>
            <a:ext cx="2331000" cy="2513880"/>
          </a:xfrm>
          <a:prstGeom prst="roundRect">
            <a:avLst>
              <a:gd name="adj" fmla="val 16667"/>
            </a:avLst>
          </a:prstGeom>
          <a:solidFill>
            <a:srgbClr val="ffffff"/>
          </a:solidFill>
          <a:ln w="13970">
            <a:solidFill>
              <a:srgbClr val="e1ebf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pt-BR" sz="1800" spc="-1" strike="noStrike">
              <a:solidFill>
                <a:schemeClr val="lt1"/>
              </a:solidFill>
              <a:latin typeface="Aptos"/>
            </a:endParaRPr>
          </a:p>
        </p:txBody>
      </p:sp>
      <p:sp>
        <p:nvSpPr>
          <p:cNvPr id="352" name="Vector_ExpNum3"/>
          <p:cNvSpPr/>
          <p:nvPr/>
        </p:nvSpPr>
        <p:spPr>
          <a:xfrm>
            <a:off x="9381600" y="2360880"/>
            <a:ext cx="456480" cy="27036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600" spc="-1" strike="noStrike">
                <a:solidFill>
                  <a:srgbClr val="f27060"/>
                </a:solidFill>
                <a:latin typeface="Aptos"/>
              </a:rPr>
              <a:t>4</a:t>
            </a:r>
            <a:endParaRPr b="0" lang="pt-BR" sz="1600" spc="-1" strike="noStrike">
              <a:solidFill>
                <a:srgbClr val="000000"/>
              </a:solidFill>
              <a:latin typeface="Arial"/>
            </a:endParaRPr>
          </a:p>
        </p:txBody>
      </p:sp>
      <p:sp>
        <p:nvSpPr>
          <p:cNvPr id="353" name="Vector_ExpTitle3"/>
          <p:cNvSpPr/>
          <p:nvPr/>
        </p:nvSpPr>
        <p:spPr>
          <a:xfrm>
            <a:off x="9829800" y="2345760"/>
            <a:ext cx="1599480" cy="300960"/>
          </a:xfrm>
          <a:prstGeom prst="rect">
            <a:avLst/>
          </a:prstGeom>
          <a:noFill/>
          <a:ln w="0">
            <a:noFill/>
          </a:ln>
        </p:spPr>
        <p:style>
          <a:lnRef idx="0"/>
          <a:fillRef idx="0"/>
          <a:effectRef idx="0"/>
          <a:fontRef idx="minor"/>
        </p:style>
        <p:txBody>
          <a:bodyPr lIns="36720" rIns="36720" tIns="13680" bIns="13680" anchor="ctr">
            <a:spAutoFit/>
          </a:bodyPr>
          <a:p>
            <a:pPr defTabSz="914400">
              <a:lnSpc>
                <a:spcPct val="100000"/>
              </a:lnSpc>
            </a:pPr>
            <a:r>
              <a:rPr b="1" lang="pt-BR" sz="1800" spc="-1" strike="noStrike">
                <a:solidFill>
                  <a:srgbClr val="0d1f3a"/>
                </a:solidFill>
                <a:latin typeface="Aptos"/>
              </a:rPr>
              <a:t>Avaliação</a:t>
            </a:r>
            <a:endParaRPr b="0" lang="pt-BR" sz="1800" spc="-1" strike="noStrike">
              <a:solidFill>
                <a:srgbClr val="000000"/>
              </a:solidFill>
              <a:latin typeface="Arial"/>
            </a:endParaRPr>
          </a:p>
        </p:txBody>
      </p:sp>
      <p:sp>
        <p:nvSpPr>
          <p:cNvPr id="354" name="Vector_MSEsymbol"/>
          <p:cNvSpPr/>
          <p:nvPr/>
        </p:nvSpPr>
        <p:spPr>
          <a:xfrm>
            <a:off x="9491400" y="3003840"/>
            <a:ext cx="1819080" cy="392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2400" spc="-1" strike="noStrike">
                <a:solidFill>
                  <a:srgbClr val="f27060"/>
                </a:solidFill>
                <a:latin typeface="Aptos"/>
              </a:rPr>
              <a:t>MSE</a:t>
            </a:r>
            <a:endParaRPr b="0" lang="pt-BR" sz="2400" spc="-1" strike="noStrike">
              <a:solidFill>
                <a:srgbClr val="000000"/>
              </a:solidFill>
              <a:latin typeface="Arial"/>
            </a:endParaRPr>
          </a:p>
        </p:txBody>
      </p:sp>
      <p:sp>
        <p:nvSpPr>
          <p:cNvPr id="355" name="Vector_MaskedOnly"/>
          <p:cNvSpPr/>
          <p:nvPr/>
        </p:nvSpPr>
        <p:spPr>
          <a:xfrm>
            <a:off x="9491400" y="3569400"/>
            <a:ext cx="1819080" cy="194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1" lang="pt-BR" sz="1100" spc="-1" strike="noStrike">
                <a:solidFill>
                  <a:srgbClr val="5c6b7a"/>
                </a:solidFill>
                <a:latin typeface="Aptos"/>
              </a:rPr>
              <a:t>somente nos ocultos</a:t>
            </a:r>
            <a:endParaRPr b="0" lang="pt-BR" sz="1100" spc="-1" strike="noStrike">
              <a:solidFill>
                <a:srgbClr val="000000"/>
              </a:solidFill>
              <a:latin typeface="Arial"/>
            </a:endParaRPr>
          </a:p>
        </p:txBody>
      </p:sp>
      <p:sp>
        <p:nvSpPr>
          <p:cNvPr id="356" name="Vector_ExpDesc3"/>
          <p:cNvSpPr/>
          <p:nvPr/>
        </p:nvSpPr>
        <p:spPr>
          <a:xfrm>
            <a:off x="9418320" y="3941280"/>
            <a:ext cx="1965240" cy="392400"/>
          </a:xfrm>
          <a:prstGeom prst="rect">
            <a:avLst/>
          </a:prstGeom>
          <a:noFill/>
          <a:ln w="0">
            <a:noFill/>
          </a:ln>
        </p:spPr>
        <p:style>
          <a:lnRef idx="0"/>
          <a:fillRef idx="0"/>
          <a:effectRef idx="0"/>
          <a:fontRef idx="minor"/>
        </p:style>
        <p:txBody>
          <a:bodyPr lIns="36720" rIns="36720" tIns="13680" bIns="13680" anchor="ctr">
            <a:spAutoFit/>
          </a:bodyPr>
          <a:p>
            <a:pPr algn="ctr" defTabSz="914400">
              <a:lnSpc>
                <a:spcPct val="100000"/>
              </a:lnSpc>
            </a:pPr>
            <a:r>
              <a:rPr b="0" lang="pt-BR" sz="1200" spc="-1" strike="noStrike">
                <a:solidFill>
                  <a:srgbClr val="1c2a39"/>
                </a:solidFill>
                <a:latin typeface="Aptos"/>
              </a:rPr>
              <a:t>Compara alvo e reconstrução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r>
              <a:rPr b="1" lang="pt-BR" sz="2400" spc="-1" strike="noStrike">
                <a:solidFill>
                  <a:schemeClr val="dk1"/>
                </a:solidFill>
                <a:latin typeface="Aptos"/>
              </a:rPr>
              <a:t>Resultados Visuais</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pic>
        <p:nvPicPr>
          <p:cNvPr id="358" name="Imagem 4" descr=""/>
          <p:cNvPicPr/>
          <p:nvPr/>
        </p:nvPicPr>
        <p:blipFill>
          <a:blip r:embed="rId1"/>
          <a:stretch/>
        </p:blipFill>
        <p:spPr>
          <a:xfrm>
            <a:off x="1996560" y="1441080"/>
            <a:ext cx="7177320" cy="4586040"/>
          </a:xfrm>
          <a:prstGeom prst="rect">
            <a:avLst/>
          </a:prstGeom>
          <a:ln w="0">
            <a:noFill/>
          </a:ln>
        </p:spPr>
      </p:pic>
      <p:sp>
        <p:nvSpPr>
          <p:cNvPr id="359" name="Rectangle 5"/>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nSpc>
                <a:spcPct val="100000"/>
              </a:lnSpc>
            </a:pPr>
            <a:endParaRPr b="0" lang="pt-BR" sz="1800" spc="-1" strike="noStrike">
              <a:solidFill>
                <a:schemeClr val="lt1"/>
              </a:solidFill>
              <a:latin typeface="Aptos"/>
            </a:endParaRPr>
          </a:p>
        </p:txBody>
      </p:sp>
      <p:sp>
        <p:nvSpPr>
          <p:cNvPr id="360"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Resultados do experimento apresentado.</a:t>
            </a:r>
            <a:endParaRPr b="0" lang="pt-BR" sz="850" spc="-1" strike="noStrike">
              <a:solidFill>
                <a:srgbClr val="ffffff"/>
              </a:solidFill>
              <a:latin typeface="Arial"/>
            </a:endParaRPr>
          </a:p>
        </p:txBody>
      </p:sp>
      <p:sp>
        <p:nvSpPr>
          <p:cNvPr id="361" name="TextBox 7"/>
          <p:cNvSpPr/>
          <p:nvPr/>
        </p:nvSpPr>
        <p:spPr>
          <a:xfrm>
            <a:off x="11623320" y="6519600"/>
            <a:ext cx="11556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15</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r>
              <a:rPr b="1" lang="pt-BR" sz="2400" spc="-1" strike="noStrike">
                <a:solidFill>
                  <a:schemeClr val="dk1"/>
                </a:solidFill>
                <a:latin typeface="Aptos"/>
              </a:rPr>
              <a:t>Resultados Quantitativos</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pic>
        <p:nvPicPr>
          <p:cNvPr id="363" name="Imagem 1" descr=""/>
          <p:cNvPicPr/>
          <p:nvPr/>
        </p:nvPicPr>
        <p:blipFill>
          <a:blip r:embed="rId1"/>
          <a:stretch/>
        </p:blipFill>
        <p:spPr>
          <a:xfrm>
            <a:off x="3287880" y="1554480"/>
            <a:ext cx="5615640" cy="3748680"/>
          </a:xfrm>
          <a:prstGeom prst="rect">
            <a:avLst/>
          </a:prstGeom>
          <a:ln w="0">
            <a:noFill/>
          </a:ln>
        </p:spPr>
      </p:pic>
      <p:sp>
        <p:nvSpPr>
          <p:cNvPr id="364" name="Rectangle 1"/>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nSpc>
                <a:spcPct val="100000"/>
              </a:lnSpc>
            </a:pPr>
            <a:endParaRPr b="0" lang="pt-BR" sz="1800" spc="-1" strike="noStrike">
              <a:solidFill>
                <a:schemeClr val="lt1"/>
              </a:solidFill>
              <a:latin typeface="Aptos"/>
            </a:endParaRPr>
          </a:p>
        </p:txBody>
      </p:sp>
      <p:sp>
        <p:nvSpPr>
          <p:cNvPr id="365" name="Rectangle 2"/>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Resultados do experimento apresentado.</a:t>
            </a:r>
            <a:endParaRPr b="0" lang="pt-BR" sz="850" spc="-1" strike="noStrike">
              <a:solidFill>
                <a:srgbClr val="ffffff"/>
              </a:solidFill>
              <a:latin typeface="Arial"/>
            </a:endParaRPr>
          </a:p>
        </p:txBody>
      </p:sp>
      <p:sp>
        <p:nvSpPr>
          <p:cNvPr id="366" name="TextBox 4"/>
          <p:cNvSpPr/>
          <p:nvPr/>
        </p:nvSpPr>
        <p:spPr>
          <a:xfrm>
            <a:off x="11623320" y="6519600"/>
            <a:ext cx="11556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16</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TextBox 1"/>
          <p:cNvSpPr/>
          <p:nvPr/>
        </p:nvSpPr>
        <p:spPr>
          <a:xfrm>
            <a:off x="567000" y="502920"/>
            <a:ext cx="11017800" cy="20412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100" spc="-1" strike="noStrike">
                <a:solidFill>
                  <a:srgbClr val="0093dd"/>
                </a:solidFill>
                <a:latin typeface="Aptos"/>
              </a:rPr>
              <a:t>EXPERIMENTO PRÓPRIO • CIFAR-10</a:t>
            </a:r>
            <a:endParaRPr b="0" lang="pt-BR" sz="1100" spc="-1" strike="noStrike">
              <a:solidFill>
                <a:srgbClr val="000000"/>
              </a:solidFill>
              <a:latin typeface="Arial"/>
            </a:endParaRPr>
          </a:p>
        </p:txBody>
      </p:sp>
      <p:sp>
        <p:nvSpPr>
          <p:cNvPr id="368" name="TextBox 2"/>
          <p:cNvSpPr/>
          <p:nvPr/>
        </p:nvSpPr>
        <p:spPr>
          <a:xfrm>
            <a:off x="567000" y="804600"/>
            <a:ext cx="11063520" cy="4172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2500" spc="-1" strike="noStrike">
                <a:solidFill>
                  <a:srgbClr val="0d1f3a"/>
                </a:solidFill>
                <a:latin typeface="Aptos"/>
              </a:rPr>
              <a:t>Protocolo: duas taxas de mascaramento</a:t>
            </a:r>
            <a:endParaRPr b="0" lang="pt-BR" sz="2500" spc="-1" strike="noStrike">
              <a:solidFill>
                <a:srgbClr val="000000"/>
              </a:solidFill>
              <a:latin typeface="Arial"/>
            </a:endParaRPr>
          </a:p>
        </p:txBody>
      </p:sp>
      <p:sp>
        <p:nvSpPr>
          <p:cNvPr id="369" name="TextBox 3"/>
          <p:cNvSpPr/>
          <p:nvPr/>
        </p:nvSpPr>
        <p:spPr>
          <a:xfrm>
            <a:off x="594360" y="1307520"/>
            <a:ext cx="11017800" cy="2498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400" spc="-1" strike="noStrike">
                <a:solidFill>
                  <a:srgbClr val="5c6b7a"/>
                </a:solidFill>
                <a:latin typeface="Aptos"/>
              </a:rPr>
              <a:t>Pergunta: como a proporção de patches ocultos se relaciona ao erro de reconstrução?</a:t>
            </a:r>
            <a:endParaRPr b="0" lang="pt-BR" sz="1400" spc="-1" strike="noStrike">
              <a:solidFill>
                <a:srgbClr val="000000"/>
              </a:solidFill>
              <a:latin typeface="Arial"/>
            </a:endParaRPr>
          </a:p>
        </p:txBody>
      </p:sp>
      <p:sp>
        <p:nvSpPr>
          <p:cNvPr id="370" name="Rectangle 4"/>
          <p:cNvSpPr/>
          <p:nvPr/>
        </p:nvSpPr>
        <p:spPr>
          <a:xfrm>
            <a:off x="0" y="6510600"/>
            <a:ext cx="12191040" cy="282600"/>
          </a:xfrm>
          <a:prstGeom prst="rect">
            <a:avLst/>
          </a:prstGeom>
          <a:solidFill>
            <a:srgbClr val="0d1f3a"/>
          </a:solidFill>
          <a:ln>
            <a:solidFill>
              <a:srgbClr val="0d1f3a"/>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71" name="TextBox 5"/>
          <p:cNvSpPr/>
          <p:nvPr/>
        </p:nvSpPr>
        <p:spPr>
          <a:xfrm>
            <a:off x="320040" y="6528960"/>
            <a:ext cx="10926360" cy="1659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850" spc="-1" strike="noStrike">
                <a:solidFill>
                  <a:srgbClr val="ffffff"/>
                </a:solidFill>
                <a:latin typeface="Aptos"/>
              </a:rPr>
              <a:t>Experimento próprio do seminário; protocolo e resultados não devem ser confundidos com o experimento complementar.</a:t>
            </a:r>
            <a:endParaRPr b="0" lang="pt-BR" sz="850" spc="-1" strike="noStrike">
              <a:solidFill>
                <a:srgbClr val="000000"/>
              </a:solidFill>
              <a:latin typeface="Arial"/>
            </a:endParaRPr>
          </a:p>
        </p:txBody>
      </p:sp>
      <p:sp>
        <p:nvSpPr>
          <p:cNvPr id="372" name="TextBox 6"/>
          <p:cNvSpPr/>
          <p:nvPr/>
        </p:nvSpPr>
        <p:spPr>
          <a:xfrm>
            <a:off x="11475720" y="6528960"/>
            <a:ext cx="410760" cy="158040"/>
          </a:xfrm>
          <a:prstGeom prst="rect">
            <a:avLst/>
          </a:prstGeom>
          <a:noFill/>
          <a:ln w="0">
            <a:noFill/>
          </a:ln>
        </p:spPr>
        <p:style>
          <a:lnRef idx="0"/>
          <a:fillRef idx="0"/>
          <a:effectRef idx="0"/>
          <a:fontRef idx="minor"/>
        </p:style>
        <p:txBody>
          <a:bodyPr lIns="18360" rIns="18360" tIns="18360" bIns="18360" anchor="t">
            <a:spAutoFit/>
          </a:bodyPr>
          <a:p>
            <a:pPr algn="r" defTabSz="914400">
              <a:lnSpc>
                <a:spcPct val="100000"/>
              </a:lnSpc>
            </a:pPr>
            <a:r>
              <a:rPr b="0" lang="pt-BR" sz="800" spc="-1" strike="noStrike">
                <a:solidFill>
                  <a:srgbClr val="0093dd"/>
                </a:solidFill>
                <a:latin typeface="Aptos"/>
              </a:rPr>
              <a:t>17</a:t>
            </a:r>
            <a:endParaRPr b="0" lang="pt-BR" sz="800" spc="-1" strike="noStrike">
              <a:solidFill>
                <a:srgbClr val="000000"/>
              </a:solidFill>
              <a:latin typeface="Arial"/>
            </a:endParaRPr>
          </a:p>
        </p:txBody>
      </p:sp>
      <p:sp>
        <p:nvSpPr>
          <p:cNvPr id="373" name="Rectangle 7"/>
          <p:cNvSpPr/>
          <p:nvPr/>
        </p:nvSpPr>
        <p:spPr>
          <a:xfrm>
            <a:off x="0" y="6793920"/>
            <a:ext cx="12191040" cy="63360"/>
          </a:xfrm>
          <a:prstGeom prst="rect">
            <a:avLst/>
          </a:prstGeom>
          <a:solidFill>
            <a:srgbClr val="0093dd"/>
          </a:solidFill>
          <a:ln>
            <a:solidFill>
              <a:srgbClr val="0093dd"/>
            </a:solid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374" name="Rounded Rectangle 8"/>
          <p:cNvSpPr/>
          <p:nvPr/>
        </p:nvSpPr>
        <p:spPr>
          <a:xfrm>
            <a:off x="621720" y="1856160"/>
            <a:ext cx="5330160" cy="2212200"/>
          </a:xfrm>
          <a:prstGeom prst="roundRect">
            <a:avLst>
              <a:gd name="adj" fmla="val 8000"/>
            </a:avLst>
          </a:prstGeom>
          <a:solidFill>
            <a:srgbClr val="ffffff"/>
          </a:solidFill>
          <a:ln w="15240">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75" name="TextBox 9"/>
          <p:cNvSpPr/>
          <p:nvPr/>
        </p:nvSpPr>
        <p:spPr>
          <a:xfrm>
            <a:off x="822960" y="2002680"/>
            <a:ext cx="4928040" cy="2955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700" spc="-1" strike="noStrike">
                <a:solidFill>
                  <a:srgbClr val="0d1f3a"/>
                </a:solidFill>
                <a:latin typeface="Aptos"/>
              </a:rPr>
              <a:t>Máscara 50%</a:t>
            </a:r>
            <a:endParaRPr b="0" lang="pt-BR" sz="1700" spc="-1" strike="noStrike">
              <a:solidFill>
                <a:srgbClr val="000000"/>
              </a:solidFill>
              <a:latin typeface="Arial"/>
            </a:endParaRPr>
          </a:p>
        </p:txBody>
      </p:sp>
      <p:sp>
        <p:nvSpPr>
          <p:cNvPr id="376" name="TextBox 10"/>
          <p:cNvSpPr/>
          <p:nvPr/>
        </p:nvSpPr>
        <p:spPr>
          <a:xfrm>
            <a:off x="2651760" y="2560320"/>
            <a:ext cx="3089880" cy="2955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700" spc="-1" strike="noStrike">
                <a:solidFill>
                  <a:srgbClr val="0d1f3a"/>
                </a:solidFill>
                <a:latin typeface="Aptos"/>
              </a:rPr>
              <a:t>8 de 16 patches visíveis</a:t>
            </a:r>
            <a:endParaRPr b="0" lang="pt-BR" sz="1700" spc="-1" strike="noStrike">
              <a:solidFill>
                <a:srgbClr val="000000"/>
              </a:solidFill>
              <a:latin typeface="Arial"/>
            </a:endParaRPr>
          </a:p>
        </p:txBody>
      </p:sp>
      <p:sp>
        <p:nvSpPr>
          <p:cNvPr id="377" name="TextBox 11"/>
          <p:cNvSpPr/>
          <p:nvPr/>
        </p:nvSpPr>
        <p:spPr>
          <a:xfrm>
            <a:off x="2651760" y="2935080"/>
            <a:ext cx="3089880" cy="2498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400" spc="-1" strike="noStrike">
                <a:solidFill>
                  <a:srgbClr val="5c6b7a"/>
                </a:solidFill>
                <a:latin typeface="Aptos"/>
              </a:rPr>
              <a:t>8 ocultos</a:t>
            </a:r>
            <a:endParaRPr b="0" lang="pt-BR" sz="1400" spc="-1" strike="noStrike">
              <a:solidFill>
                <a:srgbClr val="000000"/>
              </a:solidFill>
              <a:latin typeface="Arial"/>
            </a:endParaRPr>
          </a:p>
        </p:txBody>
      </p:sp>
      <p:sp>
        <p:nvSpPr>
          <p:cNvPr id="378" name="Rectangle 12"/>
          <p:cNvSpPr/>
          <p:nvPr/>
        </p:nvSpPr>
        <p:spPr>
          <a:xfrm>
            <a:off x="87768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79" name="Rectangle 13"/>
          <p:cNvSpPr/>
          <p:nvPr/>
        </p:nvSpPr>
        <p:spPr>
          <a:xfrm>
            <a:off x="123444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0" name="Rectangle 14"/>
          <p:cNvSpPr/>
          <p:nvPr/>
        </p:nvSpPr>
        <p:spPr>
          <a:xfrm>
            <a:off x="159120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1" name="Rectangle 15"/>
          <p:cNvSpPr/>
          <p:nvPr/>
        </p:nvSpPr>
        <p:spPr>
          <a:xfrm>
            <a:off x="194760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2" name="Rectangle 16"/>
          <p:cNvSpPr/>
          <p:nvPr/>
        </p:nvSpPr>
        <p:spPr>
          <a:xfrm>
            <a:off x="877680" y="280728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3" name="Rectangle 17"/>
          <p:cNvSpPr/>
          <p:nvPr/>
        </p:nvSpPr>
        <p:spPr>
          <a:xfrm>
            <a:off x="1234440" y="280728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4" name="Rectangle 18"/>
          <p:cNvSpPr/>
          <p:nvPr/>
        </p:nvSpPr>
        <p:spPr>
          <a:xfrm>
            <a:off x="1591200" y="280728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5" name="Rectangle 19"/>
          <p:cNvSpPr/>
          <p:nvPr/>
        </p:nvSpPr>
        <p:spPr>
          <a:xfrm>
            <a:off x="1947600" y="280728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6" name="Rectangle 20"/>
          <p:cNvSpPr/>
          <p:nvPr/>
        </p:nvSpPr>
        <p:spPr>
          <a:xfrm>
            <a:off x="87768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7" name="TextBox 21"/>
          <p:cNvSpPr/>
          <p:nvPr/>
        </p:nvSpPr>
        <p:spPr>
          <a:xfrm>
            <a:off x="87768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388" name="Rectangle 22"/>
          <p:cNvSpPr/>
          <p:nvPr/>
        </p:nvSpPr>
        <p:spPr>
          <a:xfrm>
            <a:off x="123444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89" name="TextBox 23"/>
          <p:cNvSpPr/>
          <p:nvPr/>
        </p:nvSpPr>
        <p:spPr>
          <a:xfrm>
            <a:off x="123444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390" name="Rectangle 24"/>
          <p:cNvSpPr/>
          <p:nvPr/>
        </p:nvSpPr>
        <p:spPr>
          <a:xfrm>
            <a:off x="159120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91" name="TextBox 25"/>
          <p:cNvSpPr/>
          <p:nvPr/>
        </p:nvSpPr>
        <p:spPr>
          <a:xfrm>
            <a:off x="159120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392" name="Rectangle 26"/>
          <p:cNvSpPr/>
          <p:nvPr/>
        </p:nvSpPr>
        <p:spPr>
          <a:xfrm>
            <a:off x="194760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93" name="TextBox 27"/>
          <p:cNvSpPr/>
          <p:nvPr/>
        </p:nvSpPr>
        <p:spPr>
          <a:xfrm>
            <a:off x="194760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394" name="Rectangle 28"/>
          <p:cNvSpPr/>
          <p:nvPr/>
        </p:nvSpPr>
        <p:spPr>
          <a:xfrm>
            <a:off x="87768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95" name="TextBox 29"/>
          <p:cNvSpPr/>
          <p:nvPr/>
        </p:nvSpPr>
        <p:spPr>
          <a:xfrm>
            <a:off x="87768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396" name="Rectangle 30"/>
          <p:cNvSpPr/>
          <p:nvPr/>
        </p:nvSpPr>
        <p:spPr>
          <a:xfrm>
            <a:off x="123444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97" name="TextBox 31"/>
          <p:cNvSpPr/>
          <p:nvPr/>
        </p:nvSpPr>
        <p:spPr>
          <a:xfrm>
            <a:off x="123444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398" name="Rectangle 32"/>
          <p:cNvSpPr/>
          <p:nvPr/>
        </p:nvSpPr>
        <p:spPr>
          <a:xfrm>
            <a:off x="159120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399" name="TextBox 33"/>
          <p:cNvSpPr/>
          <p:nvPr/>
        </p:nvSpPr>
        <p:spPr>
          <a:xfrm>
            <a:off x="159120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00" name="Rectangle 34"/>
          <p:cNvSpPr/>
          <p:nvPr/>
        </p:nvSpPr>
        <p:spPr>
          <a:xfrm>
            <a:off x="194760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01" name="TextBox 35"/>
          <p:cNvSpPr/>
          <p:nvPr/>
        </p:nvSpPr>
        <p:spPr>
          <a:xfrm>
            <a:off x="194760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02" name="TextBox 36"/>
          <p:cNvSpPr/>
          <p:nvPr/>
        </p:nvSpPr>
        <p:spPr>
          <a:xfrm>
            <a:off x="2651760" y="3346560"/>
            <a:ext cx="3089880" cy="21168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150" spc="-1" strike="noStrike">
                <a:solidFill>
                  <a:srgbClr val="5c6b7a"/>
                </a:solidFill>
                <a:latin typeface="Aptos"/>
              </a:rPr>
              <a:t>Cada quadrado = 1 patch.</a:t>
            </a:r>
            <a:endParaRPr b="0" lang="pt-BR" sz="1150" spc="-1" strike="noStrike">
              <a:solidFill>
                <a:srgbClr val="000000"/>
              </a:solidFill>
              <a:latin typeface="Arial"/>
            </a:endParaRPr>
          </a:p>
        </p:txBody>
      </p:sp>
      <p:sp>
        <p:nvSpPr>
          <p:cNvPr id="403" name="Rounded Rectangle 37"/>
          <p:cNvSpPr/>
          <p:nvPr/>
        </p:nvSpPr>
        <p:spPr>
          <a:xfrm>
            <a:off x="6236280" y="1856160"/>
            <a:ext cx="5330160" cy="2212200"/>
          </a:xfrm>
          <a:prstGeom prst="roundRect">
            <a:avLst>
              <a:gd name="adj" fmla="val 8000"/>
            </a:avLst>
          </a:prstGeom>
          <a:solidFill>
            <a:srgbClr val="ffffff"/>
          </a:solidFill>
          <a:ln w="15240">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04" name="TextBox 38"/>
          <p:cNvSpPr/>
          <p:nvPr/>
        </p:nvSpPr>
        <p:spPr>
          <a:xfrm>
            <a:off x="6437520" y="2002680"/>
            <a:ext cx="4928040" cy="2955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700" spc="-1" strike="noStrike">
                <a:solidFill>
                  <a:srgbClr val="0d1f3a"/>
                </a:solidFill>
                <a:latin typeface="Aptos"/>
              </a:rPr>
              <a:t>Máscara 75%</a:t>
            </a:r>
            <a:endParaRPr b="0" lang="pt-BR" sz="1700" spc="-1" strike="noStrike">
              <a:solidFill>
                <a:srgbClr val="000000"/>
              </a:solidFill>
              <a:latin typeface="Arial"/>
            </a:endParaRPr>
          </a:p>
        </p:txBody>
      </p:sp>
      <p:sp>
        <p:nvSpPr>
          <p:cNvPr id="405" name="TextBox 39"/>
          <p:cNvSpPr/>
          <p:nvPr/>
        </p:nvSpPr>
        <p:spPr>
          <a:xfrm>
            <a:off x="8266320" y="2560320"/>
            <a:ext cx="3089880" cy="2955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700" spc="-1" strike="noStrike">
                <a:solidFill>
                  <a:srgbClr val="0d1f3a"/>
                </a:solidFill>
                <a:latin typeface="Aptos"/>
              </a:rPr>
              <a:t>4 de 16 patches visíveis</a:t>
            </a:r>
            <a:endParaRPr b="0" lang="pt-BR" sz="1700" spc="-1" strike="noStrike">
              <a:solidFill>
                <a:srgbClr val="000000"/>
              </a:solidFill>
              <a:latin typeface="Arial"/>
            </a:endParaRPr>
          </a:p>
        </p:txBody>
      </p:sp>
      <p:sp>
        <p:nvSpPr>
          <p:cNvPr id="406" name="TextBox 40"/>
          <p:cNvSpPr/>
          <p:nvPr/>
        </p:nvSpPr>
        <p:spPr>
          <a:xfrm>
            <a:off x="8266320" y="2935080"/>
            <a:ext cx="3089880" cy="2498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400" spc="-1" strike="noStrike">
                <a:solidFill>
                  <a:srgbClr val="5c6b7a"/>
                </a:solidFill>
                <a:latin typeface="Aptos"/>
              </a:rPr>
              <a:t>12 ocultos</a:t>
            </a:r>
            <a:endParaRPr b="0" lang="pt-BR" sz="1400" spc="-1" strike="noStrike">
              <a:solidFill>
                <a:srgbClr val="000000"/>
              </a:solidFill>
              <a:latin typeface="Arial"/>
            </a:endParaRPr>
          </a:p>
        </p:txBody>
      </p:sp>
      <p:sp>
        <p:nvSpPr>
          <p:cNvPr id="407" name="Rectangle 41"/>
          <p:cNvSpPr/>
          <p:nvPr/>
        </p:nvSpPr>
        <p:spPr>
          <a:xfrm>
            <a:off x="649224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08" name="Rectangle 42"/>
          <p:cNvSpPr/>
          <p:nvPr/>
        </p:nvSpPr>
        <p:spPr>
          <a:xfrm>
            <a:off x="684900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09" name="Rectangle 43"/>
          <p:cNvSpPr/>
          <p:nvPr/>
        </p:nvSpPr>
        <p:spPr>
          <a:xfrm>
            <a:off x="720540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10" name="Rectangle 44"/>
          <p:cNvSpPr/>
          <p:nvPr/>
        </p:nvSpPr>
        <p:spPr>
          <a:xfrm>
            <a:off x="7562160" y="2450520"/>
            <a:ext cx="291960" cy="291960"/>
          </a:xfrm>
          <a:prstGeom prst="rect">
            <a:avLst/>
          </a:prstGeom>
          <a:solidFill>
            <a:srgbClr val="2b9d8f"/>
          </a:solidFill>
          <a:ln w="10160">
            <a:solidFill>
              <a:srgbClr val="2b9d8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11" name="Rectangle 45"/>
          <p:cNvSpPr/>
          <p:nvPr/>
        </p:nvSpPr>
        <p:spPr>
          <a:xfrm>
            <a:off x="6492240" y="28072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12" name="TextBox 46"/>
          <p:cNvSpPr/>
          <p:nvPr/>
        </p:nvSpPr>
        <p:spPr>
          <a:xfrm>
            <a:off x="6492240" y="287604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13" name="Rectangle 47"/>
          <p:cNvSpPr/>
          <p:nvPr/>
        </p:nvSpPr>
        <p:spPr>
          <a:xfrm>
            <a:off x="6849000" y="28072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14" name="TextBox 48"/>
          <p:cNvSpPr/>
          <p:nvPr/>
        </p:nvSpPr>
        <p:spPr>
          <a:xfrm>
            <a:off x="6849000" y="287604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15" name="Rectangle 49"/>
          <p:cNvSpPr/>
          <p:nvPr/>
        </p:nvSpPr>
        <p:spPr>
          <a:xfrm>
            <a:off x="7205400" y="28072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16" name="TextBox 50"/>
          <p:cNvSpPr/>
          <p:nvPr/>
        </p:nvSpPr>
        <p:spPr>
          <a:xfrm>
            <a:off x="7205400" y="287604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17" name="Rectangle 51"/>
          <p:cNvSpPr/>
          <p:nvPr/>
        </p:nvSpPr>
        <p:spPr>
          <a:xfrm>
            <a:off x="7562160" y="28072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18" name="TextBox 52"/>
          <p:cNvSpPr/>
          <p:nvPr/>
        </p:nvSpPr>
        <p:spPr>
          <a:xfrm>
            <a:off x="7562160" y="287604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19" name="Rectangle 53"/>
          <p:cNvSpPr/>
          <p:nvPr/>
        </p:nvSpPr>
        <p:spPr>
          <a:xfrm>
            <a:off x="649224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20" name="TextBox 54"/>
          <p:cNvSpPr/>
          <p:nvPr/>
        </p:nvSpPr>
        <p:spPr>
          <a:xfrm>
            <a:off x="649224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21" name="Rectangle 55"/>
          <p:cNvSpPr/>
          <p:nvPr/>
        </p:nvSpPr>
        <p:spPr>
          <a:xfrm>
            <a:off x="684900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22" name="TextBox 56"/>
          <p:cNvSpPr/>
          <p:nvPr/>
        </p:nvSpPr>
        <p:spPr>
          <a:xfrm>
            <a:off x="684900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23" name="Rectangle 57"/>
          <p:cNvSpPr/>
          <p:nvPr/>
        </p:nvSpPr>
        <p:spPr>
          <a:xfrm>
            <a:off x="720540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24" name="TextBox 58"/>
          <p:cNvSpPr/>
          <p:nvPr/>
        </p:nvSpPr>
        <p:spPr>
          <a:xfrm>
            <a:off x="720540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25" name="Rectangle 59"/>
          <p:cNvSpPr/>
          <p:nvPr/>
        </p:nvSpPr>
        <p:spPr>
          <a:xfrm>
            <a:off x="7562160" y="316368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26" name="TextBox 60"/>
          <p:cNvSpPr/>
          <p:nvPr/>
        </p:nvSpPr>
        <p:spPr>
          <a:xfrm>
            <a:off x="7562160" y="32328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27" name="Rectangle 61"/>
          <p:cNvSpPr/>
          <p:nvPr/>
        </p:nvSpPr>
        <p:spPr>
          <a:xfrm>
            <a:off x="649224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28" name="TextBox 62"/>
          <p:cNvSpPr/>
          <p:nvPr/>
        </p:nvSpPr>
        <p:spPr>
          <a:xfrm>
            <a:off x="649224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29" name="Rectangle 63"/>
          <p:cNvSpPr/>
          <p:nvPr/>
        </p:nvSpPr>
        <p:spPr>
          <a:xfrm>
            <a:off x="684900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30" name="TextBox 64"/>
          <p:cNvSpPr/>
          <p:nvPr/>
        </p:nvSpPr>
        <p:spPr>
          <a:xfrm>
            <a:off x="684900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31" name="Rectangle 65"/>
          <p:cNvSpPr/>
          <p:nvPr/>
        </p:nvSpPr>
        <p:spPr>
          <a:xfrm>
            <a:off x="720540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32" name="TextBox 66"/>
          <p:cNvSpPr/>
          <p:nvPr/>
        </p:nvSpPr>
        <p:spPr>
          <a:xfrm>
            <a:off x="720540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33" name="Rectangle 67"/>
          <p:cNvSpPr/>
          <p:nvPr/>
        </p:nvSpPr>
        <p:spPr>
          <a:xfrm>
            <a:off x="7562160" y="3520440"/>
            <a:ext cx="291960" cy="291960"/>
          </a:xfrm>
          <a:prstGeom prst="rect">
            <a:avLst/>
          </a:prstGeom>
          <a:solidFill>
            <a:srgbClr val="f9e8e5"/>
          </a:solidFill>
          <a:ln w="10160">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34" name="TextBox 68"/>
          <p:cNvSpPr/>
          <p:nvPr/>
        </p:nvSpPr>
        <p:spPr>
          <a:xfrm>
            <a:off x="7562160" y="3589200"/>
            <a:ext cx="291960" cy="1681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b="1" lang="pt-BR" sz="1100" spc="-1" strike="noStrike">
                <a:solidFill>
                  <a:srgbClr val="f27060"/>
                </a:solidFill>
                <a:latin typeface="Aptos"/>
              </a:rPr>
              <a:t>×</a:t>
            </a:r>
            <a:endParaRPr b="0" lang="pt-BR" sz="1100" spc="-1" strike="noStrike">
              <a:solidFill>
                <a:srgbClr val="000000"/>
              </a:solidFill>
              <a:latin typeface="Arial"/>
            </a:endParaRPr>
          </a:p>
        </p:txBody>
      </p:sp>
      <p:sp>
        <p:nvSpPr>
          <p:cNvPr id="435" name="TextBox 69"/>
          <p:cNvSpPr/>
          <p:nvPr/>
        </p:nvSpPr>
        <p:spPr>
          <a:xfrm>
            <a:off x="8266320" y="3346560"/>
            <a:ext cx="3089880" cy="21168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150" spc="-1" strike="noStrike">
                <a:solidFill>
                  <a:srgbClr val="5c6b7a"/>
                </a:solidFill>
                <a:latin typeface="Aptos"/>
              </a:rPr>
              <a:t>Cada quadrado = 1 patch.</a:t>
            </a:r>
            <a:endParaRPr b="0" lang="pt-BR" sz="1150" spc="-1" strike="noStrike">
              <a:solidFill>
                <a:srgbClr val="000000"/>
              </a:solidFill>
              <a:latin typeface="Arial"/>
            </a:endParaRPr>
          </a:p>
        </p:txBody>
      </p:sp>
      <p:sp>
        <p:nvSpPr>
          <p:cNvPr id="436" name="TextBox 70"/>
          <p:cNvSpPr/>
          <p:nvPr/>
        </p:nvSpPr>
        <p:spPr>
          <a:xfrm>
            <a:off x="713160" y="4370760"/>
            <a:ext cx="10880640" cy="28008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600" spc="-1" strike="noStrike">
                <a:solidFill>
                  <a:srgbClr val="0d1f3a"/>
                </a:solidFill>
                <a:latin typeface="Aptos"/>
              </a:rPr>
              <a:t>Configuração comum aos dois treinos</a:t>
            </a:r>
            <a:endParaRPr b="0" lang="pt-BR" sz="1600" spc="-1" strike="noStrike">
              <a:solidFill>
                <a:srgbClr val="000000"/>
              </a:solidFill>
              <a:latin typeface="Arial"/>
            </a:endParaRPr>
          </a:p>
        </p:txBody>
      </p:sp>
      <p:sp>
        <p:nvSpPr>
          <p:cNvPr id="437" name="Rounded Rectangle 71"/>
          <p:cNvSpPr/>
          <p:nvPr/>
        </p:nvSpPr>
        <p:spPr>
          <a:xfrm>
            <a:off x="621720" y="4736520"/>
            <a:ext cx="10972080" cy="1261080"/>
          </a:xfrm>
          <a:prstGeom prst="roundRect">
            <a:avLst>
              <a:gd name="adj" fmla="val 8000"/>
            </a:avLst>
          </a:prstGeom>
          <a:solidFill>
            <a:srgbClr val="f1f7fb"/>
          </a:solidFill>
          <a:ln w="10160">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38" name="TextBox 72"/>
          <p:cNvSpPr/>
          <p:nvPr/>
        </p:nvSpPr>
        <p:spPr>
          <a:xfrm>
            <a:off x="868680" y="4919400"/>
            <a:ext cx="10423440" cy="2649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500" spc="-1" strike="noStrike">
                <a:solidFill>
                  <a:srgbClr val="1c2a39"/>
                </a:solidFill>
                <a:latin typeface="Aptos"/>
              </a:rPr>
              <a:t>CIFAR-10 • imagens 32 × 32 px • 16 patches de 8 × 8 px</a:t>
            </a:r>
            <a:endParaRPr b="0" lang="pt-BR" sz="1500" spc="-1" strike="noStrike">
              <a:solidFill>
                <a:srgbClr val="000000"/>
              </a:solidFill>
              <a:latin typeface="Arial"/>
            </a:endParaRPr>
          </a:p>
        </p:txBody>
      </p:sp>
      <p:sp>
        <p:nvSpPr>
          <p:cNvPr id="439" name="TextBox 73"/>
          <p:cNvSpPr/>
          <p:nvPr/>
        </p:nvSpPr>
        <p:spPr>
          <a:xfrm>
            <a:off x="868680" y="5294520"/>
            <a:ext cx="10423440" cy="2498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400" spc="-1" strike="noStrike">
                <a:solidFill>
                  <a:srgbClr val="1c2a39"/>
                </a:solidFill>
                <a:latin typeface="Aptos"/>
              </a:rPr>
              <a:t>200 épocas • batch 256 • AdamW • taxa de aprendizado 0,0003 • semente 42</a:t>
            </a:r>
            <a:endParaRPr b="0" lang="pt-BR" sz="1400" spc="-1" strike="noStrike">
              <a:solidFill>
                <a:srgbClr val="000000"/>
              </a:solidFill>
              <a:latin typeface="Arial"/>
            </a:endParaRPr>
          </a:p>
        </p:txBody>
      </p:sp>
      <p:sp>
        <p:nvSpPr>
          <p:cNvPr id="440" name="TextBox 74"/>
          <p:cNvSpPr/>
          <p:nvPr/>
        </p:nvSpPr>
        <p:spPr>
          <a:xfrm>
            <a:off x="868680" y="5650920"/>
            <a:ext cx="10469160" cy="21168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150" spc="-1" strike="noStrike">
                <a:solidFill>
                  <a:srgbClr val="5c6b7a"/>
                </a:solidFill>
                <a:latin typeface="Aptos"/>
              </a:rPr>
              <a:t>Modelos treinados separadamente; as máscaras são aninhadas: os patches ocultos a 50% também ficam ocultos a 75%.</a:t>
            </a:r>
            <a:endParaRPr b="0" lang="pt-BR"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TextBox 1"/>
          <p:cNvSpPr/>
          <p:nvPr/>
        </p:nvSpPr>
        <p:spPr>
          <a:xfrm>
            <a:off x="567000" y="502920"/>
            <a:ext cx="11017800" cy="20412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100" spc="-1" strike="noStrike">
                <a:solidFill>
                  <a:srgbClr val="0093dd"/>
                </a:solidFill>
                <a:latin typeface="Aptos"/>
              </a:rPr>
              <a:t>EXPERIMENTO PRÓPRIO • EXEMPLOS VISUAIS</a:t>
            </a:r>
            <a:endParaRPr b="0" lang="pt-BR" sz="1100" spc="-1" strike="noStrike">
              <a:solidFill>
                <a:srgbClr val="000000"/>
              </a:solidFill>
              <a:latin typeface="Arial"/>
            </a:endParaRPr>
          </a:p>
        </p:txBody>
      </p:sp>
      <p:sp>
        <p:nvSpPr>
          <p:cNvPr id="442" name="TextBox 2"/>
          <p:cNvSpPr/>
          <p:nvPr/>
        </p:nvSpPr>
        <p:spPr>
          <a:xfrm>
            <a:off x="567000" y="804600"/>
            <a:ext cx="11063520" cy="4172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2500" spc="-1" strike="noStrike">
                <a:solidFill>
                  <a:srgbClr val="0d1f3a"/>
                </a:solidFill>
                <a:latin typeface="Aptos"/>
              </a:rPr>
              <a:t>Reconstruções em duas taxas</a:t>
            </a:r>
            <a:endParaRPr b="0" lang="pt-BR" sz="2500" spc="-1" strike="noStrike">
              <a:solidFill>
                <a:srgbClr val="000000"/>
              </a:solidFill>
              <a:latin typeface="Arial"/>
            </a:endParaRPr>
          </a:p>
        </p:txBody>
      </p:sp>
      <p:sp>
        <p:nvSpPr>
          <p:cNvPr id="443" name="TextBox 3"/>
          <p:cNvSpPr/>
          <p:nvPr/>
        </p:nvSpPr>
        <p:spPr>
          <a:xfrm>
            <a:off x="594360" y="1307520"/>
            <a:ext cx="11017800" cy="2498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400" spc="-1" strike="noStrike">
                <a:solidFill>
                  <a:srgbClr val="5c6b7a"/>
                </a:solidFill>
                <a:latin typeface="Aptos"/>
              </a:rPr>
              <a:t>Duas imagens fixas do teste, comparadas com a entrada e a saída de cada treino.</a:t>
            </a:r>
            <a:endParaRPr b="0" lang="pt-BR" sz="1400" spc="-1" strike="noStrike">
              <a:solidFill>
                <a:srgbClr val="000000"/>
              </a:solidFill>
              <a:latin typeface="Arial"/>
            </a:endParaRPr>
          </a:p>
        </p:txBody>
      </p:sp>
      <p:sp>
        <p:nvSpPr>
          <p:cNvPr id="444" name="Rectangle 4"/>
          <p:cNvSpPr/>
          <p:nvPr/>
        </p:nvSpPr>
        <p:spPr>
          <a:xfrm>
            <a:off x="0" y="6510600"/>
            <a:ext cx="12191040" cy="282600"/>
          </a:xfrm>
          <a:prstGeom prst="rect">
            <a:avLst/>
          </a:prstGeom>
          <a:solidFill>
            <a:srgbClr val="0d1f3a"/>
          </a:solidFill>
          <a:ln>
            <a:solidFill>
              <a:srgbClr val="0d1f3a"/>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45" name="TextBox 5"/>
          <p:cNvSpPr/>
          <p:nvPr/>
        </p:nvSpPr>
        <p:spPr>
          <a:xfrm>
            <a:off x="320040" y="6528960"/>
            <a:ext cx="10926360" cy="1659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850" spc="-1" strike="noStrike">
                <a:solidFill>
                  <a:srgbClr val="ffffff"/>
                </a:solidFill>
                <a:latin typeface="Aptos"/>
              </a:rPr>
              <a:t>Fonte visual: resultados/reconstrucoes.png; exemplos ilustrativos, não representam todo o conjunto.</a:t>
            </a:r>
            <a:endParaRPr b="0" lang="pt-BR" sz="850" spc="-1" strike="noStrike">
              <a:solidFill>
                <a:srgbClr val="000000"/>
              </a:solidFill>
              <a:latin typeface="Arial"/>
            </a:endParaRPr>
          </a:p>
        </p:txBody>
      </p:sp>
      <p:sp>
        <p:nvSpPr>
          <p:cNvPr id="446" name="TextBox 6"/>
          <p:cNvSpPr/>
          <p:nvPr/>
        </p:nvSpPr>
        <p:spPr>
          <a:xfrm>
            <a:off x="11475720" y="6528960"/>
            <a:ext cx="410760" cy="158040"/>
          </a:xfrm>
          <a:prstGeom prst="rect">
            <a:avLst/>
          </a:prstGeom>
          <a:noFill/>
          <a:ln w="0">
            <a:noFill/>
          </a:ln>
        </p:spPr>
        <p:style>
          <a:lnRef idx="0"/>
          <a:fillRef idx="0"/>
          <a:effectRef idx="0"/>
          <a:fontRef idx="minor"/>
        </p:style>
        <p:txBody>
          <a:bodyPr lIns="18360" rIns="18360" tIns="18360" bIns="18360" anchor="t">
            <a:spAutoFit/>
          </a:bodyPr>
          <a:p>
            <a:pPr algn="r" defTabSz="914400">
              <a:lnSpc>
                <a:spcPct val="100000"/>
              </a:lnSpc>
            </a:pPr>
            <a:r>
              <a:rPr b="0" lang="pt-BR" sz="800" spc="-1" strike="noStrike">
                <a:solidFill>
                  <a:srgbClr val="0093dd"/>
                </a:solidFill>
                <a:latin typeface="Aptos"/>
              </a:rPr>
              <a:t>18</a:t>
            </a:r>
            <a:endParaRPr b="0" lang="pt-BR" sz="800" spc="-1" strike="noStrike">
              <a:solidFill>
                <a:srgbClr val="000000"/>
              </a:solidFill>
              <a:latin typeface="Arial"/>
            </a:endParaRPr>
          </a:p>
        </p:txBody>
      </p:sp>
      <p:sp>
        <p:nvSpPr>
          <p:cNvPr id="447" name="Rectangle 7"/>
          <p:cNvSpPr/>
          <p:nvPr/>
        </p:nvSpPr>
        <p:spPr>
          <a:xfrm>
            <a:off x="0" y="6793920"/>
            <a:ext cx="12191040" cy="63360"/>
          </a:xfrm>
          <a:prstGeom prst="rect">
            <a:avLst/>
          </a:prstGeom>
          <a:solidFill>
            <a:srgbClr val="0093dd"/>
          </a:solidFill>
          <a:ln>
            <a:solidFill>
              <a:srgbClr val="0093dd"/>
            </a:solid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448" name="TextBox 8"/>
          <p:cNvSpPr/>
          <p:nvPr/>
        </p:nvSpPr>
        <p:spPr>
          <a:xfrm>
            <a:off x="2039040" y="2058840"/>
            <a:ext cx="1736640" cy="234360"/>
          </a:xfrm>
          <a:prstGeom prst="rect">
            <a:avLst/>
          </a:prstGeom>
          <a:noFill/>
          <a:ln w="0">
            <a:noFill/>
          </a:ln>
        </p:spPr>
        <p:style>
          <a:lnRef idx="0"/>
          <a:fillRef idx="0"/>
          <a:effectRef idx="0"/>
          <a:fontRef idx="minor"/>
        </p:style>
        <p:txBody>
          <a:bodyPr lIns="18360" rIns="18360" tIns="18360" bIns="18360" anchor="ctr">
            <a:spAutoFit/>
          </a:bodyPr>
          <a:p>
            <a:pPr algn="ctr" defTabSz="914400">
              <a:lnSpc>
                <a:spcPct val="100000"/>
              </a:lnSpc>
            </a:pPr>
            <a:r>
              <a:rPr b="1" lang="pt-BR" sz="1300" spc="-1" strike="noStrike">
                <a:solidFill>
                  <a:srgbClr val="0d1f3a"/>
                </a:solidFill>
                <a:latin typeface="Aptos"/>
              </a:rPr>
              <a:t>Original</a:t>
            </a:r>
            <a:endParaRPr b="0" lang="pt-BR" sz="1300" spc="-1" strike="noStrike">
              <a:solidFill>
                <a:srgbClr val="000000"/>
              </a:solidFill>
              <a:latin typeface="Arial"/>
            </a:endParaRPr>
          </a:p>
        </p:txBody>
      </p:sp>
      <p:sp>
        <p:nvSpPr>
          <p:cNvPr id="449" name="TextBox 9"/>
          <p:cNvSpPr/>
          <p:nvPr/>
        </p:nvSpPr>
        <p:spPr>
          <a:xfrm>
            <a:off x="3950280" y="1959840"/>
            <a:ext cx="1736640" cy="432720"/>
          </a:xfrm>
          <a:prstGeom prst="rect">
            <a:avLst/>
          </a:prstGeom>
          <a:noFill/>
          <a:ln w="0">
            <a:noFill/>
          </a:ln>
        </p:spPr>
        <p:style>
          <a:lnRef idx="0"/>
          <a:fillRef idx="0"/>
          <a:effectRef idx="0"/>
          <a:fontRef idx="minor"/>
        </p:style>
        <p:txBody>
          <a:bodyPr lIns="18360" rIns="18360" tIns="18360" bIns="18360" anchor="ctr">
            <a:spAutoFit/>
          </a:bodyPr>
          <a:p>
            <a:pPr algn="ctr" defTabSz="914400">
              <a:lnSpc>
                <a:spcPct val="100000"/>
              </a:lnSpc>
            </a:pPr>
            <a:r>
              <a:rPr b="1" lang="pt-BR" sz="1300" spc="-1" strike="noStrike">
                <a:solidFill>
                  <a:srgbClr val="0d1f3a"/>
                </a:solidFill>
                <a:latin typeface="Aptos"/>
              </a:rPr>
              <a:t>Mascarada</a:t>
            </a:r>
            <a:endParaRPr b="0" lang="pt-BR" sz="1300" spc="-1" strike="noStrike">
              <a:solidFill>
                <a:srgbClr val="000000"/>
              </a:solidFill>
              <a:latin typeface="Arial"/>
            </a:endParaRPr>
          </a:p>
          <a:p>
            <a:pPr algn="ctr" defTabSz="914400">
              <a:lnSpc>
                <a:spcPct val="100000"/>
              </a:lnSpc>
            </a:pPr>
            <a:r>
              <a:rPr b="1" lang="pt-BR" sz="1300" spc="-1" strike="noStrike">
                <a:solidFill>
                  <a:srgbClr val="0d1f3a"/>
                </a:solidFill>
                <a:latin typeface="Aptos"/>
              </a:rPr>
              <a:t>50%</a:t>
            </a:r>
            <a:endParaRPr b="0" lang="pt-BR" sz="1300" spc="-1" strike="noStrike">
              <a:solidFill>
                <a:srgbClr val="000000"/>
              </a:solidFill>
              <a:latin typeface="Arial"/>
            </a:endParaRPr>
          </a:p>
        </p:txBody>
      </p:sp>
      <p:sp>
        <p:nvSpPr>
          <p:cNvPr id="450" name="TextBox 10"/>
          <p:cNvSpPr/>
          <p:nvPr/>
        </p:nvSpPr>
        <p:spPr>
          <a:xfrm>
            <a:off x="5861160" y="1959840"/>
            <a:ext cx="1736640" cy="432720"/>
          </a:xfrm>
          <a:prstGeom prst="rect">
            <a:avLst/>
          </a:prstGeom>
          <a:noFill/>
          <a:ln w="0">
            <a:noFill/>
          </a:ln>
        </p:spPr>
        <p:style>
          <a:lnRef idx="0"/>
          <a:fillRef idx="0"/>
          <a:effectRef idx="0"/>
          <a:fontRef idx="minor"/>
        </p:style>
        <p:txBody>
          <a:bodyPr lIns="18360" rIns="18360" tIns="18360" bIns="18360" anchor="ctr">
            <a:spAutoFit/>
          </a:bodyPr>
          <a:p>
            <a:pPr algn="ctr" defTabSz="914400">
              <a:lnSpc>
                <a:spcPct val="100000"/>
              </a:lnSpc>
            </a:pPr>
            <a:r>
              <a:rPr b="1" lang="pt-BR" sz="1300" spc="-1" strike="noStrike">
                <a:solidFill>
                  <a:srgbClr val="0d1f3a"/>
                </a:solidFill>
                <a:latin typeface="Aptos"/>
              </a:rPr>
              <a:t>Reconstruída</a:t>
            </a:r>
            <a:endParaRPr b="0" lang="pt-BR" sz="1300" spc="-1" strike="noStrike">
              <a:solidFill>
                <a:srgbClr val="000000"/>
              </a:solidFill>
              <a:latin typeface="Arial"/>
            </a:endParaRPr>
          </a:p>
          <a:p>
            <a:pPr algn="ctr" defTabSz="914400">
              <a:lnSpc>
                <a:spcPct val="100000"/>
              </a:lnSpc>
            </a:pPr>
            <a:r>
              <a:rPr b="1" lang="pt-BR" sz="1300" spc="-1" strike="noStrike">
                <a:solidFill>
                  <a:srgbClr val="0d1f3a"/>
                </a:solidFill>
                <a:latin typeface="Aptos"/>
              </a:rPr>
              <a:t>50%</a:t>
            </a:r>
            <a:endParaRPr b="0" lang="pt-BR" sz="1300" spc="-1" strike="noStrike">
              <a:solidFill>
                <a:srgbClr val="000000"/>
              </a:solidFill>
              <a:latin typeface="Arial"/>
            </a:endParaRPr>
          </a:p>
        </p:txBody>
      </p:sp>
      <p:sp>
        <p:nvSpPr>
          <p:cNvPr id="451" name="TextBox 11"/>
          <p:cNvSpPr/>
          <p:nvPr/>
        </p:nvSpPr>
        <p:spPr>
          <a:xfrm>
            <a:off x="7772400" y="1959840"/>
            <a:ext cx="1736640" cy="432720"/>
          </a:xfrm>
          <a:prstGeom prst="rect">
            <a:avLst/>
          </a:prstGeom>
          <a:noFill/>
          <a:ln w="0">
            <a:noFill/>
          </a:ln>
        </p:spPr>
        <p:style>
          <a:lnRef idx="0"/>
          <a:fillRef idx="0"/>
          <a:effectRef idx="0"/>
          <a:fontRef idx="minor"/>
        </p:style>
        <p:txBody>
          <a:bodyPr lIns="18360" rIns="18360" tIns="18360" bIns="18360" anchor="ctr">
            <a:spAutoFit/>
          </a:bodyPr>
          <a:p>
            <a:pPr algn="ctr" defTabSz="914400">
              <a:lnSpc>
                <a:spcPct val="100000"/>
              </a:lnSpc>
            </a:pPr>
            <a:r>
              <a:rPr b="1" lang="pt-BR" sz="1300" spc="-1" strike="noStrike">
                <a:solidFill>
                  <a:srgbClr val="0d1f3a"/>
                </a:solidFill>
                <a:latin typeface="Aptos"/>
              </a:rPr>
              <a:t>Mascarada</a:t>
            </a:r>
            <a:endParaRPr b="0" lang="pt-BR" sz="1300" spc="-1" strike="noStrike">
              <a:solidFill>
                <a:srgbClr val="000000"/>
              </a:solidFill>
              <a:latin typeface="Arial"/>
            </a:endParaRPr>
          </a:p>
          <a:p>
            <a:pPr algn="ctr" defTabSz="914400">
              <a:lnSpc>
                <a:spcPct val="100000"/>
              </a:lnSpc>
            </a:pPr>
            <a:r>
              <a:rPr b="1" lang="pt-BR" sz="1300" spc="-1" strike="noStrike">
                <a:solidFill>
                  <a:srgbClr val="0d1f3a"/>
                </a:solidFill>
                <a:latin typeface="Aptos"/>
              </a:rPr>
              <a:t>75%</a:t>
            </a:r>
            <a:endParaRPr b="0" lang="pt-BR" sz="1300" spc="-1" strike="noStrike">
              <a:solidFill>
                <a:srgbClr val="000000"/>
              </a:solidFill>
              <a:latin typeface="Arial"/>
            </a:endParaRPr>
          </a:p>
        </p:txBody>
      </p:sp>
      <p:sp>
        <p:nvSpPr>
          <p:cNvPr id="452" name="TextBox 12"/>
          <p:cNvSpPr/>
          <p:nvPr/>
        </p:nvSpPr>
        <p:spPr>
          <a:xfrm>
            <a:off x="9683640" y="1959840"/>
            <a:ext cx="1736640" cy="432720"/>
          </a:xfrm>
          <a:prstGeom prst="rect">
            <a:avLst/>
          </a:prstGeom>
          <a:noFill/>
          <a:ln w="0">
            <a:noFill/>
          </a:ln>
        </p:spPr>
        <p:style>
          <a:lnRef idx="0"/>
          <a:fillRef idx="0"/>
          <a:effectRef idx="0"/>
          <a:fontRef idx="minor"/>
        </p:style>
        <p:txBody>
          <a:bodyPr lIns="18360" rIns="18360" tIns="18360" bIns="18360" anchor="ctr">
            <a:spAutoFit/>
          </a:bodyPr>
          <a:p>
            <a:pPr algn="ctr" defTabSz="914400">
              <a:lnSpc>
                <a:spcPct val="100000"/>
              </a:lnSpc>
            </a:pPr>
            <a:r>
              <a:rPr b="1" lang="pt-BR" sz="1300" spc="-1" strike="noStrike">
                <a:solidFill>
                  <a:srgbClr val="0d1f3a"/>
                </a:solidFill>
                <a:latin typeface="Aptos"/>
              </a:rPr>
              <a:t>Reconstruída</a:t>
            </a:r>
            <a:endParaRPr b="0" lang="pt-BR" sz="1300" spc="-1" strike="noStrike">
              <a:solidFill>
                <a:srgbClr val="000000"/>
              </a:solidFill>
              <a:latin typeface="Arial"/>
            </a:endParaRPr>
          </a:p>
          <a:p>
            <a:pPr algn="ctr" defTabSz="914400">
              <a:lnSpc>
                <a:spcPct val="100000"/>
              </a:lnSpc>
            </a:pPr>
            <a:r>
              <a:rPr b="1" lang="pt-BR" sz="1300" spc="-1" strike="noStrike">
                <a:solidFill>
                  <a:srgbClr val="0d1f3a"/>
                </a:solidFill>
                <a:latin typeface="Aptos"/>
              </a:rPr>
              <a:t>75%</a:t>
            </a:r>
            <a:endParaRPr b="0" lang="pt-BR" sz="1300" spc="-1" strike="noStrike">
              <a:solidFill>
                <a:srgbClr val="000000"/>
              </a:solidFill>
              <a:latin typeface="Arial"/>
            </a:endParaRPr>
          </a:p>
        </p:txBody>
      </p:sp>
      <p:sp>
        <p:nvSpPr>
          <p:cNvPr id="453" name="TextBox 13"/>
          <p:cNvSpPr/>
          <p:nvPr/>
        </p:nvSpPr>
        <p:spPr>
          <a:xfrm>
            <a:off x="658440" y="3137760"/>
            <a:ext cx="1233720" cy="234360"/>
          </a:xfrm>
          <a:prstGeom prst="rect">
            <a:avLst/>
          </a:prstGeom>
          <a:noFill/>
          <a:ln w="0">
            <a:noFill/>
          </a:ln>
        </p:spPr>
        <p:style>
          <a:lnRef idx="0"/>
          <a:fillRef idx="0"/>
          <a:effectRef idx="0"/>
          <a:fontRef idx="minor"/>
        </p:style>
        <p:txBody>
          <a:bodyPr lIns="18360" rIns="18360" tIns="18360" bIns="18360" anchor="ctr">
            <a:spAutoFit/>
          </a:bodyPr>
          <a:p>
            <a:pPr defTabSz="914400">
              <a:lnSpc>
                <a:spcPct val="100000"/>
              </a:lnSpc>
            </a:pPr>
            <a:r>
              <a:rPr b="1" lang="pt-BR" sz="1300" spc="-1" strike="noStrike">
                <a:solidFill>
                  <a:srgbClr val="0d1f3a"/>
                </a:solidFill>
                <a:latin typeface="Aptos"/>
              </a:rPr>
              <a:t>Amostra 1</a:t>
            </a:r>
            <a:endParaRPr b="0" lang="pt-BR" sz="1300" spc="-1" strike="noStrike">
              <a:solidFill>
                <a:srgbClr val="000000"/>
              </a:solidFill>
              <a:latin typeface="Arial"/>
            </a:endParaRPr>
          </a:p>
        </p:txBody>
      </p:sp>
      <p:pic>
        <p:nvPicPr>
          <p:cNvPr id="454" name="Picture 14" descr="Original, CIFAR-10, amostra fixa do teste"/>
          <p:cNvPicPr/>
          <p:nvPr/>
        </p:nvPicPr>
        <p:blipFill>
          <a:blip r:embed="rId1"/>
          <a:stretch/>
        </p:blipFill>
        <p:spPr>
          <a:xfrm>
            <a:off x="2130480" y="2560320"/>
            <a:ext cx="1553760" cy="1553760"/>
          </a:xfrm>
          <a:prstGeom prst="rect">
            <a:avLst/>
          </a:prstGeom>
          <a:ln w="0">
            <a:noFill/>
          </a:ln>
        </p:spPr>
      </p:pic>
      <p:pic>
        <p:nvPicPr>
          <p:cNvPr id="455" name="Picture 15" descr="Mascarada 50%, CIFAR-10, amostra fixa do teste"/>
          <p:cNvPicPr/>
          <p:nvPr/>
        </p:nvPicPr>
        <p:blipFill>
          <a:blip r:embed="rId2"/>
          <a:stretch/>
        </p:blipFill>
        <p:spPr>
          <a:xfrm>
            <a:off x="4041720" y="2560320"/>
            <a:ext cx="1553760" cy="1553760"/>
          </a:xfrm>
          <a:prstGeom prst="rect">
            <a:avLst/>
          </a:prstGeom>
          <a:ln w="0">
            <a:noFill/>
          </a:ln>
        </p:spPr>
      </p:pic>
      <p:pic>
        <p:nvPicPr>
          <p:cNvPr id="456" name="Picture 16" descr="Reconstruída 50%, CIFAR-10, amostra fixa do teste"/>
          <p:cNvPicPr/>
          <p:nvPr/>
        </p:nvPicPr>
        <p:blipFill>
          <a:blip r:embed="rId3"/>
          <a:stretch/>
        </p:blipFill>
        <p:spPr>
          <a:xfrm>
            <a:off x="5952600" y="2560320"/>
            <a:ext cx="1553760" cy="1553760"/>
          </a:xfrm>
          <a:prstGeom prst="rect">
            <a:avLst/>
          </a:prstGeom>
          <a:ln w="0">
            <a:noFill/>
          </a:ln>
        </p:spPr>
      </p:pic>
      <p:pic>
        <p:nvPicPr>
          <p:cNvPr id="457" name="Picture 17" descr="Mascarada 75%, CIFAR-10, amostra fixa do teste"/>
          <p:cNvPicPr/>
          <p:nvPr/>
        </p:nvPicPr>
        <p:blipFill>
          <a:blip r:embed="rId4"/>
          <a:stretch/>
        </p:blipFill>
        <p:spPr>
          <a:xfrm>
            <a:off x="7863840" y="2560320"/>
            <a:ext cx="1553760" cy="1553760"/>
          </a:xfrm>
          <a:prstGeom prst="rect">
            <a:avLst/>
          </a:prstGeom>
          <a:ln w="0">
            <a:noFill/>
          </a:ln>
        </p:spPr>
      </p:pic>
      <p:pic>
        <p:nvPicPr>
          <p:cNvPr id="458" name="Picture 18" descr="Reconstruída 75%, CIFAR-10, amostra fixa do teste"/>
          <p:cNvPicPr/>
          <p:nvPr/>
        </p:nvPicPr>
        <p:blipFill>
          <a:blip r:embed="rId5"/>
          <a:stretch/>
        </p:blipFill>
        <p:spPr>
          <a:xfrm>
            <a:off x="9775080" y="2560320"/>
            <a:ext cx="1553760" cy="1553760"/>
          </a:xfrm>
          <a:prstGeom prst="rect">
            <a:avLst/>
          </a:prstGeom>
          <a:ln w="0">
            <a:noFill/>
          </a:ln>
        </p:spPr>
      </p:pic>
      <p:sp>
        <p:nvSpPr>
          <p:cNvPr id="459" name="TextBox 19"/>
          <p:cNvSpPr/>
          <p:nvPr/>
        </p:nvSpPr>
        <p:spPr>
          <a:xfrm>
            <a:off x="658440" y="4829400"/>
            <a:ext cx="1233720" cy="234360"/>
          </a:xfrm>
          <a:prstGeom prst="rect">
            <a:avLst/>
          </a:prstGeom>
          <a:noFill/>
          <a:ln w="0">
            <a:noFill/>
          </a:ln>
        </p:spPr>
        <p:style>
          <a:lnRef idx="0"/>
          <a:fillRef idx="0"/>
          <a:effectRef idx="0"/>
          <a:fontRef idx="minor"/>
        </p:style>
        <p:txBody>
          <a:bodyPr lIns="18360" rIns="18360" tIns="18360" bIns="18360" anchor="ctr">
            <a:spAutoFit/>
          </a:bodyPr>
          <a:p>
            <a:pPr defTabSz="914400">
              <a:lnSpc>
                <a:spcPct val="100000"/>
              </a:lnSpc>
            </a:pPr>
            <a:r>
              <a:rPr b="1" lang="pt-BR" sz="1300" spc="-1" strike="noStrike">
                <a:solidFill>
                  <a:srgbClr val="0d1f3a"/>
                </a:solidFill>
                <a:latin typeface="Aptos"/>
              </a:rPr>
              <a:t>Amostra 2</a:t>
            </a:r>
            <a:endParaRPr b="0" lang="pt-BR" sz="1300" spc="-1" strike="noStrike">
              <a:solidFill>
                <a:srgbClr val="000000"/>
              </a:solidFill>
              <a:latin typeface="Arial"/>
            </a:endParaRPr>
          </a:p>
        </p:txBody>
      </p:sp>
      <p:pic>
        <p:nvPicPr>
          <p:cNvPr id="460" name="Picture 20" descr="Original, CIFAR-10, amostra fixa do teste"/>
          <p:cNvPicPr/>
          <p:nvPr/>
        </p:nvPicPr>
        <p:blipFill>
          <a:blip r:embed="rId6"/>
          <a:stretch/>
        </p:blipFill>
        <p:spPr>
          <a:xfrm>
            <a:off x="2130480" y="4251960"/>
            <a:ext cx="1553760" cy="1553760"/>
          </a:xfrm>
          <a:prstGeom prst="rect">
            <a:avLst/>
          </a:prstGeom>
          <a:ln w="0">
            <a:noFill/>
          </a:ln>
        </p:spPr>
      </p:pic>
      <p:pic>
        <p:nvPicPr>
          <p:cNvPr id="461" name="Picture 21" descr="Mascarada 50%, CIFAR-10, amostra fixa do teste"/>
          <p:cNvPicPr/>
          <p:nvPr/>
        </p:nvPicPr>
        <p:blipFill>
          <a:blip r:embed="rId7"/>
          <a:stretch/>
        </p:blipFill>
        <p:spPr>
          <a:xfrm>
            <a:off x="4041720" y="4251960"/>
            <a:ext cx="1553760" cy="1553760"/>
          </a:xfrm>
          <a:prstGeom prst="rect">
            <a:avLst/>
          </a:prstGeom>
          <a:ln w="0">
            <a:noFill/>
          </a:ln>
        </p:spPr>
      </p:pic>
      <p:pic>
        <p:nvPicPr>
          <p:cNvPr id="462" name="Picture 22" descr="Reconstruída 50%, CIFAR-10, amostra fixa do teste"/>
          <p:cNvPicPr/>
          <p:nvPr/>
        </p:nvPicPr>
        <p:blipFill>
          <a:blip r:embed="rId8"/>
          <a:stretch/>
        </p:blipFill>
        <p:spPr>
          <a:xfrm>
            <a:off x="5952600" y="4251960"/>
            <a:ext cx="1553760" cy="1553760"/>
          </a:xfrm>
          <a:prstGeom prst="rect">
            <a:avLst/>
          </a:prstGeom>
          <a:ln w="0">
            <a:noFill/>
          </a:ln>
        </p:spPr>
      </p:pic>
      <p:pic>
        <p:nvPicPr>
          <p:cNvPr id="463" name="Picture 23" descr="Mascarada 75%, CIFAR-10, amostra fixa do teste"/>
          <p:cNvPicPr/>
          <p:nvPr/>
        </p:nvPicPr>
        <p:blipFill>
          <a:blip r:embed="rId9"/>
          <a:stretch/>
        </p:blipFill>
        <p:spPr>
          <a:xfrm>
            <a:off x="7863840" y="4251960"/>
            <a:ext cx="1553760" cy="1553760"/>
          </a:xfrm>
          <a:prstGeom prst="rect">
            <a:avLst/>
          </a:prstGeom>
          <a:ln w="0">
            <a:noFill/>
          </a:ln>
        </p:spPr>
      </p:pic>
      <p:pic>
        <p:nvPicPr>
          <p:cNvPr id="464" name="Picture 24" descr="Reconstruída 75%, CIFAR-10, amostra fixa do teste"/>
          <p:cNvPicPr/>
          <p:nvPr/>
        </p:nvPicPr>
        <p:blipFill>
          <a:blip r:embed="rId10"/>
          <a:stretch/>
        </p:blipFill>
        <p:spPr>
          <a:xfrm>
            <a:off x="9775080" y="4251960"/>
            <a:ext cx="1553760" cy="1553760"/>
          </a:xfrm>
          <a:prstGeom prst="rect">
            <a:avLst/>
          </a:prstGeom>
          <a:ln w="0">
            <a:noFill/>
          </a:ln>
        </p:spPr>
      </p:pic>
      <p:sp>
        <p:nvSpPr>
          <p:cNvPr id="465" name="Rectangle 25"/>
          <p:cNvSpPr/>
          <p:nvPr/>
        </p:nvSpPr>
        <p:spPr>
          <a:xfrm>
            <a:off x="658440" y="4133160"/>
            <a:ext cx="10926360" cy="10080"/>
          </a:xfrm>
          <a:prstGeom prst="rect">
            <a:avLst/>
          </a:prstGeom>
          <a:solidFill>
            <a:srgbClr val="d6e0e8"/>
          </a:solidFill>
          <a:ln>
            <a:solidFill>
              <a:srgbClr val="d6e0e8"/>
            </a:solidFill>
          </a:ln>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914400">
              <a:lnSpc>
                <a:spcPct val="100000"/>
              </a:lnSpc>
            </a:pPr>
            <a:endParaRPr b="0" lang="pt-BR" sz="1800" spc="-1" strike="noStrike">
              <a:solidFill>
                <a:schemeClr val="lt1"/>
              </a:solidFill>
              <a:latin typeface="Aptos"/>
            </a:endParaRPr>
          </a:p>
        </p:txBody>
      </p:sp>
      <p:sp>
        <p:nvSpPr>
          <p:cNvPr id="466" name="TextBox 26"/>
          <p:cNvSpPr/>
          <p:nvPr/>
        </p:nvSpPr>
        <p:spPr>
          <a:xfrm>
            <a:off x="694800" y="6016680"/>
            <a:ext cx="10880640" cy="21168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150" spc="-1" strike="noStrike">
                <a:solidFill>
                  <a:srgbClr val="5c6b7a"/>
                </a:solidFill>
                <a:latin typeface="Aptos"/>
              </a:rPr>
              <a:t>São as amostras 1 e 2 da grade de 8 imagens fixas (semente 42). A seleção é apenas demonstrativa.</a:t>
            </a:r>
            <a:endParaRPr b="0" lang="pt-BR"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TextBox 1"/>
          <p:cNvSpPr/>
          <p:nvPr/>
        </p:nvSpPr>
        <p:spPr>
          <a:xfrm>
            <a:off x="567000" y="502920"/>
            <a:ext cx="11017800" cy="20412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100" spc="-1" strike="noStrike">
                <a:solidFill>
                  <a:srgbClr val="0093dd"/>
                </a:solidFill>
                <a:latin typeface="Aptos"/>
              </a:rPr>
              <a:t>EXPERIMENTO PRÓPRIO • RESULTADO QUANTITATIVO</a:t>
            </a:r>
            <a:endParaRPr b="0" lang="pt-BR" sz="1100" spc="-1" strike="noStrike">
              <a:solidFill>
                <a:srgbClr val="000000"/>
              </a:solidFill>
              <a:latin typeface="Arial"/>
            </a:endParaRPr>
          </a:p>
        </p:txBody>
      </p:sp>
      <p:sp>
        <p:nvSpPr>
          <p:cNvPr id="468" name="TextBox 2"/>
          <p:cNvSpPr/>
          <p:nvPr/>
        </p:nvSpPr>
        <p:spPr>
          <a:xfrm>
            <a:off x="567000" y="804600"/>
            <a:ext cx="11063520" cy="4172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2500" spc="-1" strike="noStrike">
                <a:solidFill>
                  <a:srgbClr val="0d1f3a"/>
                </a:solidFill>
                <a:latin typeface="Aptos"/>
              </a:rPr>
              <a:t>Erro de reconstrução nos patches ocultos</a:t>
            </a:r>
            <a:endParaRPr b="0" lang="pt-BR" sz="2500" spc="-1" strike="noStrike">
              <a:solidFill>
                <a:srgbClr val="000000"/>
              </a:solidFill>
              <a:latin typeface="Arial"/>
            </a:endParaRPr>
          </a:p>
        </p:txBody>
      </p:sp>
      <p:sp>
        <p:nvSpPr>
          <p:cNvPr id="469" name="TextBox 3"/>
          <p:cNvSpPr/>
          <p:nvPr/>
        </p:nvSpPr>
        <p:spPr>
          <a:xfrm>
            <a:off x="594360" y="1307520"/>
            <a:ext cx="11017800" cy="24984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400" spc="-1" strike="noStrike">
                <a:solidFill>
                  <a:srgbClr val="5c6b7a"/>
                </a:solidFill>
                <a:latin typeface="Aptos"/>
              </a:rPr>
              <a:t>MSE de teste calculado somente sobre os patches mascarados.</a:t>
            </a:r>
            <a:endParaRPr b="0" lang="pt-BR" sz="1400" spc="-1" strike="noStrike">
              <a:solidFill>
                <a:srgbClr val="000000"/>
              </a:solidFill>
              <a:latin typeface="Arial"/>
            </a:endParaRPr>
          </a:p>
        </p:txBody>
      </p:sp>
      <p:sp>
        <p:nvSpPr>
          <p:cNvPr id="470" name="Rectangle 4"/>
          <p:cNvSpPr/>
          <p:nvPr/>
        </p:nvSpPr>
        <p:spPr>
          <a:xfrm>
            <a:off x="0" y="6510600"/>
            <a:ext cx="12191040" cy="282600"/>
          </a:xfrm>
          <a:prstGeom prst="rect">
            <a:avLst/>
          </a:prstGeom>
          <a:solidFill>
            <a:srgbClr val="0d1f3a"/>
          </a:solidFill>
          <a:ln>
            <a:solidFill>
              <a:srgbClr val="0d1f3a"/>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71" name="TextBox 5"/>
          <p:cNvSpPr/>
          <p:nvPr/>
        </p:nvSpPr>
        <p:spPr>
          <a:xfrm>
            <a:off x="320040" y="6528960"/>
            <a:ext cx="10926360" cy="16596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850" spc="-1" strike="noStrike">
                <a:solidFill>
                  <a:srgbClr val="ffffff"/>
                </a:solidFill>
                <a:latin typeface="Aptos"/>
              </a:rPr>
              <a:t>Fonte dos valores: resultados/metricas.csv, seed 42; resultado do experimento apresentado.</a:t>
            </a:r>
            <a:endParaRPr b="0" lang="pt-BR" sz="850" spc="-1" strike="noStrike">
              <a:solidFill>
                <a:srgbClr val="000000"/>
              </a:solidFill>
              <a:latin typeface="Arial"/>
            </a:endParaRPr>
          </a:p>
        </p:txBody>
      </p:sp>
      <p:sp>
        <p:nvSpPr>
          <p:cNvPr id="472" name="TextBox 6"/>
          <p:cNvSpPr/>
          <p:nvPr/>
        </p:nvSpPr>
        <p:spPr>
          <a:xfrm>
            <a:off x="11475720" y="6528960"/>
            <a:ext cx="410760" cy="158040"/>
          </a:xfrm>
          <a:prstGeom prst="rect">
            <a:avLst/>
          </a:prstGeom>
          <a:noFill/>
          <a:ln w="0">
            <a:noFill/>
          </a:ln>
        </p:spPr>
        <p:style>
          <a:lnRef idx="0"/>
          <a:fillRef idx="0"/>
          <a:effectRef idx="0"/>
          <a:fontRef idx="minor"/>
        </p:style>
        <p:txBody>
          <a:bodyPr lIns="18360" rIns="18360" tIns="18360" bIns="18360" anchor="t">
            <a:spAutoFit/>
          </a:bodyPr>
          <a:p>
            <a:pPr algn="r" defTabSz="914400">
              <a:lnSpc>
                <a:spcPct val="100000"/>
              </a:lnSpc>
            </a:pPr>
            <a:r>
              <a:rPr b="0" lang="pt-BR" sz="800" spc="-1" strike="noStrike">
                <a:solidFill>
                  <a:srgbClr val="0093dd"/>
                </a:solidFill>
                <a:latin typeface="Aptos"/>
              </a:rPr>
              <a:t>19</a:t>
            </a:r>
            <a:endParaRPr b="0" lang="pt-BR" sz="800" spc="-1" strike="noStrike">
              <a:solidFill>
                <a:srgbClr val="000000"/>
              </a:solidFill>
              <a:latin typeface="Arial"/>
            </a:endParaRPr>
          </a:p>
        </p:txBody>
      </p:sp>
      <p:sp>
        <p:nvSpPr>
          <p:cNvPr id="473" name="Rectangle 7"/>
          <p:cNvSpPr/>
          <p:nvPr/>
        </p:nvSpPr>
        <p:spPr>
          <a:xfrm>
            <a:off x="0" y="6793920"/>
            <a:ext cx="12191040" cy="63360"/>
          </a:xfrm>
          <a:prstGeom prst="rect">
            <a:avLst/>
          </a:prstGeom>
          <a:solidFill>
            <a:srgbClr val="0093dd"/>
          </a:solidFill>
          <a:ln>
            <a:solidFill>
              <a:srgbClr val="0093dd"/>
            </a:solid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474" name="Rectangle 8"/>
          <p:cNvSpPr/>
          <p:nvPr/>
        </p:nvSpPr>
        <p:spPr>
          <a:xfrm>
            <a:off x="3977640" y="2084760"/>
            <a:ext cx="10080" cy="2331000"/>
          </a:xfrm>
          <a:prstGeom prst="rect">
            <a:avLst/>
          </a:prstGeom>
          <a:solidFill>
            <a:srgbClr val="d6e0e8"/>
          </a:solidFill>
          <a:ln>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75" name="TextBox 9"/>
          <p:cNvSpPr/>
          <p:nvPr/>
        </p:nvSpPr>
        <p:spPr>
          <a:xfrm>
            <a:off x="3749040" y="4462200"/>
            <a:ext cx="502200" cy="204120"/>
          </a:xfrm>
          <a:prstGeom prst="rect">
            <a:avLst/>
          </a:prstGeom>
          <a:noFill/>
          <a:ln w="0">
            <a:noFill/>
          </a:ln>
        </p:spPr>
        <p:style>
          <a:lnRef idx="0"/>
          <a:fillRef idx="0"/>
          <a:effectRef idx="0"/>
          <a:fontRef idx="minor"/>
        </p:style>
        <p:txBody>
          <a:bodyPr lIns="18360" rIns="18360" tIns="18360" bIns="18360" anchor="t">
            <a:spAutoFit/>
          </a:bodyPr>
          <a:p>
            <a:pPr algn="ctr" defTabSz="914400">
              <a:lnSpc>
                <a:spcPct val="100000"/>
              </a:lnSpc>
            </a:pPr>
            <a:r>
              <a:rPr b="0" lang="pt-BR" sz="1100" spc="-1" strike="noStrike">
                <a:solidFill>
                  <a:srgbClr val="5c6b7a"/>
                </a:solidFill>
                <a:latin typeface="Aptos"/>
              </a:rPr>
              <a:t>0,00</a:t>
            </a:r>
            <a:endParaRPr b="0" lang="pt-BR" sz="1100" spc="-1" strike="noStrike">
              <a:solidFill>
                <a:srgbClr val="000000"/>
              </a:solidFill>
              <a:latin typeface="Arial"/>
            </a:endParaRPr>
          </a:p>
        </p:txBody>
      </p:sp>
      <p:sp>
        <p:nvSpPr>
          <p:cNvPr id="476" name="Rectangle 10"/>
          <p:cNvSpPr/>
          <p:nvPr/>
        </p:nvSpPr>
        <p:spPr>
          <a:xfrm>
            <a:off x="5360760" y="2084760"/>
            <a:ext cx="10080" cy="2331000"/>
          </a:xfrm>
          <a:prstGeom prst="rect">
            <a:avLst/>
          </a:prstGeom>
          <a:solidFill>
            <a:srgbClr val="d6e0e8"/>
          </a:solidFill>
          <a:ln>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77" name="TextBox 11"/>
          <p:cNvSpPr/>
          <p:nvPr/>
        </p:nvSpPr>
        <p:spPr>
          <a:xfrm>
            <a:off x="5132160" y="4462200"/>
            <a:ext cx="502200" cy="204120"/>
          </a:xfrm>
          <a:prstGeom prst="rect">
            <a:avLst/>
          </a:prstGeom>
          <a:noFill/>
          <a:ln w="0">
            <a:noFill/>
          </a:ln>
        </p:spPr>
        <p:style>
          <a:lnRef idx="0"/>
          <a:fillRef idx="0"/>
          <a:effectRef idx="0"/>
          <a:fontRef idx="minor"/>
        </p:style>
        <p:txBody>
          <a:bodyPr lIns="18360" rIns="18360" tIns="18360" bIns="18360" anchor="t">
            <a:spAutoFit/>
          </a:bodyPr>
          <a:p>
            <a:pPr algn="ctr" defTabSz="914400">
              <a:lnSpc>
                <a:spcPct val="100000"/>
              </a:lnSpc>
            </a:pPr>
            <a:r>
              <a:rPr b="0" lang="pt-BR" sz="1100" spc="-1" strike="noStrike">
                <a:solidFill>
                  <a:srgbClr val="5c6b7a"/>
                </a:solidFill>
                <a:latin typeface="Aptos"/>
              </a:rPr>
              <a:t>0,02</a:t>
            </a:r>
            <a:endParaRPr b="0" lang="pt-BR" sz="1100" spc="-1" strike="noStrike">
              <a:solidFill>
                <a:srgbClr val="000000"/>
              </a:solidFill>
              <a:latin typeface="Arial"/>
            </a:endParaRPr>
          </a:p>
        </p:txBody>
      </p:sp>
      <p:sp>
        <p:nvSpPr>
          <p:cNvPr id="478" name="Rectangle 12"/>
          <p:cNvSpPr/>
          <p:nvPr/>
        </p:nvSpPr>
        <p:spPr>
          <a:xfrm>
            <a:off x="6743880" y="2084760"/>
            <a:ext cx="10080" cy="2331000"/>
          </a:xfrm>
          <a:prstGeom prst="rect">
            <a:avLst/>
          </a:prstGeom>
          <a:solidFill>
            <a:srgbClr val="d6e0e8"/>
          </a:solidFill>
          <a:ln>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79" name="TextBox 13"/>
          <p:cNvSpPr/>
          <p:nvPr/>
        </p:nvSpPr>
        <p:spPr>
          <a:xfrm>
            <a:off x="6515280" y="4462200"/>
            <a:ext cx="502200" cy="204120"/>
          </a:xfrm>
          <a:prstGeom prst="rect">
            <a:avLst/>
          </a:prstGeom>
          <a:noFill/>
          <a:ln w="0">
            <a:noFill/>
          </a:ln>
        </p:spPr>
        <p:style>
          <a:lnRef idx="0"/>
          <a:fillRef idx="0"/>
          <a:effectRef idx="0"/>
          <a:fontRef idx="minor"/>
        </p:style>
        <p:txBody>
          <a:bodyPr lIns="18360" rIns="18360" tIns="18360" bIns="18360" anchor="t">
            <a:spAutoFit/>
          </a:bodyPr>
          <a:p>
            <a:pPr algn="ctr" defTabSz="914400">
              <a:lnSpc>
                <a:spcPct val="100000"/>
              </a:lnSpc>
            </a:pPr>
            <a:r>
              <a:rPr b="0" lang="pt-BR" sz="1100" spc="-1" strike="noStrike">
                <a:solidFill>
                  <a:srgbClr val="5c6b7a"/>
                </a:solidFill>
                <a:latin typeface="Aptos"/>
              </a:rPr>
              <a:t>0,04</a:t>
            </a:r>
            <a:endParaRPr b="0" lang="pt-BR" sz="1100" spc="-1" strike="noStrike">
              <a:solidFill>
                <a:srgbClr val="000000"/>
              </a:solidFill>
              <a:latin typeface="Arial"/>
            </a:endParaRPr>
          </a:p>
        </p:txBody>
      </p:sp>
      <p:sp>
        <p:nvSpPr>
          <p:cNvPr id="480" name="Rectangle 14"/>
          <p:cNvSpPr/>
          <p:nvPr/>
        </p:nvSpPr>
        <p:spPr>
          <a:xfrm>
            <a:off x="8126640" y="2084760"/>
            <a:ext cx="10080" cy="2331000"/>
          </a:xfrm>
          <a:prstGeom prst="rect">
            <a:avLst/>
          </a:prstGeom>
          <a:solidFill>
            <a:srgbClr val="d6e0e8"/>
          </a:solidFill>
          <a:ln>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81" name="TextBox 15"/>
          <p:cNvSpPr/>
          <p:nvPr/>
        </p:nvSpPr>
        <p:spPr>
          <a:xfrm>
            <a:off x="7898040" y="4462200"/>
            <a:ext cx="502200" cy="204120"/>
          </a:xfrm>
          <a:prstGeom prst="rect">
            <a:avLst/>
          </a:prstGeom>
          <a:noFill/>
          <a:ln w="0">
            <a:noFill/>
          </a:ln>
        </p:spPr>
        <p:style>
          <a:lnRef idx="0"/>
          <a:fillRef idx="0"/>
          <a:effectRef idx="0"/>
          <a:fontRef idx="minor"/>
        </p:style>
        <p:txBody>
          <a:bodyPr lIns="18360" rIns="18360" tIns="18360" bIns="18360" anchor="t">
            <a:spAutoFit/>
          </a:bodyPr>
          <a:p>
            <a:pPr algn="ctr" defTabSz="914400">
              <a:lnSpc>
                <a:spcPct val="100000"/>
              </a:lnSpc>
            </a:pPr>
            <a:r>
              <a:rPr b="0" lang="pt-BR" sz="1100" spc="-1" strike="noStrike">
                <a:solidFill>
                  <a:srgbClr val="5c6b7a"/>
                </a:solidFill>
                <a:latin typeface="Aptos"/>
              </a:rPr>
              <a:t>0,06</a:t>
            </a:r>
            <a:endParaRPr b="0" lang="pt-BR" sz="1100" spc="-1" strike="noStrike">
              <a:solidFill>
                <a:srgbClr val="000000"/>
              </a:solidFill>
              <a:latin typeface="Arial"/>
            </a:endParaRPr>
          </a:p>
        </p:txBody>
      </p:sp>
      <p:sp>
        <p:nvSpPr>
          <p:cNvPr id="482" name="Rectangle 16"/>
          <p:cNvSpPr/>
          <p:nvPr/>
        </p:nvSpPr>
        <p:spPr>
          <a:xfrm>
            <a:off x="9509760" y="2084760"/>
            <a:ext cx="10080" cy="2331000"/>
          </a:xfrm>
          <a:prstGeom prst="rect">
            <a:avLst/>
          </a:prstGeom>
          <a:solidFill>
            <a:srgbClr val="d6e0e8"/>
          </a:solidFill>
          <a:ln>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83" name="TextBox 17"/>
          <p:cNvSpPr/>
          <p:nvPr/>
        </p:nvSpPr>
        <p:spPr>
          <a:xfrm>
            <a:off x="9281160" y="4462200"/>
            <a:ext cx="502200" cy="204120"/>
          </a:xfrm>
          <a:prstGeom prst="rect">
            <a:avLst/>
          </a:prstGeom>
          <a:noFill/>
          <a:ln w="0">
            <a:noFill/>
          </a:ln>
        </p:spPr>
        <p:style>
          <a:lnRef idx="0"/>
          <a:fillRef idx="0"/>
          <a:effectRef idx="0"/>
          <a:fontRef idx="minor"/>
        </p:style>
        <p:txBody>
          <a:bodyPr lIns="18360" rIns="18360" tIns="18360" bIns="18360" anchor="t">
            <a:spAutoFit/>
          </a:bodyPr>
          <a:p>
            <a:pPr algn="ctr" defTabSz="914400">
              <a:lnSpc>
                <a:spcPct val="100000"/>
              </a:lnSpc>
            </a:pPr>
            <a:r>
              <a:rPr b="0" lang="pt-BR" sz="1100" spc="-1" strike="noStrike">
                <a:solidFill>
                  <a:srgbClr val="5c6b7a"/>
                </a:solidFill>
                <a:latin typeface="Aptos"/>
              </a:rPr>
              <a:t>0,08</a:t>
            </a:r>
            <a:endParaRPr b="0" lang="pt-BR" sz="1100" spc="-1" strike="noStrike">
              <a:solidFill>
                <a:srgbClr val="000000"/>
              </a:solidFill>
              <a:latin typeface="Arial"/>
            </a:endParaRPr>
          </a:p>
        </p:txBody>
      </p:sp>
      <p:sp>
        <p:nvSpPr>
          <p:cNvPr id="484" name="TextBox 18"/>
          <p:cNvSpPr/>
          <p:nvPr/>
        </p:nvSpPr>
        <p:spPr>
          <a:xfrm>
            <a:off x="5394960" y="4736520"/>
            <a:ext cx="2742480" cy="204120"/>
          </a:xfrm>
          <a:prstGeom prst="rect">
            <a:avLst/>
          </a:prstGeom>
          <a:noFill/>
          <a:ln w="0">
            <a:noFill/>
          </a:ln>
        </p:spPr>
        <p:style>
          <a:lnRef idx="0"/>
          <a:fillRef idx="0"/>
          <a:effectRef idx="0"/>
          <a:fontRef idx="minor"/>
        </p:style>
        <p:txBody>
          <a:bodyPr lIns="18360" rIns="18360" tIns="18360" bIns="18360" anchor="t">
            <a:spAutoFit/>
          </a:bodyPr>
          <a:p>
            <a:pPr algn="ctr" defTabSz="914400">
              <a:lnSpc>
                <a:spcPct val="100000"/>
              </a:lnSpc>
            </a:pPr>
            <a:r>
              <a:rPr b="0" lang="pt-BR" sz="1100" spc="-1" strike="noStrike">
                <a:solidFill>
                  <a:srgbClr val="5c6b7a"/>
                </a:solidFill>
                <a:latin typeface="Aptos"/>
              </a:rPr>
              <a:t>MSE nos patches ocultos</a:t>
            </a:r>
            <a:endParaRPr b="0" lang="pt-BR" sz="1100" spc="-1" strike="noStrike">
              <a:solidFill>
                <a:srgbClr val="000000"/>
              </a:solidFill>
              <a:latin typeface="Arial"/>
            </a:endParaRPr>
          </a:p>
        </p:txBody>
      </p:sp>
      <p:sp>
        <p:nvSpPr>
          <p:cNvPr id="485" name="TextBox 19"/>
          <p:cNvSpPr/>
          <p:nvPr/>
        </p:nvSpPr>
        <p:spPr>
          <a:xfrm>
            <a:off x="713160" y="2615040"/>
            <a:ext cx="2056680" cy="264960"/>
          </a:xfrm>
          <a:prstGeom prst="rect">
            <a:avLst/>
          </a:prstGeom>
          <a:noFill/>
          <a:ln w="0">
            <a:noFill/>
          </a:ln>
        </p:spPr>
        <p:style>
          <a:lnRef idx="0"/>
          <a:fillRef idx="0"/>
          <a:effectRef idx="0"/>
          <a:fontRef idx="minor"/>
        </p:style>
        <p:txBody>
          <a:bodyPr lIns="18360" rIns="18360" tIns="18360" bIns="18360" anchor="t">
            <a:spAutoFit/>
          </a:bodyPr>
          <a:p>
            <a:pPr algn="r" defTabSz="914400">
              <a:lnSpc>
                <a:spcPct val="100000"/>
              </a:lnSpc>
            </a:pPr>
            <a:r>
              <a:rPr b="1" lang="pt-BR" sz="1500" spc="-1" strike="noStrike">
                <a:solidFill>
                  <a:srgbClr val="0d1f3a"/>
                </a:solidFill>
                <a:latin typeface="Aptos"/>
              </a:rPr>
              <a:t>Máscara 50%</a:t>
            </a:r>
            <a:endParaRPr b="0" lang="pt-BR" sz="1500" spc="-1" strike="noStrike">
              <a:solidFill>
                <a:srgbClr val="000000"/>
              </a:solidFill>
              <a:latin typeface="Arial"/>
            </a:endParaRPr>
          </a:p>
        </p:txBody>
      </p:sp>
      <p:sp>
        <p:nvSpPr>
          <p:cNvPr id="486" name="Rounded Rectangle 20"/>
          <p:cNvSpPr/>
          <p:nvPr/>
        </p:nvSpPr>
        <p:spPr>
          <a:xfrm>
            <a:off x="3977640" y="2487240"/>
            <a:ext cx="4206240" cy="566280"/>
          </a:xfrm>
          <a:prstGeom prst="roundRect">
            <a:avLst>
              <a:gd name="adj" fmla="val 8000"/>
            </a:avLst>
          </a:prstGeom>
          <a:solidFill>
            <a:srgbClr val="0093dd"/>
          </a:solidFill>
          <a:ln>
            <a:solidFill>
              <a:srgbClr val="0093dd"/>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87" name="TextBox 21"/>
          <p:cNvSpPr/>
          <p:nvPr/>
        </p:nvSpPr>
        <p:spPr>
          <a:xfrm>
            <a:off x="8331120" y="2597040"/>
            <a:ext cx="1142280" cy="28008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600" spc="-1" strike="noStrike">
                <a:solidFill>
                  <a:srgbClr val="0d1f3a"/>
                </a:solidFill>
                <a:latin typeface="Aptos"/>
              </a:rPr>
              <a:t>0,0608</a:t>
            </a:r>
            <a:endParaRPr b="0" lang="pt-BR" sz="1600" spc="-1" strike="noStrike">
              <a:solidFill>
                <a:srgbClr val="000000"/>
              </a:solidFill>
              <a:latin typeface="Arial"/>
            </a:endParaRPr>
          </a:p>
        </p:txBody>
      </p:sp>
      <p:sp>
        <p:nvSpPr>
          <p:cNvPr id="488" name="TextBox 22"/>
          <p:cNvSpPr/>
          <p:nvPr/>
        </p:nvSpPr>
        <p:spPr>
          <a:xfrm>
            <a:off x="713160" y="3730680"/>
            <a:ext cx="2056680" cy="264960"/>
          </a:xfrm>
          <a:prstGeom prst="rect">
            <a:avLst/>
          </a:prstGeom>
          <a:noFill/>
          <a:ln w="0">
            <a:noFill/>
          </a:ln>
        </p:spPr>
        <p:style>
          <a:lnRef idx="0"/>
          <a:fillRef idx="0"/>
          <a:effectRef idx="0"/>
          <a:fontRef idx="minor"/>
        </p:style>
        <p:txBody>
          <a:bodyPr lIns="18360" rIns="18360" tIns="18360" bIns="18360" anchor="t">
            <a:spAutoFit/>
          </a:bodyPr>
          <a:p>
            <a:pPr algn="r" defTabSz="914400">
              <a:lnSpc>
                <a:spcPct val="100000"/>
              </a:lnSpc>
            </a:pPr>
            <a:r>
              <a:rPr b="1" lang="pt-BR" sz="1500" spc="-1" strike="noStrike">
                <a:solidFill>
                  <a:srgbClr val="0d1f3a"/>
                </a:solidFill>
                <a:latin typeface="Aptos"/>
              </a:rPr>
              <a:t>Máscara 75%</a:t>
            </a:r>
            <a:endParaRPr b="0" lang="pt-BR" sz="1500" spc="-1" strike="noStrike">
              <a:solidFill>
                <a:srgbClr val="000000"/>
              </a:solidFill>
              <a:latin typeface="Arial"/>
            </a:endParaRPr>
          </a:p>
        </p:txBody>
      </p:sp>
      <p:sp>
        <p:nvSpPr>
          <p:cNvPr id="489" name="Rounded Rectangle 23"/>
          <p:cNvSpPr/>
          <p:nvPr/>
        </p:nvSpPr>
        <p:spPr>
          <a:xfrm>
            <a:off x="3977640" y="3602880"/>
            <a:ext cx="4955760" cy="566280"/>
          </a:xfrm>
          <a:prstGeom prst="roundRect">
            <a:avLst>
              <a:gd name="adj" fmla="val 8000"/>
            </a:avLst>
          </a:prstGeom>
          <a:solidFill>
            <a:srgbClr val="f27060"/>
          </a:solidFill>
          <a:ln>
            <a:solidFill>
              <a:srgbClr val="f2706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90" name="TextBox 24"/>
          <p:cNvSpPr/>
          <p:nvPr/>
        </p:nvSpPr>
        <p:spPr>
          <a:xfrm>
            <a:off x="9080280" y="3712320"/>
            <a:ext cx="1142280" cy="28008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600" spc="-1" strike="noStrike">
                <a:solidFill>
                  <a:srgbClr val="0d1f3a"/>
                </a:solidFill>
                <a:latin typeface="Aptos"/>
              </a:rPr>
              <a:t>0,0717</a:t>
            </a:r>
            <a:endParaRPr b="0" lang="pt-BR" sz="1600" spc="-1" strike="noStrike">
              <a:solidFill>
                <a:srgbClr val="000000"/>
              </a:solidFill>
              <a:latin typeface="Arial"/>
            </a:endParaRPr>
          </a:p>
        </p:txBody>
      </p:sp>
      <p:sp>
        <p:nvSpPr>
          <p:cNvPr id="491" name="Rounded Rectangle 25"/>
          <p:cNvSpPr/>
          <p:nvPr/>
        </p:nvSpPr>
        <p:spPr>
          <a:xfrm>
            <a:off x="713160" y="5139000"/>
            <a:ext cx="10743480" cy="904680"/>
          </a:xfrm>
          <a:prstGeom prst="roundRect">
            <a:avLst>
              <a:gd name="adj" fmla="val 8000"/>
            </a:avLst>
          </a:prstGeom>
          <a:solidFill>
            <a:srgbClr val="f1f7fb"/>
          </a:solidFill>
          <a:ln w="10160">
            <a:solidFill>
              <a:srgbClr val="d6e0e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pt-BR" sz="1800" spc="-1" strike="noStrike">
              <a:solidFill>
                <a:schemeClr val="lt1"/>
              </a:solidFill>
              <a:latin typeface="Aptos"/>
            </a:endParaRPr>
          </a:p>
        </p:txBody>
      </p:sp>
      <p:sp>
        <p:nvSpPr>
          <p:cNvPr id="492" name="TextBox 26"/>
          <p:cNvSpPr/>
          <p:nvPr/>
        </p:nvSpPr>
        <p:spPr>
          <a:xfrm>
            <a:off x="932760" y="5285160"/>
            <a:ext cx="1873800" cy="23472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1" lang="pt-BR" sz="1300" spc="-1" strike="noStrike">
                <a:solidFill>
                  <a:srgbClr val="0d1f3a"/>
                </a:solidFill>
                <a:latin typeface="Aptos"/>
              </a:rPr>
              <a:t>Leitura delimitada</a:t>
            </a:r>
            <a:endParaRPr b="0" lang="pt-BR" sz="1300" spc="-1" strike="noStrike">
              <a:solidFill>
                <a:srgbClr val="000000"/>
              </a:solidFill>
              <a:latin typeface="Arial"/>
            </a:endParaRPr>
          </a:p>
        </p:txBody>
      </p:sp>
      <p:sp>
        <p:nvSpPr>
          <p:cNvPr id="493" name="TextBox 27"/>
          <p:cNvSpPr/>
          <p:nvPr/>
        </p:nvSpPr>
        <p:spPr>
          <a:xfrm>
            <a:off x="2788920" y="5239440"/>
            <a:ext cx="8366040" cy="387000"/>
          </a:xfrm>
          <a:prstGeom prst="rect">
            <a:avLst/>
          </a:prstGeom>
          <a:noFill/>
          <a:ln w="0">
            <a:noFill/>
          </a:ln>
        </p:spPr>
        <p:style>
          <a:lnRef idx="0"/>
          <a:fillRef idx="0"/>
          <a:effectRef idx="0"/>
          <a:fontRef idx="minor"/>
        </p:style>
        <p:txBody>
          <a:bodyPr lIns="18360" rIns="18360" tIns="18360" bIns="18360" anchor="t">
            <a:spAutoFit/>
          </a:bodyPr>
          <a:p>
            <a:pPr defTabSz="914400">
              <a:lnSpc>
                <a:spcPct val="100000"/>
              </a:lnSpc>
            </a:pPr>
            <a:r>
              <a:rPr b="0" lang="pt-BR" sz="1150" spc="-1" strike="noStrike">
                <a:solidFill>
                  <a:srgbClr val="1c2a39"/>
                </a:solidFill>
                <a:latin typeface="Aptos"/>
              </a:rPr>
              <a:t>Nesta configuração, o treino com 75% de máscara apresentou MSE maior. Cada condição veio de um treino separado; há uma única semente, sem teste de significância. Classificação downstream não foi avaliada.</a:t>
            </a:r>
            <a:endParaRPr b="0" lang="pt-BR"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495" name="CaixaDeTexto 1"/>
          <p:cNvSpPr/>
          <p:nvPr/>
        </p:nvSpPr>
        <p:spPr>
          <a:xfrm>
            <a:off x="945000" y="474480"/>
            <a:ext cx="8198280" cy="5027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pt-BR" sz="1800" spc="-1" strike="noStrike">
                <a:solidFill>
                  <a:schemeClr val="dk1"/>
                </a:solidFill>
                <a:latin typeface="Aptos"/>
              </a:rPr>
              <a:t>	</a:t>
            </a:r>
            <a:r>
              <a:rPr b="1" lang="pt-BR" sz="1800" spc="-1" strike="noStrike">
                <a:solidFill>
                  <a:schemeClr val="dk1"/>
                </a:solidFill>
                <a:latin typeface="Aptos"/>
              </a:rPr>
              <a:t>CONCLUSÕES</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Masked Modeling</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Permite aprender a partir de </a:t>
            </a:r>
            <a:r>
              <a:rPr b="1" lang="pt-BR" sz="1800" spc="-1" strike="noStrike">
                <a:solidFill>
                  <a:schemeClr val="dk1"/>
                </a:solidFill>
                <a:latin typeface="Aptos"/>
              </a:rPr>
              <a:t>dados não rotulados</a:t>
            </a:r>
            <a:r>
              <a:rPr b="0" lang="pt-BR" sz="1800" spc="-1" strike="noStrike">
                <a:solidFill>
                  <a:schemeClr val="dk1"/>
                </a:solidFill>
                <a:latin typeface="Aptos"/>
              </a:rPr>
              <a: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Parte da entrada é ocultada e utilizada como </a:t>
            </a:r>
            <a:r>
              <a:rPr b="1" lang="pt-BR" sz="1800" spc="-1" strike="noStrike">
                <a:solidFill>
                  <a:schemeClr val="dk1"/>
                </a:solidFill>
                <a:latin typeface="Aptos"/>
              </a:rPr>
              <a:t>alvo de aprendizado</a:t>
            </a:r>
            <a:r>
              <a:rPr b="0" lang="pt-BR" sz="1800" spc="-1" strike="noStrike">
                <a:solidFill>
                  <a:schemeClr val="dk1"/>
                </a:solidFill>
                <a:latin typeface="Aptos"/>
              </a:rPr>
              <a: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A estratégia pode ser aplicada a diferentes modalidades, como </a:t>
            </a:r>
            <a:r>
              <a:rPr b="1" lang="pt-BR" sz="1800" spc="-1" strike="noStrike">
                <a:solidFill>
                  <a:schemeClr val="dk1"/>
                </a:solidFill>
                <a:latin typeface="Aptos"/>
              </a:rPr>
              <a:t>texto e imagens</a:t>
            </a:r>
            <a:r>
              <a:rPr b="0" lang="pt-BR" sz="1800" spc="-1" strike="noStrike">
                <a:solidFill>
                  <a:schemeClr val="dk1"/>
                </a:solidFill>
                <a:latin typeface="Aptos"/>
              </a:rPr>
              <a:t>. </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Masked Autoencoders (MAE)</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Utilizam uma alta taxa de mascaramento dos patches;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O </a:t>
            </a:r>
            <a:r>
              <a:rPr b="1" lang="pt-BR" sz="1800" spc="-1" strike="noStrike">
                <a:solidFill>
                  <a:schemeClr val="dk1"/>
                </a:solidFill>
                <a:latin typeface="Aptos"/>
              </a:rPr>
              <a:t>encoder</a:t>
            </a:r>
            <a:r>
              <a:rPr b="0" lang="pt-BR" sz="1800" spc="-1" strike="noStrike">
                <a:solidFill>
                  <a:schemeClr val="dk1"/>
                </a:solidFill>
                <a:latin typeface="Aptos"/>
              </a:rPr>
              <a:t> processa apenas os patches visíveis;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Um </a:t>
            </a:r>
            <a:r>
              <a:rPr b="1" lang="pt-BR" sz="1800" spc="-1" strike="noStrike">
                <a:solidFill>
                  <a:schemeClr val="dk1"/>
                </a:solidFill>
                <a:latin typeface="Aptos"/>
              </a:rPr>
              <a:t>decoder leve</a:t>
            </a:r>
            <a:r>
              <a:rPr b="0" lang="pt-BR" sz="1800" spc="-1" strike="noStrike">
                <a:solidFill>
                  <a:schemeClr val="dk1"/>
                </a:solidFill>
                <a:latin typeface="Aptos"/>
              </a:rPr>
              <a:t> reconstrói os patches mascarados;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O objetivo principal é aprender </a:t>
            </a:r>
            <a:r>
              <a:rPr b="1" lang="pt-BR" sz="1800" spc="-1" strike="noStrike">
                <a:solidFill>
                  <a:schemeClr val="dk1"/>
                </a:solidFill>
                <a:latin typeface="Aptos"/>
              </a:rPr>
              <a:t>representações visuais úteis e generalizáveis</a:t>
            </a:r>
            <a:r>
              <a:rPr b="0" lang="pt-BR" sz="1800" spc="-1" strike="noStrike">
                <a:solidFill>
                  <a:schemeClr val="dk1"/>
                </a:solidFill>
                <a:latin typeface="Aptos"/>
              </a:rPr>
              <a:t>. </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O que observamos no experimento</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O aumento do mascaramento elevou o </a:t>
            </a:r>
            <a:r>
              <a:rPr b="1" lang="pt-BR" sz="1800" spc="-1" strike="noStrike">
                <a:solidFill>
                  <a:schemeClr val="dk1"/>
                </a:solidFill>
                <a:latin typeface="Aptos"/>
              </a:rPr>
              <a:t>erro de reconstrução</a:t>
            </a:r>
            <a:r>
              <a:rPr b="0" lang="pt-BR" sz="1800" spc="-1" strike="noStrike">
                <a:solidFill>
                  <a:schemeClr val="dk1"/>
                </a:solidFill>
                <a:latin typeface="Aptos"/>
              </a:rPr>
              <a: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MSE de </a:t>
            </a:r>
            <a:r>
              <a:rPr b="1" lang="pt-BR" sz="1800" spc="-1" strike="noStrike">
                <a:solidFill>
                  <a:schemeClr val="dk1"/>
                </a:solidFill>
                <a:latin typeface="Aptos"/>
              </a:rPr>
              <a:t>0,0476</a:t>
            </a:r>
            <a:r>
              <a:rPr b="0" lang="pt-BR" sz="1800" spc="-1" strike="noStrike">
                <a:solidFill>
                  <a:schemeClr val="dk1"/>
                </a:solidFill>
                <a:latin typeface="Aptos"/>
              </a:rPr>
              <a:t> com 25% de mascaramento;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MSE de </a:t>
            </a:r>
            <a:r>
              <a:rPr b="1" lang="pt-BR" sz="1800" spc="-1" strike="noStrike">
                <a:solidFill>
                  <a:schemeClr val="dk1"/>
                </a:solidFill>
                <a:latin typeface="Aptos"/>
              </a:rPr>
              <a:t>0,1403</a:t>
            </a:r>
            <a:r>
              <a:rPr b="0" lang="pt-BR" sz="1800" spc="-1" strike="noStrike">
                <a:solidFill>
                  <a:schemeClr val="dk1"/>
                </a:solidFill>
                <a:latin typeface="Aptos"/>
              </a:rPr>
              <a:t> com 75%;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Com 90%, o erro aumentou significativamente para </a:t>
            </a:r>
            <a:r>
              <a:rPr b="1" lang="pt-BR" sz="1800" spc="-1" strike="noStrike">
                <a:solidFill>
                  <a:schemeClr val="dk1"/>
                </a:solidFill>
                <a:latin typeface="Aptos"/>
              </a:rPr>
              <a:t>0,3117</a:t>
            </a:r>
            <a:r>
              <a:rPr b="0" lang="pt-BR" sz="1800" spc="-1" strike="noStrike">
                <a:solidFill>
                  <a:schemeClr val="dk1"/>
                </a:solidFill>
                <a:latin typeface="Aptos"/>
              </a:rPr>
              <a:t>;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Menos informação visível torna a reconstrução mais desafiadora.</a:t>
            </a:r>
            <a:endParaRPr b="0" lang="pt-BR" sz="1800" spc="-1" strike="noStrike">
              <a:solidFill>
                <a:srgbClr val="000000"/>
              </a:solidFill>
              <a:latin typeface="Arial"/>
            </a:endParaRPr>
          </a:p>
        </p:txBody>
      </p:sp>
      <p:sp>
        <p:nvSpPr>
          <p:cNvPr id="496" name="Rectangle 9"/>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nSpc>
                <a:spcPct val="100000"/>
              </a:lnSpc>
            </a:pPr>
            <a:endParaRPr b="0" lang="pt-BR" sz="1800" spc="-1" strike="noStrike">
              <a:solidFill>
                <a:schemeClr val="lt1"/>
              </a:solidFill>
              <a:latin typeface="Aptos"/>
            </a:endParaRPr>
          </a:p>
        </p:txBody>
      </p:sp>
      <p:sp>
        <p:nvSpPr>
          <p:cNvPr id="497" name="Rectangle 11"/>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Método MAE: (HE et al., 2022).</a:t>
            </a:r>
            <a:endParaRPr b="0" lang="pt-BR" sz="850" spc="-1" strike="noStrike">
              <a:solidFill>
                <a:srgbClr val="ffffff"/>
              </a:solidFill>
              <a:latin typeface="Arial"/>
            </a:endParaRPr>
          </a:p>
        </p:txBody>
      </p:sp>
      <p:sp>
        <p:nvSpPr>
          <p:cNvPr id="498" name="TextBox 14"/>
          <p:cNvSpPr/>
          <p:nvPr/>
        </p:nvSpPr>
        <p:spPr>
          <a:xfrm>
            <a:off x="11623320" y="6519600"/>
            <a:ext cx="11556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20</a:t>
            </a:r>
            <a:endParaRPr b="0" lang="pt-BR" sz="800" spc="-1" strike="noStrike">
              <a:solidFill>
                <a:srgbClr val="000000"/>
              </a:solidFill>
              <a:latin typeface="Arial"/>
            </a:endParaRPr>
          </a:p>
        </p:txBody>
      </p:sp>
      <p:sp>
        <p:nvSpPr>
          <p:cNvPr id="499" name="TextBox 16"/>
          <p:cNvSpPr/>
          <p:nvPr/>
        </p:nvSpPr>
        <p:spPr>
          <a:xfrm>
            <a:off x="3429720" y="5650920"/>
            <a:ext cx="3207240" cy="167760"/>
          </a:xfrm>
          <a:prstGeom prst="rect">
            <a:avLst/>
          </a:prstGeom>
          <a:noFill/>
          <a:ln w="0">
            <a:noFill/>
          </a:ln>
        </p:spPr>
        <p:style>
          <a:lnRef idx="0"/>
          <a:fillRef idx="0"/>
          <a:effectRef idx="0"/>
          <a:fontRef idx="minor"/>
        </p:style>
        <p:txBody>
          <a:bodyPr wrap="none" lIns="36720" rIns="0" tIns="0" bIns="0" anchor="t">
            <a:spAutoFit/>
          </a:bodyPr>
          <a:p>
            <a:pPr defTabSz="914400">
              <a:lnSpc>
                <a:spcPct val="100000"/>
              </a:lnSpc>
            </a:pPr>
            <a:r>
              <a:rPr b="1" lang="pt-BR" sz="1100" spc="-1" strike="noStrike">
                <a:solidFill>
                  <a:srgbClr val="f27060"/>
                </a:solidFill>
                <a:latin typeface="Aptos"/>
              </a:rPr>
              <a:t>MSE: resultados do experimento apresentado</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501" name="CaixaDeTexto 4"/>
          <p:cNvSpPr/>
          <p:nvPr/>
        </p:nvSpPr>
        <p:spPr>
          <a:xfrm>
            <a:off x="1645920" y="58680"/>
            <a:ext cx="9120600" cy="639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pc="-1" strike="noStrike">
                <a:solidFill>
                  <a:schemeClr val="dk1"/>
                </a:solidFill>
                <a:latin typeface="Aptos"/>
              </a:rPr>
              <a:t>Aplicações do Masked Modeling</a:t>
            </a:r>
            <a:endParaRPr b="0" lang="pt-BR" sz="1800" spc="-1" strike="noStrike">
              <a:solidFill>
                <a:srgbClr val="000000"/>
              </a:solidFill>
              <a:latin typeface="Arial"/>
            </a:endParaRPr>
          </a:p>
          <a:p>
            <a:pPr defTabSz="914400">
              <a:lnSpc>
                <a:spcPct val="100000"/>
              </a:lnSpc>
            </a:pPr>
            <a:r>
              <a:rPr b="0" lang="pt-BR" sz="1800" spc="-1" strike="noStrike">
                <a:solidFill>
                  <a:schemeClr val="dk1"/>
                </a:solidFill>
                <a:latin typeface="Aptos"/>
              </a:rPr>
              <a:t>O Masked Modeling pode ser utilizado para </a:t>
            </a:r>
            <a:r>
              <a:rPr b="1" lang="pt-BR" sz="1800" spc="-1" strike="noStrike">
                <a:solidFill>
                  <a:schemeClr val="dk1"/>
                </a:solidFill>
                <a:latin typeface="Aptos"/>
              </a:rPr>
              <a:t>pré-treinar modelos com grandes volumes de dados não rotulados</a:t>
            </a:r>
            <a:r>
              <a:rPr b="0" lang="pt-BR" sz="1800" spc="-1" strike="noStrike">
                <a:solidFill>
                  <a:schemeClr val="dk1"/>
                </a:solidFill>
                <a:latin typeface="Aptos"/>
              </a:rPr>
              <a:t>, permitindo posteriormente transferir as representações aprendidas para diferentes tarefas.</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Visão Computacional</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Classificação de imagens;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Detecção de objetos;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Segmentação semântica;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Reconhecimento visual. </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Imagens Médicas</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Análise de radiografias, tomografias e ressonâncias;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Pré-treinamento utilizando imagens sem anotação;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Extração de características para tarefas de diagnóstico. </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Sensoriamento Remoto</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Classificação de uso e cobertura do solo;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Detecção de mudanças;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Análise de imagens de satélite;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Monitoramento ambiental e agrícola. </a:t>
            </a:r>
            <a:endParaRPr b="0" lang="pt-BR" sz="1800" spc="-1" strike="noStrike">
              <a:solidFill>
                <a:srgbClr val="000000"/>
              </a:solidFill>
              <a:latin typeface="Arial"/>
            </a:endParaRPr>
          </a:p>
          <a:p>
            <a:pPr defTabSz="914400">
              <a:lnSpc>
                <a:spcPct val="100000"/>
              </a:lnSpc>
            </a:pPr>
            <a:r>
              <a:rPr b="1" lang="pt-BR" sz="1800" spc="-1" strike="noStrike">
                <a:solidFill>
                  <a:schemeClr val="dk1"/>
                </a:solidFill>
                <a:latin typeface="Aptos"/>
              </a:rPr>
              <a:t>Outras modalidades</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Processamento de linguagem natural;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Vídeos;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Áudio; </a:t>
            </a:r>
            <a:endParaRPr b="0" lang="pt-BR" sz="1800" spc="-1" strike="noStrike">
              <a:solidFill>
                <a:srgbClr val="000000"/>
              </a:solidFill>
              <a:latin typeface="Arial"/>
            </a:endParaRPr>
          </a:p>
          <a:p>
            <a:pPr marL="343080" indent="-343080" defTabSz="914400">
              <a:lnSpc>
                <a:spcPct val="100000"/>
              </a:lnSpc>
              <a:buClr>
                <a:srgbClr val="000000"/>
              </a:buClr>
              <a:buFont typeface="Arial"/>
              <a:buChar char="•"/>
            </a:pPr>
            <a:r>
              <a:rPr b="0" lang="pt-BR" sz="1800" spc="-1" strike="noStrike">
                <a:solidFill>
                  <a:schemeClr val="dk1"/>
                </a:solidFill>
                <a:latin typeface="Aptos"/>
              </a:rPr>
              <a:t>Aprendizado multimodal.</a:t>
            </a:r>
            <a:endParaRPr b="0" lang="pt-BR" sz="1800" spc="-1" strike="noStrike">
              <a:solidFill>
                <a:srgbClr val="000000"/>
              </a:solidFill>
              <a:latin typeface="Arial"/>
            </a:endParaRPr>
          </a:p>
        </p:txBody>
      </p:sp>
      <p:sp>
        <p:nvSpPr>
          <p:cNvPr id="502" name="Rectangle 5"/>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503" name="Rectangle 6"/>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1800" spc="-1" strike="noStrike">
                <a:solidFill>
                  <a:schemeClr val="lt1"/>
                </a:solidFill>
                <a:latin typeface="Aptos"/>
              </a:rPr>
              <a:t>Visão: (HE et al., 2022). Outros domínios: exemplos ilustrativos, não avaliados.</a:t>
            </a:r>
            <a:endParaRPr b="0" lang="pt-BR" sz="1800" spc="-1" strike="noStrike">
              <a:solidFill>
                <a:srgbClr val="ffffff"/>
              </a:solidFill>
              <a:latin typeface="Arial"/>
            </a:endParaRPr>
          </a:p>
        </p:txBody>
      </p:sp>
      <p:sp>
        <p:nvSpPr>
          <p:cNvPr id="504" name="TextBox 7"/>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21</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506" name="CaixaDeTexto 3"/>
          <p:cNvSpPr/>
          <p:nvPr/>
        </p:nvSpPr>
        <p:spPr>
          <a:xfrm>
            <a:off x="1920240" y="1585080"/>
            <a:ext cx="837360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pt-BR" sz="1800" spc="-1" strike="noStrike">
                <a:solidFill>
                  <a:srgbClr val="ff0000"/>
                </a:solidFill>
                <a:latin typeface="Aptos"/>
              </a:rPr>
              <a:t>No Masked Modeling, reconstruir o que foi escondido não é necessariamente o objetivo final: é o mecanismo utilizado para fazer o modelo aprender boas representações dos dados.</a:t>
            </a:r>
            <a:endParaRPr b="0" lang="pt-BR" sz="1800" spc="-1" strike="noStrike">
              <a:solidFill>
                <a:srgbClr val="000000"/>
              </a:solidFill>
              <a:latin typeface="Arial"/>
            </a:endParaRPr>
          </a:p>
        </p:txBody>
      </p:sp>
      <p:sp>
        <p:nvSpPr>
          <p:cNvPr id="507" name="Rectangle 4"/>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508" name="Rectangle 5"/>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r>
              <a:rPr b="0" lang="pt-BR" sz="850" spc="-1" strike="noStrike">
                <a:solidFill>
                  <a:srgbClr val="ffffff"/>
                </a:solidFill>
                <a:latin typeface="Aptos"/>
              </a:rPr>
              <a:t>(HE et al., 2022)</a:t>
            </a:r>
            <a:endParaRPr b="0" lang="pt-BR" sz="850" spc="-1" strike="noStrike">
              <a:solidFill>
                <a:srgbClr val="ffffff"/>
              </a:solidFill>
              <a:latin typeface="Arial"/>
            </a:endParaRPr>
          </a:p>
        </p:txBody>
      </p:sp>
      <p:sp>
        <p:nvSpPr>
          <p:cNvPr id="509" name="TextBox 6"/>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22</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511" name="CaixaDeTexto 3"/>
          <p:cNvSpPr/>
          <p:nvPr/>
        </p:nvSpPr>
        <p:spPr>
          <a:xfrm>
            <a:off x="1920240" y="1585080"/>
            <a:ext cx="8373600" cy="3598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pt-BR" sz="1000" spc="-1" strike="noStrike">
                <a:solidFill>
                  <a:schemeClr val="dk1"/>
                </a:solidFill>
                <a:latin typeface="Aptos"/>
              </a:rPr>
              <a:t>Referências Bibliográficas</a:t>
            </a:r>
            <a:endParaRPr b="0" lang="pt-BR" sz="10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0" lang="pt-BR" sz="1000" spc="-1" strike="noStrike">
                <a:solidFill>
                  <a:schemeClr val="dk1"/>
                </a:solidFill>
                <a:latin typeface="Aptos"/>
              </a:rPr>
              <a:t>BERT | DEVLIN, J.; CHANG, M. W.; LEE, K.; TOUTANOVA, K. BERT: Pre-training of Deep Bidirectional Transformers for Language Understanding. In: NAACL-HLT, 2019, Minneapolis. Proceedings [...]. Minneapolis: ACL, 2019. p. 4171–4186. https://doi.org/10.18653/v1/N19-1423.</a:t>
            </a:r>
            <a:endParaRPr b="0" lang="pt-BR" sz="10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0" lang="pt-BR" sz="1000" spc="-1" strike="noStrike">
                <a:solidFill>
                  <a:schemeClr val="dk1"/>
                </a:solidFill>
                <a:latin typeface="Aptos"/>
              </a:rPr>
              <a:t>ViT | DOSOVITSKIY, A. et al. An Image is Worth 16×16 Words: Transformers for Image Recognition at Scale. In: INTERNATIONAL CONFERENCE ON LEARNING REPRESENTATIONS, 9., 2021. Proceedings [...]. 2021.</a:t>
            </a:r>
            <a:endParaRPr b="0" lang="pt-BR" sz="10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0" lang="pt-BR" sz="1000" spc="-1" strike="noStrike">
                <a:solidFill>
                  <a:schemeClr val="dk1"/>
                </a:solidFill>
                <a:latin typeface="Aptos"/>
              </a:rPr>
              <a:t>MAE | HE, K. et al. Masked Autoencoders Are Scalable Vision Learners. In: IEEE/CVF CONFERENCE ON COMPUTER VISION AND PATTERN RECOGNITION, 2022. Proceedings [...]. 2022. p. 16000–16009. https://doi.org/10.1109/CVPR52688.2022.01553.</a:t>
            </a:r>
            <a:endParaRPr b="0" lang="pt-BR" sz="10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0" lang="pt-BR" sz="1000" spc="-1" strike="noStrike">
                <a:solidFill>
                  <a:schemeClr val="dk1"/>
                </a:solidFill>
                <a:latin typeface="Aptos"/>
              </a:rPr>
              <a:t>BEiT | BAO, H. et al. BEiT: BERT Pre-Training of Image Transformers. In: INTERNATIONAL CONFERENCE ON LEARNING REPRESENTATIONS, 10., 2022. Proceedings [...]. 2022.</a:t>
            </a:r>
            <a:endParaRPr b="0" lang="pt-BR" sz="1000" spc="-1" strike="noStrike">
              <a:solidFill>
                <a:srgbClr val="000000"/>
              </a:solidFill>
              <a:latin typeface="Arial"/>
            </a:endParaRPr>
          </a:p>
          <a:p>
            <a:pPr defTabSz="914400">
              <a:lnSpc>
                <a:spcPct val="100000"/>
              </a:lnSpc>
            </a:pPr>
            <a:endParaRPr b="0" lang="pt-BR" sz="1800" spc="-1" strike="noStrike">
              <a:solidFill>
                <a:srgbClr val="000000"/>
              </a:solidFill>
              <a:latin typeface="Arial"/>
            </a:endParaRPr>
          </a:p>
          <a:p>
            <a:pPr defTabSz="914400">
              <a:lnSpc>
                <a:spcPct val="100000"/>
              </a:lnSpc>
            </a:pPr>
            <a:r>
              <a:rPr b="0" lang="pt-BR" sz="1000" spc="-1" strike="noStrike">
                <a:solidFill>
                  <a:schemeClr val="dk1"/>
                </a:solidFill>
                <a:latin typeface="Aptos"/>
              </a:rPr>
              <a:t>Implementação | HUGGING FACE. ViTMAE. Transformers documentation. Disponível em: https://huggingface.co/docs/transformers/model_doc/vit_mae. Acesso em: 15 out. 2026.</a:t>
            </a:r>
            <a:endParaRPr b="0" lang="pt-BR" sz="1000" spc="-1" strike="noStrike">
              <a:solidFill>
                <a:srgbClr val="000000"/>
              </a:solidFill>
              <a:latin typeface="Arial"/>
            </a:endParaRPr>
          </a:p>
          <a:p>
            <a:pPr defTabSz="914400">
              <a:lnSpc>
                <a:spcPct val="100000"/>
              </a:lnSpc>
            </a:pPr>
            <a:r>
              <a:rPr b="0" lang="pt-BR" sz="1000" spc="-1" strike="noStrike">
                <a:solidFill>
                  <a:schemeClr val="dk1"/>
                </a:solidFill>
                <a:latin typeface="Aptos"/>
              </a:rPr>
              <a:t>Modelo utilizado | META AI. facebook/vit-mae-base. Hugging Face Model Hub. Disponível em: https://huggingface.co/facebook/vit-mae-base. Acesso em: 15 out. 2026.</a:t>
            </a:r>
            <a:endParaRPr b="0" lang="pt-BR" sz="1000" spc="-1" strike="noStrike">
              <a:solidFill>
                <a:srgbClr val="000000"/>
              </a:solidFill>
              <a:latin typeface="Arial"/>
            </a:endParaRPr>
          </a:p>
        </p:txBody>
      </p:sp>
      <p:sp>
        <p:nvSpPr>
          <p:cNvPr id="512" name="Rectangle 4"/>
          <p:cNvSpPr/>
          <p:nvPr/>
        </p:nvSpPr>
        <p:spPr>
          <a:xfrm>
            <a:off x="0" y="6793920"/>
            <a:ext cx="12191400" cy="63360"/>
          </a:xfrm>
          <a:prstGeom prst="rect">
            <a:avLst/>
          </a:prstGeom>
          <a:solidFill>
            <a:srgbClr val="f270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ubTitle"/>
          </p:nvPr>
        </p:nvSpPr>
        <p:spPr>
          <a:xfrm>
            <a:off x="663120" y="743400"/>
            <a:ext cx="10004040" cy="5066640"/>
          </a:xfrm>
          <a:prstGeom prst="rect">
            <a:avLst/>
          </a:prstGeom>
          <a:noFill/>
          <a:ln w="0">
            <a:noFill/>
          </a:ln>
        </p:spPr>
        <p:txBody>
          <a:bodyPr lIns="91440" rIns="91440" tIns="45720" bIns="45720" anchor="t">
            <a:normAutofit/>
          </a:bodyPr>
          <a:p>
            <a:pPr algn="ctr" defTabSz="914400">
              <a:lnSpc>
                <a:spcPct val="90000"/>
              </a:lnSpc>
              <a:spcBef>
                <a:spcPts val="1001"/>
              </a:spcBef>
              <a:tabLst>
                <a:tab algn="l" pos="0"/>
              </a:tabLst>
            </a:pPr>
            <a:r>
              <a:rPr b="1" lang="pt-BR" sz="2400" spc="-1" strike="noStrike">
                <a:solidFill>
                  <a:schemeClr val="dk1"/>
                </a:solidFill>
                <a:latin typeface="Aptos"/>
              </a:rPr>
              <a:t>	</a:t>
            </a: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a:p>
            <a:pPr defTabSz="914400">
              <a:lnSpc>
                <a:spcPct val="90000"/>
              </a:lnSpc>
              <a:spcBef>
                <a:spcPts val="1001"/>
              </a:spcBef>
              <a:tabLst>
                <a:tab algn="l" pos="0"/>
              </a:tabLst>
            </a:pPr>
            <a:endParaRPr b="0" lang="pt-BR" sz="2400" spc="-1" strike="noStrike">
              <a:solidFill>
                <a:srgbClr val="000000"/>
              </a:solidFill>
              <a:latin typeface="Arial"/>
            </a:endParaRPr>
          </a:p>
        </p:txBody>
      </p:sp>
      <p:sp>
        <p:nvSpPr>
          <p:cNvPr id="514" name="CaixaDeTexto 3"/>
          <p:cNvSpPr/>
          <p:nvPr/>
        </p:nvSpPr>
        <p:spPr>
          <a:xfrm>
            <a:off x="1920240" y="1585080"/>
            <a:ext cx="8373600" cy="1422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pt-BR" sz="1700" spc="-1" strike="noStrike">
                <a:solidFill>
                  <a:schemeClr val="dk1"/>
                </a:solidFill>
                <a:latin typeface="Aptos"/>
              </a:rPr>
              <a:t>Notebook do experimento 1 (código e material de apoio):</a:t>
            </a:r>
            <a:endParaRPr b="0" lang="pt-BR" sz="1700" spc="-1" strike="noStrike">
              <a:solidFill>
                <a:srgbClr val="000000"/>
              </a:solidFill>
              <a:latin typeface="Arial"/>
            </a:endParaRPr>
          </a:p>
          <a:p>
            <a:pPr defTabSz="914400">
              <a:lnSpc>
                <a:spcPct val="100000"/>
              </a:lnSpc>
            </a:pPr>
            <a:r>
              <a:rPr b="0" lang="pt-BR" sz="1700" spc="-1" strike="noStrike">
                <a:solidFill>
                  <a:schemeClr val="dk1"/>
                </a:solidFill>
                <a:latin typeface="Aptos"/>
                <a:hlinkClick r:id="rId1"/>
              </a:rPr>
              <a:t>https://colab.research.google.com/drive/11BkUg8lzF079vWErYh5plimEVcF16gXN?usp=sharing</a:t>
            </a:r>
            <a:endParaRPr b="0" lang="pt-BR" sz="1700" spc="-1" strike="noStrike">
              <a:solidFill>
                <a:srgbClr val="000000"/>
              </a:solidFill>
              <a:latin typeface="Arial"/>
            </a:endParaRPr>
          </a:p>
          <a:p>
            <a:pPr defTabSz="914400">
              <a:lnSpc>
                <a:spcPct val="100000"/>
              </a:lnSpc>
            </a:pPr>
            <a:endParaRPr b="0" lang="pt-BR" sz="1700" spc="-1" strike="noStrike">
              <a:solidFill>
                <a:srgbClr val="000000"/>
              </a:solidFill>
              <a:latin typeface="Arial"/>
            </a:endParaRPr>
          </a:p>
          <a:p>
            <a:pPr defTabSz="914400">
              <a:lnSpc>
                <a:spcPct val="100000"/>
              </a:lnSpc>
            </a:pPr>
            <a:r>
              <a:rPr b="0" lang="pt-BR" sz="1700" spc="-1" strike="noStrike">
                <a:solidFill>
                  <a:schemeClr val="dk1"/>
                </a:solidFill>
                <a:latin typeface="Aptos"/>
              </a:rPr>
              <a:t>Repositório do experimento 2:</a:t>
            </a:r>
            <a:endParaRPr b="0" lang="pt-BR" sz="1700" spc="-1" strike="noStrike">
              <a:solidFill>
                <a:srgbClr val="000000"/>
              </a:solidFill>
              <a:latin typeface="Arial"/>
            </a:endParaRPr>
          </a:p>
          <a:p>
            <a:pPr defTabSz="914400">
              <a:lnSpc>
                <a:spcPct val="100000"/>
              </a:lnSpc>
            </a:pPr>
            <a:r>
              <a:rPr b="0" lang="pt-BR" sz="1700" spc="-1" strike="noStrike">
                <a:solidFill>
                  <a:schemeClr val="dk1"/>
                </a:solidFill>
                <a:latin typeface="Aptos"/>
              </a:rPr>
              <a:t>https://github.com/frederico-mello/seminario-masked-modeling</a:t>
            </a:r>
            <a:endParaRPr b="0" lang="pt-BR" sz="1700" spc="-1" strike="noStrike">
              <a:solidFill>
                <a:srgbClr val="000000"/>
              </a:solidFill>
              <a:latin typeface="Arial"/>
            </a:endParaRPr>
          </a:p>
        </p:txBody>
      </p:sp>
      <p:sp>
        <p:nvSpPr>
          <p:cNvPr id="515" name="Rectangle 4"/>
          <p:cNvSpPr/>
          <p:nvPr/>
        </p:nvSpPr>
        <p:spPr>
          <a:xfrm>
            <a:off x="0" y="6793920"/>
            <a:ext cx="12191400" cy="63360"/>
          </a:xfrm>
          <a:prstGeom prst="rect">
            <a:avLst/>
          </a:prstGeom>
          <a:solidFill>
            <a:srgbClr val="00add2"/>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pt-BR" sz="1800" spc="-1" strike="noStrike">
              <a:solidFill>
                <a:schemeClr val="lt1"/>
              </a:solidFill>
              <a:latin typeface="Aptos"/>
            </a:endParaRPr>
          </a:p>
        </p:txBody>
      </p:sp>
      <p:sp>
        <p:nvSpPr>
          <p:cNvPr id="516" name="Rectangle 5"/>
          <p:cNvSpPr/>
          <p:nvPr/>
        </p:nvSpPr>
        <p:spPr>
          <a:xfrm>
            <a:off x="0" y="6510600"/>
            <a:ext cx="12191400" cy="282600"/>
          </a:xfrm>
          <a:prstGeom prst="rect">
            <a:avLst/>
          </a:prstGeom>
          <a:solidFill>
            <a:srgbClr val="0d1f3a"/>
          </a:solidFill>
          <a:ln>
            <a:noFill/>
          </a:ln>
        </p:spPr>
        <p:style>
          <a:lnRef idx="1">
            <a:schemeClr val="accent1"/>
          </a:lnRef>
          <a:fillRef idx="3">
            <a:schemeClr val="accent1"/>
          </a:fillRef>
          <a:effectRef idx="2">
            <a:schemeClr val="accent1"/>
          </a:effectRef>
          <a:fontRef idx="minor"/>
        </p:style>
        <p:txBody>
          <a:bodyPr wrap="none" lIns="347400" rIns="438840" tIns="13680" bIns="0" anchor="ctr">
            <a:noAutofit/>
          </a:bodyPr>
          <a:p>
            <a:pPr defTabSz="914400">
              <a:lnSpc>
                <a:spcPct val="100000"/>
              </a:lnSpc>
            </a:pPr>
            <a:endParaRPr b="0" lang="pt-BR" sz="1800" spc="-1" strike="noStrike">
              <a:solidFill>
                <a:srgbClr val="ffffff"/>
              </a:solidFill>
              <a:latin typeface="Arial"/>
            </a:endParaRPr>
          </a:p>
        </p:txBody>
      </p:sp>
      <p:sp>
        <p:nvSpPr>
          <p:cNvPr id="517" name="TextBox 6"/>
          <p:cNvSpPr/>
          <p:nvPr/>
        </p:nvSpPr>
        <p:spPr>
          <a:xfrm>
            <a:off x="11622600" y="6519600"/>
            <a:ext cx="116640" cy="121680"/>
          </a:xfrm>
          <a:prstGeom prst="rect">
            <a:avLst/>
          </a:prstGeom>
          <a:noFill/>
          <a:ln w="0">
            <a:noFill/>
          </a:ln>
        </p:spPr>
        <p:style>
          <a:lnRef idx="0"/>
          <a:fillRef idx="0"/>
          <a:effectRef idx="0"/>
          <a:fontRef idx="minor"/>
        </p:style>
        <p:txBody>
          <a:bodyPr wrap="none" lIns="0" rIns="0" tIns="0" bIns="0" anchor="t">
            <a:spAutoFit/>
          </a:bodyPr>
          <a:p>
            <a:pPr algn="r" defTabSz="914400">
              <a:lnSpc>
                <a:spcPct val="100000"/>
              </a:lnSpc>
            </a:pPr>
            <a:r>
              <a:rPr b="0" lang="pt-BR" sz="800" spc="-1" strike="noStrike">
                <a:solidFill>
                  <a:srgbClr val="00add2"/>
                </a:solidFill>
                <a:latin typeface="Aptos"/>
              </a:rPr>
              <a:t>24</a:t>
            </a:r>
            <a:endParaRPr b="0" lang="pt-B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5434</TotalTime>
  <Application>LibreOffice/24.2.7.2$Linux_X86_64 LibreOffice_project/420$Build-2</Application>
  <AppVersion>15.0000</AppVersion>
  <Words>1085</Words>
  <Paragraphs>135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2026-09-02T00:47:54Z</dcterms:created>
  <dc:creator>Luan Pedro Souza Silva</dc:creator>
  <dc:description/>
  <dc:language>pt-BR</dc:language>
  <cp:lastModifiedBy/>
  <dcterms:modified xsi:type="dcterms:W3CDTF">2026-10-16T08:19:49Z</dcterms:modified>
  <cp:revision>9</cp:revision>
  <dc:subject/>
  <dc:title>Apresentação do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21</vt:i4>
  </property>
</Properties>
</file>